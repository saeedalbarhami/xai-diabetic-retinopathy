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6" r:id="rId16"/>
    <p:sldId id="270" r:id="rId17"/>
    <p:sldId id="271" r:id="rId18"/>
    <p:sldId id="272" r:id="rId19"/>
    <p:sldId id="273" r:id="rId20"/>
    <p:sldId id="274" r:id="rId21"/>
    <p:sldId id="275"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19"/>
    <p:restoredTop sz="94493"/>
  </p:normalViewPr>
  <p:slideViewPr>
    <p:cSldViewPr snapToGrid="0" snapToObjects="1">
      <p:cViewPr varScale="1">
        <p:scale>
          <a:sx n="101" d="100"/>
          <a:sy n="101" d="100"/>
        </p:scale>
        <p:origin x="200"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7402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E293B"/>
                </a:solidFill>
                <a:latin typeface="Calibri" pitchFamily="34" charset="0"/>
                <a:ea typeface="Calibri" pitchFamily="34" charset="-122"/>
                <a:cs typeface="Calibri" pitchFamily="34" charset="-120"/>
              </a:rPr>
              <a:t>Recent deep learning approaches have achieved high performance in diabetic retinopathy assessment, supporting their potential for clinical decision support (Gulshan et al., 2016).</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1E21B-DDAF-FFE5-4FC0-3A88A64BD8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3E64BE-0277-3BE0-A927-8CB1FFD50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C799A7-F00F-90AC-3301-B9814A121B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61598A-99F9-5181-F07F-FDC0CF645B97}"/>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047917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55"/>
        </a:solidFill>
        <a:effectLst/>
      </p:bgPr>
    </p:bg>
    <p:spTree>
      <p:nvGrpSpPr>
        <p:cNvPr id="1" name=""/>
        <p:cNvGrpSpPr/>
        <p:nvPr/>
      </p:nvGrpSpPr>
      <p:grpSpPr>
        <a:xfrm>
          <a:off x="0" y="0"/>
          <a:ext cx="0" cy="0"/>
          <a:chOff x="0" y="0"/>
          <a:chExt cx="0" cy="0"/>
        </a:xfrm>
      </p:grpSpPr>
      <p:pic>
        <p:nvPicPr>
          <p:cNvPr id="2" name="Image 0" descr="/mnt/user-data/uploads/figure9.png"/>
          <p:cNvPicPr>
            <a:picLocks noChangeAspect="1"/>
          </p:cNvPicPr>
          <p:nvPr/>
        </p:nvPicPr>
        <p:blipFill>
          <a:blip r:embed="rId3">
            <a:alphaModFix amt="55000"/>
          </a:blip>
          <a:srcRect t="5873"/>
          <a:stretch>
            <a:fillRect/>
          </a:stretch>
        </p:blipFill>
        <p:spPr>
          <a:xfrm>
            <a:off x="6492240" y="201386"/>
            <a:ext cx="5699760" cy="6656614"/>
          </a:xfrm>
          <a:prstGeom prst="rect">
            <a:avLst/>
          </a:prstGeom>
        </p:spPr>
      </p:pic>
      <p:sp>
        <p:nvSpPr>
          <p:cNvPr id="3" name="Shape 0"/>
          <p:cNvSpPr/>
          <p:nvPr/>
        </p:nvSpPr>
        <p:spPr>
          <a:xfrm>
            <a:off x="0" y="0"/>
            <a:ext cx="5522026" cy="6858000"/>
          </a:xfrm>
          <a:prstGeom prst="rect">
            <a:avLst/>
          </a:prstGeom>
          <a:solidFill>
            <a:srgbClr val="0D2B55"/>
          </a:solidFill>
          <a:ln w="12700">
            <a:solidFill>
              <a:srgbClr val="0D2B55"/>
            </a:solidFill>
            <a:prstDash val="solid"/>
          </a:ln>
        </p:spPr>
        <p:txBody>
          <a:bodyPr/>
          <a:lstStyle/>
          <a:p>
            <a:endParaRPr lang="ar-SA"/>
          </a:p>
        </p:txBody>
      </p:sp>
      <p:sp>
        <p:nvSpPr>
          <p:cNvPr id="4" name="Text 1"/>
          <p:cNvSpPr/>
          <p:nvPr/>
        </p:nvSpPr>
        <p:spPr>
          <a:xfrm>
            <a:off x="373379" y="658368"/>
            <a:ext cx="6118860" cy="1219340"/>
          </a:xfrm>
          <a:prstGeom prst="rect">
            <a:avLst/>
          </a:prstGeom>
          <a:noFill/>
          <a:ln/>
        </p:spPr>
        <p:txBody>
          <a:bodyPr wrap="square"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Medical Imaging, Explainable AI for Diabetic Retinopathy</a:t>
            </a:r>
          </a:p>
        </p:txBody>
      </p:sp>
      <p:sp>
        <p:nvSpPr>
          <p:cNvPr id="5" name="Shape 2"/>
          <p:cNvSpPr/>
          <p:nvPr/>
        </p:nvSpPr>
        <p:spPr>
          <a:xfrm flipV="1">
            <a:off x="373379" y="1674420"/>
            <a:ext cx="5006143" cy="62939"/>
          </a:xfrm>
          <a:prstGeom prst="line">
            <a:avLst/>
          </a:prstGeom>
          <a:noFill/>
          <a:ln w="38100">
            <a:solidFill>
              <a:srgbClr val="028090"/>
            </a:solidFill>
            <a:prstDash val="solid"/>
          </a:ln>
        </p:spPr>
        <p:txBody>
          <a:bodyPr/>
          <a:lstStyle/>
          <a:p>
            <a:endParaRPr lang="ar-SA"/>
          </a:p>
        </p:txBody>
      </p:sp>
      <p:sp>
        <p:nvSpPr>
          <p:cNvPr id="6" name="Text 3"/>
          <p:cNvSpPr/>
          <p:nvPr/>
        </p:nvSpPr>
        <p:spPr>
          <a:xfrm>
            <a:off x="373380" y="1874520"/>
            <a:ext cx="5852160" cy="411480"/>
          </a:xfrm>
          <a:prstGeom prst="rect">
            <a:avLst/>
          </a:prstGeom>
          <a:noFill/>
          <a:ln/>
        </p:spPr>
        <p:txBody>
          <a:bodyPr wrap="square" rtlCol="0" anchor="ctr"/>
          <a:lstStyle/>
          <a:p>
            <a:r>
              <a:rPr lang="en-US" sz="1400" i="1" dirty="0">
                <a:solidFill>
                  <a:srgbClr val="0FA3B1"/>
                </a:solidFill>
                <a:latin typeface="Calibri" pitchFamily="34" charset="0"/>
                <a:ea typeface="Calibri" pitchFamily="34" charset="-122"/>
                <a:cs typeface="Calibri" pitchFamily="34" charset="-120"/>
              </a:rPr>
              <a:t>Modeling to assess quality</a:t>
            </a:r>
          </a:p>
          <a:p>
            <a:endParaRPr lang="en-US" sz="1400" dirty="0"/>
          </a:p>
        </p:txBody>
      </p:sp>
      <p:sp>
        <p:nvSpPr>
          <p:cNvPr id="7" name="Text 4"/>
          <p:cNvSpPr/>
          <p:nvPr/>
        </p:nvSpPr>
        <p:spPr>
          <a:xfrm>
            <a:off x="415290" y="2806358"/>
            <a:ext cx="5943600" cy="2377222"/>
          </a:xfrm>
          <a:prstGeom prst="rect">
            <a:avLst/>
          </a:prstGeom>
          <a:noFill/>
          <a:ln/>
        </p:spPr>
        <p:txBody>
          <a:bodyPr wrap="square" rtlCol="0" anchor="t"/>
          <a:lstStyle/>
          <a:p>
            <a:pPr marL="0" indent="0">
              <a:buNone/>
            </a:pPr>
            <a:r>
              <a:rPr lang="en-US" sz="1300" b="1" dirty="0">
                <a:solidFill>
                  <a:srgbClr val="0FA3B1"/>
                </a:solidFill>
                <a:latin typeface="Calibri" pitchFamily="34" charset="0"/>
                <a:ea typeface="Calibri" pitchFamily="34" charset="-122"/>
                <a:cs typeface="Calibri" pitchFamily="34" charset="-120"/>
              </a:rPr>
              <a:t>Presented by </a:t>
            </a:r>
          </a:p>
          <a:p>
            <a:pPr marL="285750" indent="-285750">
              <a:buFont typeface="Arial" panose="020B0604020202020204" pitchFamily="34" charset="0"/>
              <a:buChar char="•"/>
            </a:pPr>
            <a:r>
              <a:rPr lang="en-US" sz="1200" dirty="0">
                <a:solidFill>
                  <a:srgbClr val="D0E0F0"/>
                </a:solidFill>
                <a:latin typeface="Calibri" pitchFamily="34" charset="0"/>
                <a:cs typeface="Calibri" pitchFamily="34" charset="-120"/>
              </a:rPr>
              <a:t>Ala Abu Hilal (700049213)</a:t>
            </a:r>
          </a:p>
          <a:p>
            <a:pPr marL="285750" indent="-285750">
              <a:buFont typeface="Arial" panose="020B0604020202020204" pitchFamily="34" charset="0"/>
              <a:buChar char="•"/>
            </a:pPr>
            <a:r>
              <a:rPr lang="en-US" sz="1200" dirty="0">
                <a:solidFill>
                  <a:srgbClr val="D0E0F0"/>
                </a:solidFill>
                <a:latin typeface="Calibri" pitchFamily="34" charset="0"/>
                <a:cs typeface="Calibri" pitchFamily="34" charset="-120"/>
              </a:rPr>
              <a:t>Muhammad Umair Khan (700049387)</a:t>
            </a:r>
          </a:p>
          <a:p>
            <a:pPr marL="285750" indent="-285750">
              <a:buFont typeface="Arial" panose="020B0604020202020204" pitchFamily="34" charset="0"/>
              <a:buChar char="•"/>
            </a:pPr>
            <a:r>
              <a:rPr lang="en-US" sz="1200" dirty="0">
                <a:solidFill>
                  <a:srgbClr val="D0E0F0"/>
                </a:solidFill>
                <a:latin typeface="Calibri" pitchFamily="34" charset="0"/>
                <a:cs typeface="Calibri" pitchFamily="34" charset="-120"/>
              </a:rPr>
              <a:t>Saeed Thabit (700049326)</a:t>
            </a:r>
          </a:p>
          <a:p>
            <a:pPr marL="285750" indent="-285750">
              <a:buFont typeface="Arial" panose="020B0604020202020204" pitchFamily="34" charset="0"/>
              <a:buChar char="•"/>
            </a:pPr>
            <a:r>
              <a:rPr lang="en-US" sz="1200" dirty="0">
                <a:solidFill>
                  <a:srgbClr val="D0E0F0"/>
                </a:solidFill>
                <a:latin typeface="Calibri" pitchFamily="34" charset="0"/>
                <a:cs typeface="Calibri" pitchFamily="34" charset="-120"/>
              </a:rPr>
              <a:t>Yingfeng Wang (700049354)</a:t>
            </a:r>
          </a:p>
          <a:p>
            <a:r>
              <a:rPr lang="en-US" sz="1200" dirty="0">
                <a:solidFill>
                  <a:srgbClr val="D0E0F0"/>
                </a:solidFill>
                <a:latin typeface="Calibri" pitchFamily="34" charset="0"/>
                <a:ea typeface="Calibri" pitchFamily="34" charset="-122"/>
                <a:cs typeface="Calibri" pitchFamily="34" charset="-120"/>
              </a:rPr>
              <a:t>
</a:t>
            </a:r>
            <a:r>
              <a:rPr lang="en-US" sz="1300" b="1" dirty="0">
                <a:solidFill>
                  <a:srgbClr val="0FA3B1"/>
                </a:solidFill>
                <a:latin typeface="Calibri" pitchFamily="34" charset="0"/>
                <a:ea typeface="Calibri" pitchFamily="34" charset="-122"/>
                <a:cs typeface="Calibri" pitchFamily="34" charset="-120"/>
              </a:rPr>
              <a:t>Supervised by  </a:t>
            </a:r>
            <a:r>
              <a:rPr lang="en-US" sz="1200" dirty="0">
                <a:solidFill>
                  <a:srgbClr val="D0E0F0"/>
                </a:solidFill>
                <a:latin typeface="Calibri" pitchFamily="34" charset="0"/>
                <a:ea typeface="Calibri" pitchFamily="34" charset="-122"/>
                <a:cs typeface="Calibri" pitchFamily="34" charset="-120"/>
              </a:rPr>
              <a:t>Prof. Leila Ismail</a:t>
            </a:r>
          </a:p>
          <a:p>
            <a:r>
              <a:rPr lang="en-US" sz="1200" dirty="0">
                <a:solidFill>
                  <a:srgbClr val="D0E0F0"/>
                </a:solidFill>
                <a:latin typeface="Calibri" pitchFamily="34" charset="0"/>
                <a:ea typeface="Calibri" pitchFamily="34" charset="-122"/>
                <a:cs typeface="Calibri" pitchFamily="34" charset="-120"/>
              </a:rPr>
              <a:t>
</a:t>
            </a:r>
            <a:r>
              <a:rPr lang="en-US" sz="1100" dirty="0">
                <a:solidFill>
                  <a:srgbClr val="6888A4"/>
                </a:solidFill>
                <a:latin typeface="Calibri" pitchFamily="34" charset="0"/>
                <a:ea typeface="Calibri" pitchFamily="34" charset="-122"/>
                <a:cs typeface="Calibri" pitchFamily="34" charset="-120"/>
              </a:rPr>
              <a:t>ITPG708  ·  Foundations of Computational Science &amp; Informatics </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0D2B55"/>
          </a:solidFill>
          <a:ln w="12700">
            <a:solidFill>
              <a:srgbClr val="0D2B55"/>
            </a:solidFill>
            <a:prstDash val="solid"/>
          </a:ln>
        </p:spPr>
        <p:txBody>
          <a:bodyPr/>
          <a:lstStyle/>
          <a:p>
            <a:endParaRPr lang="ar-SA"/>
          </a:p>
        </p:txBody>
      </p:sp>
      <p:sp>
        <p:nvSpPr>
          <p:cNvPr id="3" name="Text 1"/>
          <p:cNvSpPr/>
          <p:nvPr/>
        </p:nvSpPr>
        <p:spPr>
          <a:xfrm>
            <a:off x="457200" y="128016"/>
            <a:ext cx="11247120" cy="65836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Outline</a:t>
            </a:r>
            <a:endParaRPr lang="en-US" sz="2600" dirty="0"/>
          </a:p>
        </p:txBody>
      </p:sp>
      <p:sp>
        <p:nvSpPr>
          <p:cNvPr id="4" name="Shape 2"/>
          <p:cNvSpPr/>
          <p:nvPr/>
        </p:nvSpPr>
        <p:spPr>
          <a:xfrm>
            <a:off x="457200" y="1097280"/>
            <a:ext cx="5440680" cy="960120"/>
          </a:xfrm>
          <a:prstGeom prst="rect">
            <a:avLst/>
          </a:prstGeom>
          <a:solidFill>
            <a:srgbClr val="FFFFFF"/>
          </a:solidFill>
          <a:ln w="12700">
            <a:solidFill>
              <a:srgbClr val="FFFFFF"/>
            </a:solidFill>
            <a:prstDash val="solid"/>
          </a:ln>
        </p:spPr>
        <p:txBody>
          <a:bodyPr/>
          <a:lstStyle/>
          <a:p>
            <a:endParaRPr lang="ar-SA"/>
          </a:p>
        </p:txBody>
      </p:sp>
      <p:sp>
        <p:nvSpPr>
          <p:cNvPr id="5" name="Shape 3"/>
          <p:cNvSpPr/>
          <p:nvPr/>
        </p:nvSpPr>
        <p:spPr>
          <a:xfrm>
            <a:off x="457200" y="1097280"/>
            <a:ext cx="5440680" cy="960120"/>
          </a:xfrm>
          <a:prstGeom prst="rect">
            <a:avLst/>
          </a:prstGeom>
          <a:solidFill>
            <a:srgbClr val="FFFFFF"/>
          </a:solidFill>
          <a:ln w="12700">
            <a:solidFill>
              <a:srgbClr val="CBD5E1"/>
            </a:solidFill>
            <a:prstDash val="solid"/>
          </a:ln>
        </p:spPr>
        <p:txBody>
          <a:bodyPr/>
          <a:lstStyle/>
          <a:p>
            <a:endParaRPr lang="ar-SA"/>
          </a:p>
        </p:txBody>
      </p:sp>
      <p:sp>
        <p:nvSpPr>
          <p:cNvPr id="6" name="Shape 4"/>
          <p:cNvSpPr/>
          <p:nvPr/>
        </p:nvSpPr>
        <p:spPr>
          <a:xfrm>
            <a:off x="457200" y="1097280"/>
            <a:ext cx="502920" cy="960120"/>
          </a:xfrm>
          <a:prstGeom prst="rect">
            <a:avLst/>
          </a:prstGeom>
          <a:solidFill>
            <a:srgbClr val="0D2B55"/>
          </a:solidFill>
          <a:ln w="12700">
            <a:solidFill>
              <a:srgbClr val="0D2B55"/>
            </a:solidFill>
            <a:prstDash val="solid"/>
          </a:ln>
        </p:spPr>
        <p:txBody>
          <a:bodyPr/>
          <a:lstStyle/>
          <a:p>
            <a:endParaRPr lang="ar-SA"/>
          </a:p>
        </p:txBody>
      </p:sp>
      <p:sp>
        <p:nvSpPr>
          <p:cNvPr id="7" name="Text 5"/>
          <p:cNvSpPr/>
          <p:nvPr/>
        </p:nvSpPr>
        <p:spPr>
          <a:xfrm>
            <a:off x="457200" y="1417320"/>
            <a:ext cx="50292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8" name="Text 6"/>
          <p:cNvSpPr/>
          <p:nvPr/>
        </p:nvSpPr>
        <p:spPr>
          <a:xfrm>
            <a:off x="1051560" y="1389888"/>
            <a:ext cx="4709160" cy="41148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Introduction &amp; Motivation</a:t>
            </a:r>
            <a:endParaRPr lang="en-US" sz="1400" dirty="0"/>
          </a:p>
        </p:txBody>
      </p:sp>
      <p:sp>
        <p:nvSpPr>
          <p:cNvPr id="9" name="Shape 7"/>
          <p:cNvSpPr/>
          <p:nvPr/>
        </p:nvSpPr>
        <p:spPr>
          <a:xfrm>
            <a:off x="457200" y="2176272"/>
            <a:ext cx="5440680" cy="960120"/>
          </a:xfrm>
          <a:prstGeom prst="rect">
            <a:avLst/>
          </a:prstGeom>
          <a:solidFill>
            <a:srgbClr val="FFFFFF"/>
          </a:solidFill>
          <a:ln w="12700">
            <a:solidFill>
              <a:srgbClr val="FFFFFF"/>
            </a:solidFill>
            <a:prstDash val="solid"/>
          </a:ln>
        </p:spPr>
        <p:txBody>
          <a:bodyPr/>
          <a:lstStyle/>
          <a:p>
            <a:endParaRPr lang="ar-SA"/>
          </a:p>
        </p:txBody>
      </p:sp>
      <p:sp>
        <p:nvSpPr>
          <p:cNvPr id="10" name="Shape 8"/>
          <p:cNvSpPr/>
          <p:nvPr/>
        </p:nvSpPr>
        <p:spPr>
          <a:xfrm>
            <a:off x="457200" y="2176272"/>
            <a:ext cx="5440680" cy="960120"/>
          </a:xfrm>
          <a:prstGeom prst="rect">
            <a:avLst/>
          </a:prstGeom>
          <a:solidFill>
            <a:srgbClr val="FFFFFF"/>
          </a:solidFill>
          <a:ln w="12700">
            <a:solidFill>
              <a:srgbClr val="CBD5E1"/>
            </a:solidFill>
            <a:prstDash val="solid"/>
          </a:ln>
        </p:spPr>
        <p:txBody>
          <a:bodyPr/>
          <a:lstStyle/>
          <a:p>
            <a:endParaRPr lang="ar-SA"/>
          </a:p>
        </p:txBody>
      </p:sp>
      <p:sp>
        <p:nvSpPr>
          <p:cNvPr id="11" name="Shape 9"/>
          <p:cNvSpPr/>
          <p:nvPr/>
        </p:nvSpPr>
        <p:spPr>
          <a:xfrm>
            <a:off x="457200" y="2176272"/>
            <a:ext cx="502920" cy="960120"/>
          </a:xfrm>
          <a:prstGeom prst="rect">
            <a:avLst/>
          </a:prstGeom>
          <a:solidFill>
            <a:srgbClr val="1B6CA8"/>
          </a:solidFill>
          <a:ln w="12700">
            <a:solidFill>
              <a:srgbClr val="1B6CA8"/>
            </a:solidFill>
            <a:prstDash val="solid"/>
          </a:ln>
        </p:spPr>
        <p:txBody>
          <a:bodyPr/>
          <a:lstStyle/>
          <a:p>
            <a:endParaRPr lang="ar-SA"/>
          </a:p>
        </p:txBody>
      </p:sp>
      <p:sp>
        <p:nvSpPr>
          <p:cNvPr id="12" name="Text 10"/>
          <p:cNvSpPr/>
          <p:nvPr/>
        </p:nvSpPr>
        <p:spPr>
          <a:xfrm>
            <a:off x="457200" y="2496312"/>
            <a:ext cx="50292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3" name="Text 11"/>
          <p:cNvSpPr/>
          <p:nvPr/>
        </p:nvSpPr>
        <p:spPr>
          <a:xfrm>
            <a:off x="1051560" y="2468880"/>
            <a:ext cx="4709160" cy="41148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Problem Statement &amp; Objectives</a:t>
            </a:r>
            <a:endParaRPr lang="en-US" sz="1400" dirty="0"/>
          </a:p>
        </p:txBody>
      </p:sp>
      <p:sp>
        <p:nvSpPr>
          <p:cNvPr id="14" name="Shape 12"/>
          <p:cNvSpPr/>
          <p:nvPr/>
        </p:nvSpPr>
        <p:spPr>
          <a:xfrm>
            <a:off x="457200" y="3255264"/>
            <a:ext cx="5440680" cy="960120"/>
          </a:xfrm>
          <a:prstGeom prst="rect">
            <a:avLst/>
          </a:prstGeom>
          <a:solidFill>
            <a:srgbClr val="FFFFFF"/>
          </a:solidFill>
          <a:ln w="12700">
            <a:solidFill>
              <a:srgbClr val="FFFFFF"/>
            </a:solidFill>
            <a:prstDash val="solid"/>
          </a:ln>
        </p:spPr>
        <p:txBody>
          <a:bodyPr/>
          <a:lstStyle/>
          <a:p>
            <a:endParaRPr lang="ar-SA"/>
          </a:p>
        </p:txBody>
      </p:sp>
      <p:sp>
        <p:nvSpPr>
          <p:cNvPr id="15" name="Shape 13"/>
          <p:cNvSpPr/>
          <p:nvPr/>
        </p:nvSpPr>
        <p:spPr>
          <a:xfrm>
            <a:off x="457200" y="3255264"/>
            <a:ext cx="5440680" cy="960120"/>
          </a:xfrm>
          <a:prstGeom prst="rect">
            <a:avLst/>
          </a:prstGeom>
          <a:solidFill>
            <a:srgbClr val="FFFFFF"/>
          </a:solidFill>
          <a:ln w="12700">
            <a:solidFill>
              <a:srgbClr val="CBD5E1"/>
            </a:solidFill>
            <a:prstDash val="solid"/>
          </a:ln>
        </p:spPr>
        <p:txBody>
          <a:bodyPr/>
          <a:lstStyle/>
          <a:p>
            <a:endParaRPr lang="ar-SA"/>
          </a:p>
        </p:txBody>
      </p:sp>
      <p:sp>
        <p:nvSpPr>
          <p:cNvPr id="16" name="Shape 14"/>
          <p:cNvSpPr/>
          <p:nvPr/>
        </p:nvSpPr>
        <p:spPr>
          <a:xfrm>
            <a:off x="457200" y="3255264"/>
            <a:ext cx="502920" cy="960120"/>
          </a:xfrm>
          <a:prstGeom prst="rect">
            <a:avLst/>
          </a:prstGeom>
          <a:solidFill>
            <a:srgbClr val="028090"/>
          </a:solidFill>
          <a:ln w="12700">
            <a:solidFill>
              <a:srgbClr val="028090"/>
            </a:solidFill>
            <a:prstDash val="solid"/>
          </a:ln>
        </p:spPr>
        <p:txBody>
          <a:bodyPr/>
          <a:lstStyle/>
          <a:p>
            <a:endParaRPr lang="ar-SA"/>
          </a:p>
        </p:txBody>
      </p:sp>
      <p:sp>
        <p:nvSpPr>
          <p:cNvPr id="17" name="Text 15"/>
          <p:cNvSpPr/>
          <p:nvPr/>
        </p:nvSpPr>
        <p:spPr>
          <a:xfrm>
            <a:off x="457200" y="3575304"/>
            <a:ext cx="50292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8" name="Text 16"/>
          <p:cNvSpPr/>
          <p:nvPr/>
        </p:nvSpPr>
        <p:spPr>
          <a:xfrm>
            <a:off x="1051560" y="3547872"/>
            <a:ext cx="4709160" cy="41148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System Overview &amp; Methodology</a:t>
            </a:r>
            <a:endParaRPr lang="en-US" sz="1400" dirty="0"/>
          </a:p>
        </p:txBody>
      </p:sp>
      <p:sp>
        <p:nvSpPr>
          <p:cNvPr id="19" name="Shape 17"/>
          <p:cNvSpPr/>
          <p:nvPr/>
        </p:nvSpPr>
        <p:spPr>
          <a:xfrm>
            <a:off x="457200" y="4334256"/>
            <a:ext cx="5440680" cy="960120"/>
          </a:xfrm>
          <a:prstGeom prst="rect">
            <a:avLst/>
          </a:prstGeom>
          <a:solidFill>
            <a:srgbClr val="FFFFFF"/>
          </a:solidFill>
          <a:ln w="12700">
            <a:solidFill>
              <a:srgbClr val="FFFFFF"/>
            </a:solidFill>
            <a:prstDash val="solid"/>
          </a:ln>
        </p:spPr>
        <p:txBody>
          <a:bodyPr/>
          <a:lstStyle/>
          <a:p>
            <a:endParaRPr lang="ar-SA"/>
          </a:p>
        </p:txBody>
      </p:sp>
      <p:sp>
        <p:nvSpPr>
          <p:cNvPr id="20" name="Shape 18"/>
          <p:cNvSpPr/>
          <p:nvPr/>
        </p:nvSpPr>
        <p:spPr>
          <a:xfrm>
            <a:off x="457200" y="4334256"/>
            <a:ext cx="5440680" cy="960120"/>
          </a:xfrm>
          <a:prstGeom prst="rect">
            <a:avLst/>
          </a:prstGeom>
          <a:solidFill>
            <a:srgbClr val="FFFFFF"/>
          </a:solidFill>
          <a:ln w="12700">
            <a:solidFill>
              <a:srgbClr val="CBD5E1"/>
            </a:solidFill>
            <a:prstDash val="solid"/>
          </a:ln>
        </p:spPr>
        <p:txBody>
          <a:bodyPr/>
          <a:lstStyle/>
          <a:p>
            <a:endParaRPr lang="ar-SA"/>
          </a:p>
        </p:txBody>
      </p:sp>
      <p:sp>
        <p:nvSpPr>
          <p:cNvPr id="21" name="Shape 19"/>
          <p:cNvSpPr/>
          <p:nvPr/>
        </p:nvSpPr>
        <p:spPr>
          <a:xfrm>
            <a:off x="457200" y="4334256"/>
            <a:ext cx="502920" cy="960120"/>
          </a:xfrm>
          <a:prstGeom prst="rect">
            <a:avLst/>
          </a:prstGeom>
          <a:solidFill>
            <a:srgbClr val="028090"/>
          </a:solidFill>
          <a:ln w="12700">
            <a:solidFill>
              <a:srgbClr val="028090"/>
            </a:solidFill>
            <a:prstDash val="solid"/>
          </a:ln>
        </p:spPr>
        <p:txBody>
          <a:bodyPr/>
          <a:lstStyle/>
          <a:p>
            <a:endParaRPr lang="ar-SA"/>
          </a:p>
        </p:txBody>
      </p:sp>
      <p:sp>
        <p:nvSpPr>
          <p:cNvPr id="22" name="Text 20"/>
          <p:cNvSpPr/>
          <p:nvPr/>
        </p:nvSpPr>
        <p:spPr>
          <a:xfrm>
            <a:off x="457200" y="4654296"/>
            <a:ext cx="50292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3" name="Text 21"/>
          <p:cNvSpPr/>
          <p:nvPr/>
        </p:nvSpPr>
        <p:spPr>
          <a:xfrm>
            <a:off x="1051560" y="4626864"/>
            <a:ext cx="4709160" cy="41148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Dataset &amp; Preprocessing</a:t>
            </a:r>
            <a:endParaRPr lang="en-US" sz="1400" dirty="0"/>
          </a:p>
        </p:txBody>
      </p:sp>
      <p:sp>
        <p:nvSpPr>
          <p:cNvPr id="24" name="Shape 22"/>
          <p:cNvSpPr/>
          <p:nvPr/>
        </p:nvSpPr>
        <p:spPr>
          <a:xfrm>
            <a:off x="457200" y="5413248"/>
            <a:ext cx="5440680" cy="960120"/>
          </a:xfrm>
          <a:prstGeom prst="rect">
            <a:avLst/>
          </a:prstGeom>
          <a:solidFill>
            <a:srgbClr val="FFFFFF"/>
          </a:solidFill>
          <a:ln w="12700">
            <a:solidFill>
              <a:srgbClr val="FFFFFF"/>
            </a:solidFill>
            <a:prstDash val="solid"/>
          </a:ln>
        </p:spPr>
        <p:txBody>
          <a:bodyPr/>
          <a:lstStyle/>
          <a:p>
            <a:endParaRPr lang="ar-SA"/>
          </a:p>
        </p:txBody>
      </p:sp>
      <p:sp>
        <p:nvSpPr>
          <p:cNvPr id="25" name="Shape 23"/>
          <p:cNvSpPr/>
          <p:nvPr/>
        </p:nvSpPr>
        <p:spPr>
          <a:xfrm>
            <a:off x="457200" y="5413248"/>
            <a:ext cx="5440680" cy="960120"/>
          </a:xfrm>
          <a:prstGeom prst="rect">
            <a:avLst/>
          </a:prstGeom>
          <a:solidFill>
            <a:srgbClr val="FFFFFF"/>
          </a:solidFill>
          <a:ln w="12700">
            <a:solidFill>
              <a:srgbClr val="CBD5E1"/>
            </a:solidFill>
            <a:prstDash val="solid"/>
          </a:ln>
        </p:spPr>
        <p:txBody>
          <a:bodyPr/>
          <a:lstStyle/>
          <a:p>
            <a:endParaRPr lang="ar-SA"/>
          </a:p>
        </p:txBody>
      </p:sp>
      <p:sp>
        <p:nvSpPr>
          <p:cNvPr id="26" name="Shape 24"/>
          <p:cNvSpPr/>
          <p:nvPr/>
        </p:nvSpPr>
        <p:spPr>
          <a:xfrm>
            <a:off x="457200" y="5413248"/>
            <a:ext cx="502920" cy="960120"/>
          </a:xfrm>
          <a:prstGeom prst="rect">
            <a:avLst/>
          </a:prstGeom>
          <a:solidFill>
            <a:srgbClr val="16A34A"/>
          </a:solidFill>
          <a:ln w="12700">
            <a:solidFill>
              <a:srgbClr val="16A34A"/>
            </a:solidFill>
            <a:prstDash val="solid"/>
          </a:ln>
        </p:spPr>
        <p:txBody>
          <a:bodyPr/>
          <a:lstStyle/>
          <a:p>
            <a:endParaRPr lang="ar-SA"/>
          </a:p>
        </p:txBody>
      </p:sp>
      <p:sp>
        <p:nvSpPr>
          <p:cNvPr id="27" name="Text 25"/>
          <p:cNvSpPr/>
          <p:nvPr/>
        </p:nvSpPr>
        <p:spPr>
          <a:xfrm>
            <a:off x="457200" y="5733288"/>
            <a:ext cx="50292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8" name="Text 26"/>
          <p:cNvSpPr/>
          <p:nvPr/>
        </p:nvSpPr>
        <p:spPr>
          <a:xfrm>
            <a:off x="1051560" y="5705856"/>
            <a:ext cx="4709160" cy="41148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Model Architecture</a:t>
            </a:r>
            <a:endParaRPr lang="en-US" sz="1400" dirty="0"/>
          </a:p>
        </p:txBody>
      </p:sp>
      <p:sp>
        <p:nvSpPr>
          <p:cNvPr id="29" name="Shape 27"/>
          <p:cNvSpPr/>
          <p:nvPr/>
        </p:nvSpPr>
        <p:spPr>
          <a:xfrm>
            <a:off x="6217920" y="1097280"/>
            <a:ext cx="5440680" cy="960120"/>
          </a:xfrm>
          <a:prstGeom prst="rect">
            <a:avLst/>
          </a:prstGeom>
          <a:solidFill>
            <a:srgbClr val="FFFFFF"/>
          </a:solidFill>
          <a:ln w="12700">
            <a:solidFill>
              <a:srgbClr val="FFFFFF"/>
            </a:solidFill>
            <a:prstDash val="solid"/>
          </a:ln>
        </p:spPr>
        <p:txBody>
          <a:bodyPr/>
          <a:lstStyle/>
          <a:p>
            <a:endParaRPr lang="ar-SA"/>
          </a:p>
        </p:txBody>
      </p:sp>
      <p:sp>
        <p:nvSpPr>
          <p:cNvPr id="30" name="Shape 28"/>
          <p:cNvSpPr/>
          <p:nvPr/>
        </p:nvSpPr>
        <p:spPr>
          <a:xfrm>
            <a:off x="6217920" y="1097280"/>
            <a:ext cx="5440680" cy="960120"/>
          </a:xfrm>
          <a:prstGeom prst="rect">
            <a:avLst/>
          </a:prstGeom>
          <a:solidFill>
            <a:srgbClr val="FFFFFF"/>
          </a:solidFill>
          <a:ln w="12700">
            <a:solidFill>
              <a:srgbClr val="CBD5E1"/>
            </a:solidFill>
            <a:prstDash val="solid"/>
          </a:ln>
        </p:spPr>
        <p:txBody>
          <a:bodyPr/>
          <a:lstStyle/>
          <a:p>
            <a:endParaRPr lang="ar-SA"/>
          </a:p>
        </p:txBody>
      </p:sp>
      <p:sp>
        <p:nvSpPr>
          <p:cNvPr id="31" name="Shape 29"/>
          <p:cNvSpPr/>
          <p:nvPr/>
        </p:nvSpPr>
        <p:spPr>
          <a:xfrm>
            <a:off x="6217920" y="1097280"/>
            <a:ext cx="502920" cy="960120"/>
          </a:xfrm>
          <a:prstGeom prst="rect">
            <a:avLst/>
          </a:prstGeom>
          <a:solidFill>
            <a:srgbClr val="7D3C98"/>
          </a:solidFill>
          <a:ln w="12700">
            <a:solidFill>
              <a:srgbClr val="7D3C98"/>
            </a:solidFill>
            <a:prstDash val="solid"/>
          </a:ln>
        </p:spPr>
        <p:txBody>
          <a:bodyPr/>
          <a:lstStyle/>
          <a:p>
            <a:endParaRPr lang="ar-SA"/>
          </a:p>
        </p:txBody>
      </p:sp>
      <p:sp>
        <p:nvSpPr>
          <p:cNvPr id="32" name="Text 30"/>
          <p:cNvSpPr/>
          <p:nvPr/>
        </p:nvSpPr>
        <p:spPr>
          <a:xfrm>
            <a:off x="6217920" y="1417320"/>
            <a:ext cx="50292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3" name="Text 31"/>
          <p:cNvSpPr/>
          <p:nvPr/>
        </p:nvSpPr>
        <p:spPr>
          <a:xfrm>
            <a:off x="6812280" y="1389888"/>
            <a:ext cx="4709160" cy="41148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Explainability Methods</a:t>
            </a:r>
            <a:endParaRPr lang="en-US" sz="1400" dirty="0"/>
          </a:p>
        </p:txBody>
      </p:sp>
      <p:sp>
        <p:nvSpPr>
          <p:cNvPr id="34" name="Shape 32"/>
          <p:cNvSpPr/>
          <p:nvPr/>
        </p:nvSpPr>
        <p:spPr>
          <a:xfrm>
            <a:off x="6217920" y="2176272"/>
            <a:ext cx="5440680" cy="960120"/>
          </a:xfrm>
          <a:prstGeom prst="rect">
            <a:avLst/>
          </a:prstGeom>
          <a:solidFill>
            <a:srgbClr val="FFFFFF"/>
          </a:solidFill>
          <a:ln w="12700">
            <a:solidFill>
              <a:srgbClr val="FFFFFF"/>
            </a:solidFill>
            <a:prstDash val="solid"/>
          </a:ln>
        </p:spPr>
        <p:txBody>
          <a:bodyPr/>
          <a:lstStyle/>
          <a:p>
            <a:endParaRPr lang="ar-SA"/>
          </a:p>
        </p:txBody>
      </p:sp>
      <p:sp>
        <p:nvSpPr>
          <p:cNvPr id="35" name="Shape 33"/>
          <p:cNvSpPr/>
          <p:nvPr/>
        </p:nvSpPr>
        <p:spPr>
          <a:xfrm>
            <a:off x="6217920" y="2176272"/>
            <a:ext cx="5440680" cy="960120"/>
          </a:xfrm>
          <a:prstGeom prst="rect">
            <a:avLst/>
          </a:prstGeom>
          <a:solidFill>
            <a:srgbClr val="FFFFFF"/>
          </a:solidFill>
          <a:ln w="12700">
            <a:solidFill>
              <a:srgbClr val="CBD5E1"/>
            </a:solidFill>
            <a:prstDash val="solid"/>
          </a:ln>
        </p:spPr>
        <p:txBody>
          <a:bodyPr/>
          <a:lstStyle/>
          <a:p>
            <a:endParaRPr lang="ar-SA"/>
          </a:p>
        </p:txBody>
      </p:sp>
      <p:sp>
        <p:nvSpPr>
          <p:cNvPr id="36" name="Shape 34"/>
          <p:cNvSpPr/>
          <p:nvPr/>
        </p:nvSpPr>
        <p:spPr>
          <a:xfrm>
            <a:off x="6217920" y="2176272"/>
            <a:ext cx="502920" cy="960120"/>
          </a:xfrm>
          <a:prstGeom prst="rect">
            <a:avLst/>
          </a:prstGeom>
          <a:solidFill>
            <a:srgbClr val="E84855"/>
          </a:solidFill>
          <a:ln w="12700">
            <a:solidFill>
              <a:srgbClr val="E84855"/>
            </a:solidFill>
            <a:prstDash val="solid"/>
          </a:ln>
        </p:spPr>
        <p:txBody>
          <a:bodyPr/>
          <a:lstStyle/>
          <a:p>
            <a:endParaRPr lang="ar-SA"/>
          </a:p>
        </p:txBody>
      </p:sp>
      <p:sp>
        <p:nvSpPr>
          <p:cNvPr id="37" name="Text 35"/>
          <p:cNvSpPr/>
          <p:nvPr/>
        </p:nvSpPr>
        <p:spPr>
          <a:xfrm>
            <a:off x="6217920" y="2496312"/>
            <a:ext cx="50292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38" name="Text 36"/>
          <p:cNvSpPr/>
          <p:nvPr/>
        </p:nvSpPr>
        <p:spPr>
          <a:xfrm>
            <a:off x="6812280" y="2468880"/>
            <a:ext cx="4709160" cy="41148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Evaluation Metrics</a:t>
            </a:r>
            <a:endParaRPr lang="en-US" sz="1400" dirty="0"/>
          </a:p>
        </p:txBody>
      </p:sp>
      <p:sp>
        <p:nvSpPr>
          <p:cNvPr id="39" name="Shape 37"/>
          <p:cNvSpPr/>
          <p:nvPr/>
        </p:nvSpPr>
        <p:spPr>
          <a:xfrm>
            <a:off x="6217920" y="3255264"/>
            <a:ext cx="5440680" cy="960120"/>
          </a:xfrm>
          <a:prstGeom prst="rect">
            <a:avLst/>
          </a:prstGeom>
          <a:solidFill>
            <a:srgbClr val="FFFFFF"/>
          </a:solidFill>
          <a:ln w="12700">
            <a:solidFill>
              <a:srgbClr val="FFFFFF"/>
            </a:solidFill>
            <a:prstDash val="solid"/>
          </a:ln>
        </p:spPr>
        <p:txBody>
          <a:bodyPr/>
          <a:lstStyle/>
          <a:p>
            <a:endParaRPr lang="ar-SA"/>
          </a:p>
        </p:txBody>
      </p:sp>
      <p:sp>
        <p:nvSpPr>
          <p:cNvPr id="40" name="Shape 38"/>
          <p:cNvSpPr/>
          <p:nvPr/>
        </p:nvSpPr>
        <p:spPr>
          <a:xfrm>
            <a:off x="6217920" y="3255264"/>
            <a:ext cx="5440680" cy="960120"/>
          </a:xfrm>
          <a:prstGeom prst="rect">
            <a:avLst/>
          </a:prstGeom>
          <a:solidFill>
            <a:srgbClr val="FFFFFF"/>
          </a:solidFill>
          <a:ln w="12700">
            <a:solidFill>
              <a:srgbClr val="CBD5E1"/>
            </a:solidFill>
            <a:prstDash val="solid"/>
          </a:ln>
        </p:spPr>
        <p:txBody>
          <a:bodyPr/>
          <a:lstStyle/>
          <a:p>
            <a:endParaRPr lang="ar-SA"/>
          </a:p>
        </p:txBody>
      </p:sp>
      <p:sp>
        <p:nvSpPr>
          <p:cNvPr id="41" name="Shape 39"/>
          <p:cNvSpPr/>
          <p:nvPr/>
        </p:nvSpPr>
        <p:spPr>
          <a:xfrm>
            <a:off x="6217920" y="3255264"/>
            <a:ext cx="502920" cy="960120"/>
          </a:xfrm>
          <a:prstGeom prst="rect">
            <a:avLst/>
          </a:prstGeom>
          <a:solidFill>
            <a:srgbClr val="0D2B55"/>
          </a:solidFill>
          <a:ln w="12700">
            <a:solidFill>
              <a:srgbClr val="0D2B55"/>
            </a:solidFill>
            <a:prstDash val="solid"/>
          </a:ln>
        </p:spPr>
        <p:txBody>
          <a:bodyPr/>
          <a:lstStyle/>
          <a:p>
            <a:endParaRPr lang="ar-SA"/>
          </a:p>
        </p:txBody>
      </p:sp>
      <p:sp>
        <p:nvSpPr>
          <p:cNvPr id="42" name="Text 40"/>
          <p:cNvSpPr/>
          <p:nvPr/>
        </p:nvSpPr>
        <p:spPr>
          <a:xfrm>
            <a:off x="6217920" y="3575304"/>
            <a:ext cx="50292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3" name="Text 41"/>
          <p:cNvSpPr/>
          <p:nvPr/>
        </p:nvSpPr>
        <p:spPr>
          <a:xfrm>
            <a:off x="6812280" y="3547872"/>
            <a:ext cx="4709160" cy="41148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Results &amp; Analysis</a:t>
            </a:r>
            <a:endParaRPr lang="en-US" sz="1400" dirty="0"/>
          </a:p>
        </p:txBody>
      </p:sp>
      <p:sp>
        <p:nvSpPr>
          <p:cNvPr id="44" name="Shape 42"/>
          <p:cNvSpPr/>
          <p:nvPr/>
        </p:nvSpPr>
        <p:spPr>
          <a:xfrm>
            <a:off x="6217920" y="4334256"/>
            <a:ext cx="5440680" cy="960120"/>
          </a:xfrm>
          <a:prstGeom prst="rect">
            <a:avLst/>
          </a:prstGeom>
          <a:solidFill>
            <a:srgbClr val="FFFFFF"/>
          </a:solidFill>
          <a:ln w="12700">
            <a:solidFill>
              <a:srgbClr val="FFFFFF"/>
            </a:solidFill>
            <a:prstDash val="solid"/>
          </a:ln>
        </p:spPr>
        <p:txBody>
          <a:bodyPr/>
          <a:lstStyle/>
          <a:p>
            <a:endParaRPr lang="ar-SA"/>
          </a:p>
        </p:txBody>
      </p:sp>
      <p:sp>
        <p:nvSpPr>
          <p:cNvPr id="45" name="Shape 43"/>
          <p:cNvSpPr/>
          <p:nvPr/>
        </p:nvSpPr>
        <p:spPr>
          <a:xfrm>
            <a:off x="6217920" y="4334256"/>
            <a:ext cx="5440680" cy="960120"/>
          </a:xfrm>
          <a:prstGeom prst="rect">
            <a:avLst/>
          </a:prstGeom>
          <a:solidFill>
            <a:srgbClr val="FFFFFF"/>
          </a:solidFill>
          <a:ln w="12700">
            <a:solidFill>
              <a:srgbClr val="CBD5E1"/>
            </a:solidFill>
            <a:prstDash val="solid"/>
          </a:ln>
        </p:spPr>
        <p:txBody>
          <a:bodyPr/>
          <a:lstStyle/>
          <a:p>
            <a:endParaRPr lang="ar-SA"/>
          </a:p>
        </p:txBody>
      </p:sp>
      <p:sp>
        <p:nvSpPr>
          <p:cNvPr id="46" name="Shape 44"/>
          <p:cNvSpPr/>
          <p:nvPr/>
        </p:nvSpPr>
        <p:spPr>
          <a:xfrm>
            <a:off x="6217920" y="4334256"/>
            <a:ext cx="502920" cy="960120"/>
          </a:xfrm>
          <a:prstGeom prst="rect">
            <a:avLst/>
          </a:prstGeom>
          <a:solidFill>
            <a:srgbClr val="028090"/>
          </a:solidFill>
          <a:ln w="12700">
            <a:solidFill>
              <a:srgbClr val="028090"/>
            </a:solidFill>
            <a:prstDash val="solid"/>
          </a:ln>
        </p:spPr>
        <p:txBody>
          <a:bodyPr/>
          <a:lstStyle/>
          <a:p>
            <a:endParaRPr lang="ar-SA"/>
          </a:p>
        </p:txBody>
      </p:sp>
      <p:sp>
        <p:nvSpPr>
          <p:cNvPr id="47" name="Text 45"/>
          <p:cNvSpPr/>
          <p:nvPr/>
        </p:nvSpPr>
        <p:spPr>
          <a:xfrm>
            <a:off x="6217920" y="4654296"/>
            <a:ext cx="50292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8" name="Text 46"/>
          <p:cNvSpPr/>
          <p:nvPr/>
        </p:nvSpPr>
        <p:spPr>
          <a:xfrm>
            <a:off x="6812280" y="4626864"/>
            <a:ext cx="4709160" cy="41148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Key Findings &amp; Limitations</a:t>
            </a:r>
            <a:endParaRPr lang="en-US" sz="1400" dirty="0"/>
          </a:p>
        </p:txBody>
      </p:sp>
      <p:sp>
        <p:nvSpPr>
          <p:cNvPr id="49" name="Shape 47"/>
          <p:cNvSpPr/>
          <p:nvPr/>
        </p:nvSpPr>
        <p:spPr>
          <a:xfrm>
            <a:off x="6217920" y="5413248"/>
            <a:ext cx="5440680" cy="960120"/>
          </a:xfrm>
          <a:prstGeom prst="rect">
            <a:avLst/>
          </a:prstGeom>
          <a:solidFill>
            <a:srgbClr val="FFFFFF"/>
          </a:solidFill>
          <a:ln w="12700">
            <a:solidFill>
              <a:srgbClr val="FFFFFF"/>
            </a:solidFill>
            <a:prstDash val="solid"/>
          </a:ln>
        </p:spPr>
        <p:txBody>
          <a:bodyPr/>
          <a:lstStyle/>
          <a:p>
            <a:endParaRPr lang="ar-SA"/>
          </a:p>
        </p:txBody>
      </p:sp>
      <p:sp>
        <p:nvSpPr>
          <p:cNvPr id="50" name="Shape 48"/>
          <p:cNvSpPr/>
          <p:nvPr/>
        </p:nvSpPr>
        <p:spPr>
          <a:xfrm>
            <a:off x="6217920" y="5413248"/>
            <a:ext cx="5440680" cy="960120"/>
          </a:xfrm>
          <a:prstGeom prst="rect">
            <a:avLst/>
          </a:prstGeom>
          <a:solidFill>
            <a:srgbClr val="FFFFFF"/>
          </a:solidFill>
          <a:ln w="12700">
            <a:solidFill>
              <a:srgbClr val="CBD5E1"/>
            </a:solidFill>
            <a:prstDash val="solid"/>
          </a:ln>
        </p:spPr>
        <p:txBody>
          <a:bodyPr/>
          <a:lstStyle/>
          <a:p>
            <a:endParaRPr lang="ar-SA"/>
          </a:p>
        </p:txBody>
      </p:sp>
      <p:sp>
        <p:nvSpPr>
          <p:cNvPr id="51" name="Shape 49"/>
          <p:cNvSpPr/>
          <p:nvPr/>
        </p:nvSpPr>
        <p:spPr>
          <a:xfrm>
            <a:off x="6217920" y="5413248"/>
            <a:ext cx="502920" cy="960120"/>
          </a:xfrm>
          <a:prstGeom prst="rect">
            <a:avLst/>
          </a:prstGeom>
          <a:solidFill>
            <a:srgbClr val="36454F"/>
          </a:solidFill>
          <a:ln w="12700">
            <a:solidFill>
              <a:srgbClr val="36454F"/>
            </a:solidFill>
            <a:prstDash val="solid"/>
          </a:ln>
        </p:spPr>
        <p:txBody>
          <a:bodyPr/>
          <a:lstStyle/>
          <a:p>
            <a:endParaRPr lang="ar-SA"/>
          </a:p>
        </p:txBody>
      </p:sp>
      <p:sp>
        <p:nvSpPr>
          <p:cNvPr id="52" name="Text 50"/>
          <p:cNvSpPr/>
          <p:nvPr/>
        </p:nvSpPr>
        <p:spPr>
          <a:xfrm>
            <a:off x="6217920" y="5733288"/>
            <a:ext cx="50292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53" name="Text 51"/>
          <p:cNvSpPr/>
          <p:nvPr/>
        </p:nvSpPr>
        <p:spPr>
          <a:xfrm>
            <a:off x="6812280" y="5705856"/>
            <a:ext cx="4709160" cy="41148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Conclusion &amp; Future Work</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0D2B55"/>
          </a:solidFill>
          <a:ln w="12700">
            <a:solidFill>
              <a:srgbClr val="0D2B55"/>
            </a:solidFill>
            <a:prstDash val="solid"/>
          </a:ln>
        </p:spPr>
        <p:txBody>
          <a:bodyPr/>
          <a:lstStyle/>
          <a:p>
            <a:endParaRPr lang="ar-SA"/>
          </a:p>
        </p:txBody>
      </p:sp>
      <p:sp>
        <p:nvSpPr>
          <p:cNvPr id="3" name="Text 1"/>
          <p:cNvSpPr/>
          <p:nvPr/>
        </p:nvSpPr>
        <p:spPr>
          <a:xfrm>
            <a:off x="457200" y="128016"/>
            <a:ext cx="11247120" cy="65836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Introduction &amp; Motivation</a:t>
            </a:r>
            <a:endParaRPr lang="en-US" sz="2600" dirty="0"/>
          </a:p>
        </p:txBody>
      </p:sp>
      <p:sp>
        <p:nvSpPr>
          <p:cNvPr id="4" name="Shape 2"/>
          <p:cNvSpPr/>
          <p:nvPr/>
        </p:nvSpPr>
        <p:spPr>
          <a:xfrm>
            <a:off x="365760" y="1051560"/>
            <a:ext cx="5486400" cy="1719072"/>
          </a:xfrm>
          <a:prstGeom prst="rect">
            <a:avLst/>
          </a:prstGeom>
          <a:solidFill>
            <a:srgbClr val="FFFFFF"/>
          </a:solidFill>
          <a:ln w="12700">
            <a:solidFill>
              <a:srgbClr val="FFFFFF"/>
            </a:solidFill>
            <a:prstDash val="solid"/>
          </a:ln>
        </p:spPr>
        <p:txBody>
          <a:bodyPr/>
          <a:lstStyle/>
          <a:p>
            <a:endParaRPr lang="ar-SA"/>
          </a:p>
        </p:txBody>
      </p:sp>
      <p:sp>
        <p:nvSpPr>
          <p:cNvPr id="5" name="Shape 3"/>
          <p:cNvSpPr/>
          <p:nvPr/>
        </p:nvSpPr>
        <p:spPr>
          <a:xfrm>
            <a:off x="365760" y="1051560"/>
            <a:ext cx="5486400" cy="1719072"/>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txBody>
          <a:bodyPr/>
          <a:lstStyle/>
          <a:p>
            <a:endParaRPr lang="ar-SA"/>
          </a:p>
        </p:txBody>
      </p:sp>
      <p:sp>
        <p:nvSpPr>
          <p:cNvPr id="6" name="Shape 4"/>
          <p:cNvSpPr/>
          <p:nvPr/>
        </p:nvSpPr>
        <p:spPr>
          <a:xfrm>
            <a:off x="365760" y="1051560"/>
            <a:ext cx="5486400" cy="438912"/>
          </a:xfrm>
          <a:prstGeom prst="rect">
            <a:avLst/>
          </a:prstGeom>
          <a:solidFill>
            <a:srgbClr val="E84855"/>
          </a:solidFill>
          <a:ln w="12700">
            <a:solidFill>
              <a:srgbClr val="E84855"/>
            </a:solidFill>
            <a:prstDash val="solid"/>
          </a:ln>
        </p:spPr>
        <p:txBody>
          <a:bodyPr/>
          <a:lstStyle/>
          <a:p>
            <a:endParaRPr lang="ar-SA"/>
          </a:p>
        </p:txBody>
      </p:sp>
      <p:sp>
        <p:nvSpPr>
          <p:cNvPr id="7" name="Text 5"/>
          <p:cNvSpPr/>
          <p:nvPr/>
        </p:nvSpPr>
        <p:spPr>
          <a:xfrm>
            <a:off x="475488" y="1115568"/>
            <a:ext cx="5266944"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Leading Cause of Blindness</a:t>
            </a:r>
            <a:endParaRPr lang="en-US" sz="1300" dirty="0"/>
          </a:p>
        </p:txBody>
      </p:sp>
      <p:sp>
        <p:nvSpPr>
          <p:cNvPr id="8" name="Text 6"/>
          <p:cNvSpPr/>
          <p:nvPr/>
        </p:nvSpPr>
        <p:spPr>
          <a:xfrm>
            <a:off x="475488" y="1581912"/>
            <a:ext cx="5266944" cy="1078992"/>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Diabetic Retinopathy is a leading cause of preventable blindness in working-age adults worldwide — driven by the global diabetes epidemic.</a:t>
            </a:r>
            <a:endParaRPr lang="en-US" sz="1150" dirty="0"/>
          </a:p>
        </p:txBody>
      </p:sp>
      <p:sp>
        <p:nvSpPr>
          <p:cNvPr id="9" name="Shape 7"/>
          <p:cNvSpPr/>
          <p:nvPr/>
        </p:nvSpPr>
        <p:spPr>
          <a:xfrm>
            <a:off x="6126480" y="1051560"/>
            <a:ext cx="5486400" cy="1719072"/>
          </a:xfrm>
          <a:prstGeom prst="rect">
            <a:avLst/>
          </a:prstGeom>
          <a:solidFill>
            <a:srgbClr val="FFFFFF"/>
          </a:solidFill>
          <a:ln w="12700">
            <a:solidFill>
              <a:srgbClr val="FFFFFF"/>
            </a:solidFill>
            <a:prstDash val="solid"/>
          </a:ln>
        </p:spPr>
        <p:txBody>
          <a:bodyPr/>
          <a:lstStyle/>
          <a:p>
            <a:endParaRPr lang="ar-SA"/>
          </a:p>
        </p:txBody>
      </p:sp>
      <p:sp>
        <p:nvSpPr>
          <p:cNvPr id="10" name="Shape 8"/>
          <p:cNvSpPr/>
          <p:nvPr/>
        </p:nvSpPr>
        <p:spPr>
          <a:xfrm>
            <a:off x="6126480" y="1051560"/>
            <a:ext cx="5486400" cy="1719072"/>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txBody>
          <a:bodyPr/>
          <a:lstStyle/>
          <a:p>
            <a:endParaRPr lang="ar-SA"/>
          </a:p>
        </p:txBody>
      </p:sp>
      <p:sp>
        <p:nvSpPr>
          <p:cNvPr id="11" name="Shape 9"/>
          <p:cNvSpPr/>
          <p:nvPr/>
        </p:nvSpPr>
        <p:spPr>
          <a:xfrm>
            <a:off x="6126480" y="1051560"/>
            <a:ext cx="5486400" cy="438912"/>
          </a:xfrm>
          <a:prstGeom prst="rect">
            <a:avLst/>
          </a:prstGeom>
          <a:solidFill>
            <a:srgbClr val="F4A261"/>
          </a:solidFill>
          <a:ln w="12700">
            <a:solidFill>
              <a:srgbClr val="F4A261"/>
            </a:solidFill>
            <a:prstDash val="solid"/>
          </a:ln>
        </p:spPr>
        <p:txBody>
          <a:bodyPr/>
          <a:lstStyle/>
          <a:p>
            <a:endParaRPr lang="ar-SA"/>
          </a:p>
        </p:txBody>
      </p:sp>
      <p:sp>
        <p:nvSpPr>
          <p:cNvPr id="12" name="Text 10"/>
          <p:cNvSpPr/>
          <p:nvPr/>
        </p:nvSpPr>
        <p:spPr>
          <a:xfrm>
            <a:off x="6236208" y="1115568"/>
            <a:ext cx="5266944"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Early Detection is Critical</a:t>
            </a:r>
            <a:endParaRPr lang="en-US" sz="1300" dirty="0"/>
          </a:p>
        </p:txBody>
      </p:sp>
      <p:sp>
        <p:nvSpPr>
          <p:cNvPr id="13" name="Text 11"/>
          <p:cNvSpPr/>
          <p:nvPr/>
        </p:nvSpPr>
        <p:spPr>
          <a:xfrm>
            <a:off x="6236208" y="1581912"/>
            <a:ext cx="5266944" cy="1078992"/>
          </a:xfrm>
          <a:prstGeom prst="rect">
            <a:avLst/>
          </a:prstGeom>
          <a:noFill/>
          <a:ln/>
        </p:spPr>
        <p:txBody>
          <a:bodyPr wrap="square" rtlCol="0" anchor="t"/>
          <a:lstStyle/>
          <a:p>
            <a:r>
              <a:rPr lang="en-US" sz="1200" dirty="0"/>
              <a:t>Early detection is critical for effective treatment</a:t>
            </a:r>
            <a:r>
              <a:rPr lang="en-US" sz="1150" dirty="0">
                <a:solidFill>
                  <a:srgbClr val="1E293B"/>
                </a:solidFill>
                <a:latin typeface="Calibri" pitchFamily="34" charset="0"/>
                <a:ea typeface="Calibri" pitchFamily="34" charset="-122"/>
                <a:cs typeface="Calibri" pitchFamily="34" charset="-120"/>
              </a:rPr>
              <a:t>, Making automated detection vital.</a:t>
            </a:r>
            <a:endParaRPr lang="en-US" sz="1150" dirty="0"/>
          </a:p>
        </p:txBody>
      </p:sp>
      <p:sp>
        <p:nvSpPr>
          <p:cNvPr id="14" name="Shape 12"/>
          <p:cNvSpPr/>
          <p:nvPr/>
        </p:nvSpPr>
        <p:spPr>
          <a:xfrm>
            <a:off x="365760" y="2926080"/>
            <a:ext cx="5486400" cy="1719072"/>
          </a:xfrm>
          <a:prstGeom prst="rect">
            <a:avLst/>
          </a:prstGeom>
          <a:solidFill>
            <a:srgbClr val="FFFFFF"/>
          </a:solidFill>
          <a:ln w="12700">
            <a:solidFill>
              <a:srgbClr val="FFFFFF"/>
            </a:solidFill>
            <a:prstDash val="solid"/>
          </a:ln>
        </p:spPr>
        <p:txBody>
          <a:bodyPr/>
          <a:lstStyle/>
          <a:p>
            <a:endParaRPr lang="ar-SA"/>
          </a:p>
        </p:txBody>
      </p:sp>
      <p:sp>
        <p:nvSpPr>
          <p:cNvPr id="15" name="Shape 13"/>
          <p:cNvSpPr/>
          <p:nvPr/>
        </p:nvSpPr>
        <p:spPr>
          <a:xfrm>
            <a:off x="365760" y="2926080"/>
            <a:ext cx="5486400" cy="1719072"/>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txBody>
          <a:bodyPr/>
          <a:lstStyle/>
          <a:p>
            <a:endParaRPr lang="ar-SA"/>
          </a:p>
        </p:txBody>
      </p:sp>
      <p:sp>
        <p:nvSpPr>
          <p:cNvPr id="16" name="Shape 14"/>
          <p:cNvSpPr/>
          <p:nvPr/>
        </p:nvSpPr>
        <p:spPr>
          <a:xfrm>
            <a:off x="365760" y="2926080"/>
            <a:ext cx="5486400" cy="438912"/>
          </a:xfrm>
          <a:prstGeom prst="rect">
            <a:avLst/>
          </a:prstGeom>
          <a:solidFill>
            <a:srgbClr val="028090"/>
          </a:solidFill>
          <a:ln w="12700">
            <a:solidFill>
              <a:srgbClr val="028090"/>
            </a:solidFill>
            <a:prstDash val="solid"/>
          </a:ln>
        </p:spPr>
        <p:txBody>
          <a:bodyPr/>
          <a:lstStyle/>
          <a:p>
            <a:endParaRPr lang="ar-SA"/>
          </a:p>
        </p:txBody>
      </p:sp>
      <p:sp>
        <p:nvSpPr>
          <p:cNvPr id="17" name="Text 15"/>
          <p:cNvSpPr/>
          <p:nvPr/>
        </p:nvSpPr>
        <p:spPr>
          <a:xfrm>
            <a:off x="475488" y="2990088"/>
            <a:ext cx="5266944"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Deep Learning Achieves High Accuracy</a:t>
            </a:r>
            <a:endParaRPr lang="en-US" sz="1300" dirty="0"/>
          </a:p>
        </p:txBody>
      </p:sp>
      <p:sp>
        <p:nvSpPr>
          <p:cNvPr id="18" name="Text 16"/>
          <p:cNvSpPr/>
          <p:nvPr/>
        </p:nvSpPr>
        <p:spPr>
          <a:xfrm>
            <a:off x="475488" y="3456432"/>
            <a:ext cx="5266944" cy="1078992"/>
          </a:xfrm>
          <a:prstGeom prst="rect">
            <a:avLst/>
          </a:prstGeom>
          <a:noFill/>
          <a:ln/>
        </p:spPr>
        <p:txBody>
          <a:bodyPr wrap="square" rtlCol="0" anchor="t"/>
          <a:lstStyle/>
          <a:p>
            <a:r>
              <a:rPr lang="en-US" sz="1150" dirty="0">
                <a:solidFill>
                  <a:srgbClr val="1E293B"/>
                </a:solidFill>
                <a:latin typeface="Calibri" pitchFamily="34" charset="0"/>
                <a:ea typeface="Calibri" pitchFamily="34" charset="-122"/>
                <a:cs typeface="Calibri" pitchFamily="34" charset="-120"/>
              </a:rPr>
              <a:t>Recent deep learning approaches have achieved high performance in diabetic retinopathy assessment, supporting their potential for clinical decision support.</a:t>
            </a:r>
            <a:endParaRPr lang="en-US" sz="1150" dirty="0"/>
          </a:p>
        </p:txBody>
      </p:sp>
      <p:sp>
        <p:nvSpPr>
          <p:cNvPr id="19" name="Shape 17"/>
          <p:cNvSpPr/>
          <p:nvPr/>
        </p:nvSpPr>
        <p:spPr>
          <a:xfrm>
            <a:off x="6126480" y="2926080"/>
            <a:ext cx="5486400" cy="1719072"/>
          </a:xfrm>
          <a:prstGeom prst="rect">
            <a:avLst/>
          </a:prstGeom>
          <a:solidFill>
            <a:srgbClr val="FFFFFF"/>
          </a:solidFill>
          <a:ln w="12700">
            <a:solidFill>
              <a:srgbClr val="FFFFFF"/>
            </a:solidFill>
            <a:prstDash val="solid"/>
          </a:ln>
        </p:spPr>
        <p:txBody>
          <a:bodyPr/>
          <a:lstStyle/>
          <a:p>
            <a:endParaRPr lang="ar-SA"/>
          </a:p>
        </p:txBody>
      </p:sp>
      <p:sp>
        <p:nvSpPr>
          <p:cNvPr id="20" name="Shape 18"/>
          <p:cNvSpPr/>
          <p:nvPr/>
        </p:nvSpPr>
        <p:spPr>
          <a:xfrm>
            <a:off x="6126480" y="2926080"/>
            <a:ext cx="5486400" cy="1719072"/>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txBody>
          <a:bodyPr/>
          <a:lstStyle/>
          <a:p>
            <a:endParaRPr lang="ar-SA"/>
          </a:p>
        </p:txBody>
      </p:sp>
      <p:sp>
        <p:nvSpPr>
          <p:cNvPr id="21" name="Shape 19"/>
          <p:cNvSpPr/>
          <p:nvPr/>
        </p:nvSpPr>
        <p:spPr>
          <a:xfrm>
            <a:off x="6126480" y="2926080"/>
            <a:ext cx="5486400" cy="438912"/>
          </a:xfrm>
          <a:prstGeom prst="rect">
            <a:avLst/>
          </a:prstGeom>
          <a:solidFill>
            <a:srgbClr val="0D2B55"/>
          </a:solidFill>
          <a:ln w="12700">
            <a:solidFill>
              <a:srgbClr val="0D2B55"/>
            </a:solidFill>
            <a:prstDash val="solid"/>
          </a:ln>
        </p:spPr>
        <p:txBody>
          <a:bodyPr/>
          <a:lstStyle/>
          <a:p>
            <a:endParaRPr lang="ar-SA"/>
          </a:p>
        </p:txBody>
      </p:sp>
      <p:sp>
        <p:nvSpPr>
          <p:cNvPr id="22" name="Text 20"/>
          <p:cNvSpPr/>
          <p:nvPr/>
        </p:nvSpPr>
        <p:spPr>
          <a:xfrm>
            <a:off x="6236208" y="2990088"/>
            <a:ext cx="5266944"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The Black-Box Problem</a:t>
            </a:r>
            <a:endParaRPr lang="en-US" sz="1300" dirty="0"/>
          </a:p>
        </p:txBody>
      </p:sp>
      <p:sp>
        <p:nvSpPr>
          <p:cNvPr id="23" name="Text 21"/>
          <p:cNvSpPr/>
          <p:nvPr/>
        </p:nvSpPr>
        <p:spPr>
          <a:xfrm>
            <a:off x="6236208" y="3456432"/>
            <a:ext cx="5266944" cy="1078992"/>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State-of-the-art DL models expose only a predicted grade and confidence score — no spatial or feature-level justification for the decision.</a:t>
            </a:r>
            <a:endParaRPr lang="en-US" sz="1150" dirty="0"/>
          </a:p>
        </p:txBody>
      </p:sp>
      <p:sp>
        <p:nvSpPr>
          <p:cNvPr id="24" name="Shape 22"/>
          <p:cNvSpPr/>
          <p:nvPr/>
        </p:nvSpPr>
        <p:spPr>
          <a:xfrm>
            <a:off x="365760" y="4800600"/>
            <a:ext cx="5486400" cy="1719072"/>
          </a:xfrm>
          <a:prstGeom prst="rect">
            <a:avLst/>
          </a:prstGeom>
          <a:solidFill>
            <a:srgbClr val="FFFFFF"/>
          </a:solidFill>
          <a:ln w="12700">
            <a:solidFill>
              <a:srgbClr val="FFFFFF"/>
            </a:solidFill>
            <a:prstDash val="solid"/>
          </a:ln>
        </p:spPr>
        <p:txBody>
          <a:bodyPr/>
          <a:lstStyle/>
          <a:p>
            <a:endParaRPr lang="ar-SA"/>
          </a:p>
        </p:txBody>
      </p:sp>
      <p:sp>
        <p:nvSpPr>
          <p:cNvPr id="25" name="Shape 23"/>
          <p:cNvSpPr/>
          <p:nvPr/>
        </p:nvSpPr>
        <p:spPr>
          <a:xfrm>
            <a:off x="365760" y="4800600"/>
            <a:ext cx="5486400" cy="1719072"/>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txBody>
          <a:bodyPr/>
          <a:lstStyle/>
          <a:p>
            <a:endParaRPr lang="ar-SA"/>
          </a:p>
        </p:txBody>
      </p:sp>
      <p:sp>
        <p:nvSpPr>
          <p:cNvPr id="26" name="Shape 24"/>
          <p:cNvSpPr/>
          <p:nvPr/>
        </p:nvSpPr>
        <p:spPr>
          <a:xfrm>
            <a:off x="365760" y="4800600"/>
            <a:ext cx="5486400" cy="438912"/>
          </a:xfrm>
          <a:prstGeom prst="rect">
            <a:avLst/>
          </a:prstGeom>
          <a:solidFill>
            <a:srgbClr val="7D3C98"/>
          </a:solidFill>
          <a:ln w="12700">
            <a:solidFill>
              <a:srgbClr val="7D3C98"/>
            </a:solidFill>
            <a:prstDash val="solid"/>
          </a:ln>
        </p:spPr>
        <p:txBody>
          <a:bodyPr/>
          <a:lstStyle/>
          <a:p>
            <a:endParaRPr lang="ar-SA"/>
          </a:p>
        </p:txBody>
      </p:sp>
      <p:sp>
        <p:nvSpPr>
          <p:cNvPr id="27" name="Text 25"/>
          <p:cNvSpPr/>
          <p:nvPr/>
        </p:nvSpPr>
        <p:spPr>
          <a:xfrm>
            <a:off x="475488" y="4864608"/>
            <a:ext cx="5266944"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Clinician Trust Gap</a:t>
            </a:r>
            <a:endParaRPr lang="en-US" sz="1300" dirty="0"/>
          </a:p>
        </p:txBody>
      </p:sp>
      <p:sp>
        <p:nvSpPr>
          <p:cNvPr id="28" name="Text 26"/>
          <p:cNvSpPr/>
          <p:nvPr/>
        </p:nvSpPr>
        <p:spPr>
          <a:xfrm>
            <a:off x="475488" y="5330952"/>
            <a:ext cx="5266944" cy="1078992"/>
          </a:xfrm>
          <a:prstGeom prst="rect">
            <a:avLst/>
          </a:prstGeom>
          <a:noFill/>
          <a:ln/>
        </p:spPr>
        <p:txBody>
          <a:bodyPr wrap="square" rtlCol="0" anchor="t"/>
          <a:lstStyle/>
          <a:p>
            <a:r>
              <a:rPr lang="en-US" sz="1150" dirty="0">
                <a:solidFill>
                  <a:srgbClr val="1E293B"/>
                </a:solidFill>
                <a:latin typeface="Calibri" pitchFamily="34" charset="0"/>
                <a:ea typeface="Calibri" pitchFamily="34" charset="-122"/>
                <a:cs typeface="Calibri" pitchFamily="34" charset="-120"/>
              </a:rPr>
              <a:t>Without interpretable models or explanations for </a:t>
            </a:r>
            <a:r>
              <a:rPr lang="en-US" sz="1200" dirty="0"/>
              <a:t>black-box</a:t>
            </a:r>
            <a:r>
              <a:rPr lang="en-US" sz="1150" dirty="0">
                <a:solidFill>
                  <a:srgbClr val="1E293B"/>
                </a:solidFill>
                <a:latin typeface="Calibri" pitchFamily="34" charset="0"/>
                <a:ea typeface="Calibri" pitchFamily="34" charset="-122"/>
                <a:cs typeface="Calibri" pitchFamily="34" charset="-120"/>
              </a:rPr>
              <a:t> models, clinicians cannot verify model reasoning, limiting real-world clinical adoption.</a:t>
            </a:r>
            <a:endParaRPr lang="en-US" sz="1150" dirty="0"/>
          </a:p>
        </p:txBody>
      </p:sp>
      <p:sp>
        <p:nvSpPr>
          <p:cNvPr id="29" name="Shape 27"/>
          <p:cNvSpPr/>
          <p:nvPr/>
        </p:nvSpPr>
        <p:spPr>
          <a:xfrm>
            <a:off x="6126480" y="4800600"/>
            <a:ext cx="5486400" cy="1719072"/>
          </a:xfrm>
          <a:prstGeom prst="rect">
            <a:avLst/>
          </a:prstGeom>
          <a:solidFill>
            <a:srgbClr val="FFFFFF"/>
          </a:solidFill>
          <a:ln w="12700">
            <a:solidFill>
              <a:srgbClr val="FFFFFF"/>
            </a:solidFill>
            <a:prstDash val="solid"/>
          </a:ln>
        </p:spPr>
        <p:txBody>
          <a:bodyPr/>
          <a:lstStyle/>
          <a:p>
            <a:endParaRPr lang="ar-SA"/>
          </a:p>
        </p:txBody>
      </p:sp>
      <p:sp>
        <p:nvSpPr>
          <p:cNvPr id="30" name="Shape 28"/>
          <p:cNvSpPr/>
          <p:nvPr/>
        </p:nvSpPr>
        <p:spPr>
          <a:xfrm>
            <a:off x="6126480" y="4800600"/>
            <a:ext cx="5486400" cy="1719072"/>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txBody>
          <a:bodyPr/>
          <a:lstStyle/>
          <a:p>
            <a:endParaRPr lang="ar-SA"/>
          </a:p>
        </p:txBody>
      </p:sp>
      <p:sp>
        <p:nvSpPr>
          <p:cNvPr id="31" name="Shape 29"/>
          <p:cNvSpPr/>
          <p:nvPr/>
        </p:nvSpPr>
        <p:spPr>
          <a:xfrm>
            <a:off x="6126480" y="4800600"/>
            <a:ext cx="5486400" cy="438912"/>
          </a:xfrm>
          <a:prstGeom prst="rect">
            <a:avLst/>
          </a:prstGeom>
          <a:solidFill>
            <a:srgbClr val="16A34A"/>
          </a:solidFill>
          <a:ln w="12700">
            <a:solidFill>
              <a:srgbClr val="16A34A"/>
            </a:solidFill>
            <a:prstDash val="solid"/>
          </a:ln>
        </p:spPr>
        <p:txBody>
          <a:bodyPr/>
          <a:lstStyle/>
          <a:p>
            <a:endParaRPr lang="ar-SA"/>
          </a:p>
        </p:txBody>
      </p:sp>
      <p:sp>
        <p:nvSpPr>
          <p:cNvPr id="32" name="Text 30"/>
          <p:cNvSpPr/>
          <p:nvPr/>
        </p:nvSpPr>
        <p:spPr>
          <a:xfrm>
            <a:off x="6236208" y="4864608"/>
            <a:ext cx="5266944"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Our Goal</a:t>
            </a:r>
            <a:endParaRPr lang="en-US" sz="1300" dirty="0"/>
          </a:p>
        </p:txBody>
      </p:sp>
      <p:sp>
        <p:nvSpPr>
          <p:cNvPr id="33" name="Text 31"/>
          <p:cNvSpPr/>
          <p:nvPr/>
        </p:nvSpPr>
        <p:spPr>
          <a:xfrm>
            <a:off x="6236208" y="5330952"/>
            <a:ext cx="5266944" cy="1078992"/>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Build a DR grading pipeline with two complementary explanation methods (Grad-CAM &amp; SHAP) and quantitatively audit explanation quality.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0D2B55"/>
          </a:solidFill>
          <a:ln w="12700">
            <a:solidFill>
              <a:srgbClr val="0D2B55"/>
            </a:solidFill>
            <a:prstDash val="solid"/>
          </a:ln>
        </p:spPr>
        <p:txBody>
          <a:bodyPr/>
          <a:lstStyle/>
          <a:p>
            <a:endParaRPr lang="ar-SA"/>
          </a:p>
        </p:txBody>
      </p:sp>
      <p:sp>
        <p:nvSpPr>
          <p:cNvPr id="3" name="Text 1"/>
          <p:cNvSpPr/>
          <p:nvPr/>
        </p:nvSpPr>
        <p:spPr>
          <a:xfrm>
            <a:off x="457200" y="128016"/>
            <a:ext cx="11247120" cy="65836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Problem Statement &amp; Objectives</a:t>
            </a:r>
            <a:endParaRPr lang="en-US" sz="2600" dirty="0"/>
          </a:p>
        </p:txBody>
      </p:sp>
      <p:sp>
        <p:nvSpPr>
          <p:cNvPr id="4" name="Shape 2"/>
          <p:cNvSpPr/>
          <p:nvPr/>
        </p:nvSpPr>
        <p:spPr>
          <a:xfrm>
            <a:off x="365760" y="1005840"/>
            <a:ext cx="5577840" cy="5486400"/>
          </a:xfrm>
          <a:prstGeom prst="rect">
            <a:avLst/>
          </a:prstGeom>
          <a:solidFill>
            <a:srgbClr val="0D2B55"/>
          </a:solidFill>
          <a:ln w="12700">
            <a:solidFill>
              <a:srgbClr val="0D2B55"/>
            </a:solidFill>
            <a:prstDash val="solid"/>
          </a:ln>
        </p:spPr>
        <p:txBody>
          <a:bodyPr/>
          <a:lstStyle/>
          <a:p>
            <a:endParaRPr lang="ar-SA"/>
          </a:p>
        </p:txBody>
      </p:sp>
      <p:sp>
        <p:nvSpPr>
          <p:cNvPr id="5" name="Text 3"/>
          <p:cNvSpPr/>
          <p:nvPr/>
        </p:nvSpPr>
        <p:spPr>
          <a:xfrm>
            <a:off x="548640" y="1097280"/>
            <a:ext cx="5212080" cy="457200"/>
          </a:xfrm>
          <a:prstGeom prst="rect">
            <a:avLst/>
          </a:prstGeom>
          <a:noFill/>
          <a:ln/>
        </p:spPr>
        <p:txBody>
          <a:bodyPr wrap="square" rtlCol="0" anchor="ctr"/>
          <a:lstStyle/>
          <a:p>
            <a:pPr marL="0" indent="0">
              <a:buNone/>
            </a:pPr>
            <a:r>
              <a:rPr lang="en-US" sz="1600" b="1" dirty="0">
                <a:solidFill>
                  <a:srgbClr val="E84855"/>
                </a:solidFill>
                <a:latin typeface="Calibri" pitchFamily="34" charset="0"/>
                <a:ea typeface="Calibri" pitchFamily="34" charset="-122"/>
                <a:cs typeface="Calibri" pitchFamily="34" charset="-120"/>
              </a:rPr>
              <a:t>⚠  The Problem</a:t>
            </a:r>
            <a:endParaRPr lang="en-US" sz="1600" dirty="0"/>
          </a:p>
        </p:txBody>
      </p:sp>
      <p:sp>
        <p:nvSpPr>
          <p:cNvPr id="6" name="Shape 4"/>
          <p:cNvSpPr/>
          <p:nvPr/>
        </p:nvSpPr>
        <p:spPr>
          <a:xfrm>
            <a:off x="502920" y="1645920"/>
            <a:ext cx="5257800" cy="960120"/>
          </a:xfrm>
          <a:prstGeom prst="rect">
            <a:avLst/>
          </a:prstGeom>
          <a:solidFill>
            <a:srgbClr val="14304A"/>
          </a:solidFill>
          <a:ln w="12700">
            <a:solidFill>
              <a:srgbClr val="14304A"/>
            </a:solidFill>
            <a:prstDash val="solid"/>
          </a:ln>
        </p:spPr>
        <p:txBody>
          <a:bodyPr/>
          <a:lstStyle/>
          <a:p>
            <a:endParaRPr lang="ar-SA"/>
          </a:p>
        </p:txBody>
      </p:sp>
      <p:sp>
        <p:nvSpPr>
          <p:cNvPr id="7" name="Text 5"/>
          <p:cNvSpPr/>
          <p:nvPr/>
        </p:nvSpPr>
        <p:spPr>
          <a:xfrm>
            <a:off x="640080" y="1719072"/>
            <a:ext cx="4983480" cy="822960"/>
          </a:xfrm>
          <a:prstGeom prst="rect">
            <a:avLst/>
          </a:prstGeom>
          <a:noFill/>
          <a:ln/>
        </p:spPr>
        <p:txBody>
          <a:bodyPr wrap="square" rtlCol="0" anchor="t"/>
          <a:lstStyle/>
          <a:p>
            <a:pPr marL="0" indent="0">
              <a:buNone/>
            </a:pPr>
            <a:r>
              <a:rPr lang="en-US" sz="1200" dirty="0">
                <a:solidFill>
                  <a:srgbClr val="D0E8F8"/>
                </a:solidFill>
                <a:latin typeface="Calibri" pitchFamily="34" charset="0"/>
                <a:ea typeface="Calibri" pitchFamily="34" charset="-122"/>
                <a:cs typeface="Calibri" pitchFamily="34" charset="-120"/>
              </a:rPr>
              <a:t>DL models can detect DR accurately but behave as black boxes</a:t>
            </a:r>
            <a:endParaRPr lang="en-US" sz="1200" dirty="0"/>
          </a:p>
        </p:txBody>
      </p:sp>
      <p:sp>
        <p:nvSpPr>
          <p:cNvPr id="8" name="Shape 6"/>
          <p:cNvSpPr/>
          <p:nvPr/>
        </p:nvSpPr>
        <p:spPr>
          <a:xfrm>
            <a:off x="502920" y="2761488"/>
            <a:ext cx="5257800" cy="960120"/>
          </a:xfrm>
          <a:prstGeom prst="rect">
            <a:avLst/>
          </a:prstGeom>
          <a:solidFill>
            <a:srgbClr val="14304A"/>
          </a:solidFill>
          <a:ln w="12700">
            <a:solidFill>
              <a:srgbClr val="14304A"/>
            </a:solidFill>
            <a:prstDash val="solid"/>
          </a:ln>
        </p:spPr>
        <p:txBody>
          <a:bodyPr/>
          <a:lstStyle/>
          <a:p>
            <a:endParaRPr lang="ar-SA"/>
          </a:p>
        </p:txBody>
      </p:sp>
      <p:sp>
        <p:nvSpPr>
          <p:cNvPr id="9" name="Text 7"/>
          <p:cNvSpPr/>
          <p:nvPr/>
        </p:nvSpPr>
        <p:spPr>
          <a:xfrm>
            <a:off x="640080" y="2834640"/>
            <a:ext cx="4983480" cy="822960"/>
          </a:xfrm>
          <a:prstGeom prst="rect">
            <a:avLst/>
          </a:prstGeom>
          <a:noFill/>
          <a:ln/>
        </p:spPr>
        <p:txBody>
          <a:bodyPr wrap="square" rtlCol="0" anchor="t"/>
          <a:lstStyle/>
          <a:p>
            <a:pPr marL="0" indent="0">
              <a:buNone/>
            </a:pPr>
            <a:r>
              <a:rPr lang="en-US" sz="1200" dirty="0">
                <a:solidFill>
                  <a:srgbClr val="D0E8F8"/>
                </a:solidFill>
                <a:latin typeface="Calibri" pitchFamily="34" charset="0"/>
                <a:ea typeface="Calibri" pitchFamily="34" charset="-122"/>
                <a:cs typeface="Calibri" pitchFamily="34" charset="-120"/>
              </a:rPr>
              <a:t>Lack of interpretability reduces clinical trust and adoption</a:t>
            </a:r>
            <a:endParaRPr lang="en-US" sz="1200" dirty="0"/>
          </a:p>
        </p:txBody>
      </p:sp>
      <p:sp>
        <p:nvSpPr>
          <p:cNvPr id="10" name="Shape 8"/>
          <p:cNvSpPr/>
          <p:nvPr/>
        </p:nvSpPr>
        <p:spPr>
          <a:xfrm>
            <a:off x="502920" y="3877056"/>
            <a:ext cx="5257800" cy="960120"/>
          </a:xfrm>
          <a:prstGeom prst="rect">
            <a:avLst/>
          </a:prstGeom>
          <a:solidFill>
            <a:srgbClr val="14304A"/>
          </a:solidFill>
          <a:ln w="12700">
            <a:solidFill>
              <a:srgbClr val="14304A"/>
            </a:solidFill>
            <a:prstDash val="solid"/>
          </a:ln>
        </p:spPr>
        <p:txBody>
          <a:bodyPr/>
          <a:lstStyle/>
          <a:p>
            <a:endParaRPr lang="ar-SA"/>
          </a:p>
        </p:txBody>
      </p:sp>
      <p:sp>
        <p:nvSpPr>
          <p:cNvPr id="11" name="Text 9"/>
          <p:cNvSpPr/>
          <p:nvPr/>
        </p:nvSpPr>
        <p:spPr>
          <a:xfrm>
            <a:off x="640080" y="3950208"/>
            <a:ext cx="4983480" cy="822960"/>
          </a:xfrm>
          <a:prstGeom prst="rect">
            <a:avLst/>
          </a:prstGeom>
          <a:noFill/>
          <a:ln/>
        </p:spPr>
        <p:txBody>
          <a:bodyPr wrap="square" rtlCol="0" anchor="t"/>
          <a:lstStyle/>
          <a:p>
            <a:pPr marL="0" indent="0">
              <a:buNone/>
            </a:pPr>
            <a:r>
              <a:rPr lang="en-US" sz="1200" dirty="0">
                <a:solidFill>
                  <a:srgbClr val="D0E8F8"/>
                </a:solidFill>
                <a:latin typeface="Calibri" pitchFamily="34" charset="0"/>
                <a:ea typeface="Calibri" pitchFamily="34" charset="-122"/>
                <a:cs typeface="Calibri" pitchFamily="34" charset="-120"/>
              </a:rPr>
              <a:t>Standard Grad-CAM can highlight irrelevant regions (e.g., image borders)</a:t>
            </a:r>
            <a:endParaRPr lang="en-US" sz="1200" dirty="0"/>
          </a:p>
        </p:txBody>
      </p:sp>
      <p:sp>
        <p:nvSpPr>
          <p:cNvPr id="14" name="Shape 12"/>
          <p:cNvSpPr/>
          <p:nvPr/>
        </p:nvSpPr>
        <p:spPr>
          <a:xfrm>
            <a:off x="6313932" y="1243584"/>
            <a:ext cx="5577840" cy="5486400"/>
          </a:xfrm>
          <a:prstGeom prst="rect">
            <a:avLst/>
          </a:prstGeom>
          <a:solidFill>
            <a:srgbClr val="EBF5FB"/>
          </a:solidFill>
          <a:ln w="12700">
            <a:solidFill>
              <a:srgbClr val="EBF5FB"/>
            </a:solidFill>
            <a:prstDash val="solid"/>
          </a:ln>
        </p:spPr>
        <p:txBody>
          <a:bodyPr/>
          <a:lstStyle/>
          <a:p>
            <a:endParaRPr lang="ar-SA"/>
          </a:p>
        </p:txBody>
      </p:sp>
      <p:sp>
        <p:nvSpPr>
          <p:cNvPr id="15" name="Text 13"/>
          <p:cNvSpPr/>
          <p:nvPr/>
        </p:nvSpPr>
        <p:spPr>
          <a:xfrm>
            <a:off x="6446520" y="1097280"/>
            <a:ext cx="5212080" cy="457200"/>
          </a:xfrm>
          <a:prstGeom prst="rect">
            <a:avLst/>
          </a:prstGeom>
          <a:noFill/>
          <a:ln/>
        </p:spPr>
        <p:txBody>
          <a:bodyPr wrap="square" rtlCol="0" anchor="ctr"/>
          <a:lstStyle/>
          <a:p>
            <a:pPr marL="0" indent="0">
              <a:buNone/>
            </a:pPr>
            <a:r>
              <a:rPr lang="en-US" sz="1600" b="1" dirty="0">
                <a:solidFill>
                  <a:srgbClr val="028090"/>
                </a:solidFill>
                <a:latin typeface="Calibri" pitchFamily="34" charset="0"/>
                <a:ea typeface="Calibri" pitchFamily="34" charset="-122"/>
                <a:cs typeface="Calibri" pitchFamily="34" charset="-120"/>
              </a:rPr>
              <a:t>✓  Our Objectives</a:t>
            </a:r>
            <a:endParaRPr lang="en-US" sz="1600" dirty="0"/>
          </a:p>
        </p:txBody>
      </p:sp>
      <p:sp>
        <p:nvSpPr>
          <p:cNvPr id="16" name="Shape 14"/>
          <p:cNvSpPr/>
          <p:nvPr/>
        </p:nvSpPr>
        <p:spPr>
          <a:xfrm>
            <a:off x="6400800" y="1645920"/>
            <a:ext cx="5257800" cy="960120"/>
          </a:xfrm>
          <a:prstGeom prst="rect">
            <a:avLst/>
          </a:prstGeom>
          <a:solidFill>
            <a:srgbClr val="FFFFFF"/>
          </a:solidFill>
          <a:ln w="12700">
            <a:solidFill>
              <a:srgbClr val="FFFFFF"/>
            </a:solidFill>
            <a:prstDash val="solid"/>
          </a:ln>
        </p:spPr>
        <p:txBody>
          <a:bodyPr/>
          <a:lstStyle/>
          <a:p>
            <a:endParaRPr lang="ar-SA"/>
          </a:p>
        </p:txBody>
      </p:sp>
      <p:sp>
        <p:nvSpPr>
          <p:cNvPr id="17" name="Shape 15"/>
          <p:cNvSpPr/>
          <p:nvPr/>
        </p:nvSpPr>
        <p:spPr>
          <a:xfrm>
            <a:off x="6400800" y="1645920"/>
            <a:ext cx="201168" cy="960120"/>
          </a:xfrm>
          <a:prstGeom prst="rect">
            <a:avLst/>
          </a:prstGeom>
          <a:solidFill>
            <a:srgbClr val="028090"/>
          </a:solidFill>
          <a:ln w="12700">
            <a:solidFill>
              <a:srgbClr val="028090"/>
            </a:solidFill>
            <a:prstDash val="solid"/>
          </a:ln>
        </p:spPr>
        <p:txBody>
          <a:bodyPr/>
          <a:lstStyle/>
          <a:p>
            <a:endParaRPr lang="ar-SA"/>
          </a:p>
        </p:txBody>
      </p:sp>
      <p:sp>
        <p:nvSpPr>
          <p:cNvPr id="18" name="Text 16"/>
          <p:cNvSpPr/>
          <p:nvPr/>
        </p:nvSpPr>
        <p:spPr>
          <a:xfrm>
            <a:off x="6656832" y="1691640"/>
            <a:ext cx="4892040" cy="347472"/>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5-Class DR Severity Classification</a:t>
            </a:r>
            <a:endParaRPr lang="en-US" sz="1200" dirty="0"/>
          </a:p>
        </p:txBody>
      </p:sp>
      <p:sp>
        <p:nvSpPr>
          <p:cNvPr id="19" name="Text 17"/>
          <p:cNvSpPr/>
          <p:nvPr/>
        </p:nvSpPr>
        <p:spPr>
          <a:xfrm>
            <a:off x="6656832" y="2029968"/>
            <a:ext cx="4892040" cy="47548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Fine-tune EfficientNet-B4 on APTOS 2019 using focal loss to predict No DR → Proliferative DR</a:t>
            </a:r>
            <a:endParaRPr lang="en-US" sz="1100" dirty="0"/>
          </a:p>
        </p:txBody>
      </p:sp>
      <p:sp>
        <p:nvSpPr>
          <p:cNvPr id="20" name="Shape 18"/>
          <p:cNvSpPr/>
          <p:nvPr/>
        </p:nvSpPr>
        <p:spPr>
          <a:xfrm>
            <a:off x="6400800" y="2761488"/>
            <a:ext cx="5257800" cy="960120"/>
          </a:xfrm>
          <a:prstGeom prst="rect">
            <a:avLst/>
          </a:prstGeom>
          <a:solidFill>
            <a:srgbClr val="FFFFFF"/>
          </a:solidFill>
          <a:ln w="12700">
            <a:solidFill>
              <a:srgbClr val="FFFFFF"/>
            </a:solidFill>
            <a:prstDash val="solid"/>
          </a:ln>
        </p:spPr>
        <p:txBody>
          <a:bodyPr/>
          <a:lstStyle/>
          <a:p>
            <a:endParaRPr lang="ar-SA"/>
          </a:p>
        </p:txBody>
      </p:sp>
      <p:sp>
        <p:nvSpPr>
          <p:cNvPr id="21" name="Shape 19"/>
          <p:cNvSpPr/>
          <p:nvPr/>
        </p:nvSpPr>
        <p:spPr>
          <a:xfrm>
            <a:off x="6400800" y="2761488"/>
            <a:ext cx="201168" cy="960120"/>
          </a:xfrm>
          <a:prstGeom prst="rect">
            <a:avLst/>
          </a:prstGeom>
          <a:solidFill>
            <a:srgbClr val="0D2B55"/>
          </a:solidFill>
          <a:ln w="12700">
            <a:solidFill>
              <a:srgbClr val="0D2B55"/>
            </a:solidFill>
            <a:prstDash val="solid"/>
          </a:ln>
        </p:spPr>
        <p:txBody>
          <a:bodyPr/>
          <a:lstStyle/>
          <a:p>
            <a:endParaRPr lang="ar-SA"/>
          </a:p>
        </p:txBody>
      </p:sp>
      <p:sp>
        <p:nvSpPr>
          <p:cNvPr id="22" name="Text 20"/>
          <p:cNvSpPr/>
          <p:nvPr/>
        </p:nvSpPr>
        <p:spPr>
          <a:xfrm>
            <a:off x="6656832" y="2807208"/>
            <a:ext cx="4892040" cy="347472"/>
          </a:xfrm>
          <a:prstGeom prst="rect">
            <a:avLst/>
          </a:prstGeom>
          <a:noFill/>
          <a:ln/>
        </p:spPr>
        <p:txBody>
          <a:bodyPr wrap="square" rtlCol="0" anchor="ctr"/>
          <a:lstStyle/>
          <a:p>
            <a:pPr marL="0" indent="0">
              <a:buNone/>
            </a:pPr>
            <a:r>
              <a:rPr lang="en-US" sz="1200" b="1" dirty="0">
                <a:solidFill>
                  <a:srgbClr val="0D2B55"/>
                </a:solidFill>
                <a:latin typeface="Calibri" pitchFamily="34" charset="0"/>
                <a:ea typeface="Calibri" pitchFamily="34" charset="-122"/>
                <a:cs typeface="Calibri" pitchFamily="34" charset="-120"/>
              </a:rPr>
              <a:t>Dual XAI Explanations</a:t>
            </a:r>
            <a:endParaRPr lang="en-US" sz="1200" dirty="0"/>
          </a:p>
        </p:txBody>
      </p:sp>
      <p:sp>
        <p:nvSpPr>
          <p:cNvPr id="23" name="Text 21"/>
          <p:cNvSpPr/>
          <p:nvPr/>
        </p:nvSpPr>
        <p:spPr>
          <a:xfrm>
            <a:off x="6656832" y="3145536"/>
            <a:ext cx="4892040" cy="47548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Attach Grad-CAM (spatial heatmap) and SHAP DeepExplainer (pixel-level signed attribution) to every prediction</a:t>
            </a:r>
            <a:endParaRPr lang="en-US" sz="1100" dirty="0"/>
          </a:p>
        </p:txBody>
      </p:sp>
      <p:sp>
        <p:nvSpPr>
          <p:cNvPr id="24" name="Shape 22"/>
          <p:cNvSpPr/>
          <p:nvPr/>
        </p:nvSpPr>
        <p:spPr>
          <a:xfrm>
            <a:off x="6400800" y="3877056"/>
            <a:ext cx="5257800" cy="960120"/>
          </a:xfrm>
          <a:prstGeom prst="rect">
            <a:avLst/>
          </a:prstGeom>
          <a:solidFill>
            <a:srgbClr val="FFFFFF"/>
          </a:solidFill>
          <a:ln w="12700">
            <a:solidFill>
              <a:srgbClr val="FFFFFF"/>
            </a:solidFill>
            <a:prstDash val="solid"/>
          </a:ln>
        </p:spPr>
        <p:txBody>
          <a:bodyPr/>
          <a:lstStyle/>
          <a:p>
            <a:endParaRPr lang="ar-SA"/>
          </a:p>
        </p:txBody>
      </p:sp>
      <p:sp>
        <p:nvSpPr>
          <p:cNvPr id="25" name="Shape 23"/>
          <p:cNvSpPr/>
          <p:nvPr/>
        </p:nvSpPr>
        <p:spPr>
          <a:xfrm>
            <a:off x="6400800" y="3877056"/>
            <a:ext cx="201168" cy="960120"/>
          </a:xfrm>
          <a:prstGeom prst="rect">
            <a:avLst/>
          </a:prstGeom>
          <a:solidFill>
            <a:srgbClr val="E84855"/>
          </a:solidFill>
          <a:ln w="12700">
            <a:solidFill>
              <a:srgbClr val="E84855"/>
            </a:solidFill>
            <a:prstDash val="solid"/>
          </a:ln>
        </p:spPr>
        <p:txBody>
          <a:bodyPr/>
          <a:lstStyle/>
          <a:p>
            <a:endParaRPr lang="ar-SA"/>
          </a:p>
        </p:txBody>
      </p:sp>
      <p:sp>
        <p:nvSpPr>
          <p:cNvPr id="26" name="Text 24"/>
          <p:cNvSpPr/>
          <p:nvPr/>
        </p:nvSpPr>
        <p:spPr>
          <a:xfrm>
            <a:off x="6656832" y="3922776"/>
            <a:ext cx="4892040" cy="347472"/>
          </a:xfrm>
          <a:prstGeom prst="rect">
            <a:avLst/>
          </a:prstGeom>
          <a:noFill/>
          <a:ln/>
        </p:spPr>
        <p:txBody>
          <a:bodyPr wrap="square" rtlCol="0" anchor="ctr"/>
          <a:lstStyle/>
          <a:p>
            <a:pPr marL="0" indent="0">
              <a:buNone/>
            </a:pPr>
            <a:r>
              <a:rPr lang="en-US" sz="1200" b="1" dirty="0">
                <a:solidFill>
                  <a:srgbClr val="E84855"/>
                </a:solidFill>
                <a:latin typeface="Calibri" pitchFamily="34" charset="0"/>
                <a:ea typeface="Calibri" pitchFamily="34" charset="-122"/>
                <a:cs typeface="Calibri" pitchFamily="34" charset="-120"/>
              </a:rPr>
              <a:t>Artifact</a:t>
            </a:r>
            <a:endParaRPr lang="en-US" sz="1200" dirty="0"/>
          </a:p>
        </p:txBody>
      </p:sp>
      <p:sp>
        <p:nvSpPr>
          <p:cNvPr id="27" name="Text 25"/>
          <p:cNvSpPr/>
          <p:nvPr/>
        </p:nvSpPr>
        <p:spPr>
          <a:xfrm>
            <a:off x="6656832" y="4261104"/>
            <a:ext cx="4892040" cy="47548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Generate interpretable explanations (Grad-CAM &amp; SHAP) and ensure explanations focus on relevant retinal regions.</a:t>
            </a:r>
          </a:p>
        </p:txBody>
      </p:sp>
      <p:sp>
        <p:nvSpPr>
          <p:cNvPr id="28" name="Shape 26"/>
          <p:cNvSpPr/>
          <p:nvPr/>
        </p:nvSpPr>
        <p:spPr>
          <a:xfrm>
            <a:off x="6400800" y="4992624"/>
            <a:ext cx="5257800" cy="960120"/>
          </a:xfrm>
          <a:prstGeom prst="rect">
            <a:avLst/>
          </a:prstGeom>
          <a:solidFill>
            <a:srgbClr val="FFFFFF"/>
          </a:solidFill>
          <a:ln w="12700">
            <a:solidFill>
              <a:srgbClr val="FFFFFF"/>
            </a:solidFill>
            <a:prstDash val="solid"/>
          </a:ln>
        </p:spPr>
        <p:txBody>
          <a:bodyPr/>
          <a:lstStyle/>
          <a:p>
            <a:endParaRPr lang="ar-SA"/>
          </a:p>
        </p:txBody>
      </p:sp>
      <p:sp>
        <p:nvSpPr>
          <p:cNvPr id="29" name="Shape 27"/>
          <p:cNvSpPr/>
          <p:nvPr/>
        </p:nvSpPr>
        <p:spPr>
          <a:xfrm>
            <a:off x="6400800" y="4992624"/>
            <a:ext cx="201168" cy="960120"/>
          </a:xfrm>
          <a:prstGeom prst="rect">
            <a:avLst/>
          </a:prstGeom>
          <a:solidFill>
            <a:srgbClr val="16A34A"/>
          </a:solidFill>
          <a:ln w="12700">
            <a:solidFill>
              <a:srgbClr val="16A34A"/>
            </a:solidFill>
            <a:prstDash val="solid"/>
          </a:ln>
        </p:spPr>
        <p:txBody>
          <a:bodyPr/>
          <a:lstStyle/>
          <a:p>
            <a:endParaRPr lang="ar-SA"/>
          </a:p>
        </p:txBody>
      </p:sp>
      <p:sp>
        <p:nvSpPr>
          <p:cNvPr id="30" name="Text 28"/>
          <p:cNvSpPr/>
          <p:nvPr/>
        </p:nvSpPr>
        <p:spPr>
          <a:xfrm>
            <a:off x="6656832" y="5038344"/>
            <a:ext cx="4892040" cy="347472"/>
          </a:xfrm>
          <a:prstGeom prst="rect">
            <a:avLst/>
          </a:prstGeom>
          <a:noFill/>
          <a:ln/>
        </p:spPr>
        <p:txBody>
          <a:bodyPr wrap="square" rtlCol="0" anchor="ctr"/>
          <a:lstStyle/>
          <a:p>
            <a:pPr marL="0" indent="0">
              <a:buNone/>
            </a:pPr>
            <a:r>
              <a:rPr lang="en-US" sz="1200" b="1" dirty="0">
                <a:solidFill>
                  <a:srgbClr val="16A34A"/>
                </a:solidFill>
                <a:latin typeface="Calibri" pitchFamily="34" charset="0"/>
                <a:ea typeface="Calibri" pitchFamily="34" charset="-122"/>
                <a:cs typeface="Calibri" pitchFamily="34" charset="-120"/>
              </a:rPr>
              <a:t>Quantitative XAI Audit</a:t>
            </a:r>
            <a:endParaRPr lang="en-US" sz="1200" dirty="0"/>
          </a:p>
        </p:txBody>
      </p:sp>
      <p:sp>
        <p:nvSpPr>
          <p:cNvPr id="31" name="Text 29"/>
          <p:cNvSpPr/>
          <p:nvPr/>
        </p:nvSpPr>
        <p:spPr>
          <a:xfrm>
            <a:off x="6656832" y="5376672"/>
            <a:ext cx="4892040" cy="475488"/>
          </a:xfrm>
          <a:prstGeom prst="rect">
            <a:avLst/>
          </a:prstGeom>
          <a:noFill/>
          <a:ln/>
        </p:spPr>
        <p:txBody>
          <a:bodyPr wrap="square" rtlCol="0" anchor="ctr"/>
          <a:lstStyle/>
          <a:p>
            <a:r>
              <a:rPr lang="en-US" sz="1100" dirty="0">
                <a:solidFill>
                  <a:srgbClr val="1E293B"/>
                </a:solidFill>
                <a:latin typeface="Calibri" pitchFamily="34" charset="0"/>
                <a:ea typeface="Calibri" pitchFamily="34" charset="-122"/>
                <a:cs typeface="Calibri" pitchFamily="34" charset="-120"/>
              </a:rPr>
              <a:t>Evaluate both </a:t>
            </a:r>
            <a:r>
              <a:rPr lang="en-US" sz="1100" dirty="0"/>
              <a:t>explanation methods using quantitative faithfulness metrics.</a:t>
            </a:r>
          </a:p>
          <a:p>
            <a:pPr marL="0" indent="0">
              <a:buNone/>
            </a:pP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0D2B55"/>
          </a:solidFill>
          <a:ln w="12700">
            <a:solidFill>
              <a:srgbClr val="0D2B55"/>
            </a:solidFill>
            <a:prstDash val="solid"/>
          </a:ln>
        </p:spPr>
        <p:txBody>
          <a:bodyPr/>
          <a:lstStyle/>
          <a:p>
            <a:endParaRPr lang="ar-SA"/>
          </a:p>
        </p:txBody>
      </p:sp>
      <p:sp>
        <p:nvSpPr>
          <p:cNvPr id="3" name="Text 1"/>
          <p:cNvSpPr/>
          <p:nvPr/>
        </p:nvSpPr>
        <p:spPr>
          <a:xfrm>
            <a:off x="457200" y="128016"/>
            <a:ext cx="11247120" cy="65836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System Overview &amp; Methodology</a:t>
            </a:r>
            <a:endParaRPr lang="en-US" sz="2600" dirty="0"/>
          </a:p>
        </p:txBody>
      </p:sp>
      <p:sp>
        <p:nvSpPr>
          <p:cNvPr id="4" name="Text 2"/>
          <p:cNvSpPr/>
          <p:nvPr/>
        </p:nvSpPr>
        <p:spPr>
          <a:xfrm>
            <a:off x="47568" y="1078339"/>
            <a:ext cx="4636065" cy="384048"/>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End-to-end pipeline: every fundus image produces a grade, a Grad-CAM heatmap, and a SHAP attribution map</a:t>
            </a:r>
            <a:endParaRPr lang="en-US" sz="1300" dirty="0"/>
          </a:p>
        </p:txBody>
      </p:sp>
      <p:sp>
        <p:nvSpPr>
          <p:cNvPr id="31" name="Shape 29"/>
          <p:cNvSpPr/>
          <p:nvPr/>
        </p:nvSpPr>
        <p:spPr>
          <a:xfrm>
            <a:off x="73790" y="6293923"/>
            <a:ext cx="5317159" cy="451636"/>
          </a:xfrm>
          <a:prstGeom prst="rect">
            <a:avLst/>
          </a:prstGeom>
          <a:solidFill>
            <a:srgbClr val="16A34A"/>
          </a:solidFill>
          <a:ln w="12700">
            <a:solidFill>
              <a:srgbClr val="16A34A"/>
            </a:solidFill>
            <a:prstDash val="solid"/>
          </a:ln>
        </p:spPr>
        <p:txBody>
          <a:bodyPr/>
          <a:lstStyle/>
          <a:p>
            <a:endParaRPr lang="ar-SA" dirty="0"/>
          </a:p>
        </p:txBody>
      </p:sp>
      <p:sp>
        <p:nvSpPr>
          <p:cNvPr id="32" name="Text 30"/>
          <p:cNvSpPr/>
          <p:nvPr/>
        </p:nvSpPr>
        <p:spPr>
          <a:xfrm>
            <a:off x="-64522" y="6147625"/>
            <a:ext cx="5593785" cy="71723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Output: Predicted Grade + Confidence + Grad-CAM Heatmap + SHAP Attribution Map</a:t>
            </a:r>
            <a:endParaRPr lang="en-US" sz="1100" dirty="0"/>
          </a:p>
        </p:txBody>
      </p:sp>
      <p:sp>
        <p:nvSpPr>
          <p:cNvPr id="39" name="Content Placeholder 5">
            <a:extLst>
              <a:ext uri="{FF2B5EF4-FFF2-40B4-BE49-F238E27FC236}">
                <a16:creationId xmlns:a16="http://schemas.microsoft.com/office/drawing/2014/main" id="{3C4D0223-E3A5-CCED-E337-0BE9D501F5DB}"/>
              </a:ext>
            </a:extLst>
          </p:cNvPr>
          <p:cNvSpPr txBox="1">
            <a:spLocks/>
          </p:cNvSpPr>
          <p:nvPr/>
        </p:nvSpPr>
        <p:spPr>
          <a:xfrm>
            <a:off x="185737" y="1616692"/>
            <a:ext cx="5205212" cy="4439724"/>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buFont typeface="Wingdings" pitchFamily="2" charset="2"/>
              <a:buChar char="Ø"/>
            </a:pPr>
            <a:r>
              <a:rPr lang="en-US" sz="1600" b="1" dirty="0">
                <a:solidFill>
                  <a:srgbClr val="1E293B"/>
                </a:solidFill>
                <a:latin typeface="Calibri" pitchFamily="34" charset="0"/>
                <a:cs typeface="Calibri" pitchFamily="34" charset="-120"/>
              </a:rPr>
              <a:t>Input</a:t>
            </a:r>
            <a:r>
              <a:rPr lang="en-US" sz="1600" dirty="0">
                <a:solidFill>
                  <a:srgbClr val="1E293B"/>
                </a:solidFill>
                <a:latin typeface="Calibri" pitchFamily="34" charset="0"/>
                <a:cs typeface="Calibri" pitchFamily="34" charset="-120"/>
              </a:rPr>
              <a:t>: Fundus retinal image.</a:t>
            </a:r>
          </a:p>
          <a:p>
            <a:pPr>
              <a:lnSpc>
                <a:spcPct val="150000"/>
              </a:lnSpc>
              <a:buFont typeface="Wingdings" pitchFamily="2" charset="2"/>
              <a:buChar char="Ø"/>
            </a:pPr>
            <a:r>
              <a:rPr lang="en-US" sz="1600" b="1" dirty="0">
                <a:solidFill>
                  <a:srgbClr val="1E293B"/>
                </a:solidFill>
                <a:latin typeface="Calibri" pitchFamily="34" charset="0"/>
                <a:cs typeface="Calibri" pitchFamily="34" charset="-120"/>
              </a:rPr>
              <a:t>Preprocessing</a:t>
            </a:r>
            <a:r>
              <a:rPr lang="en-US" sz="1600" dirty="0">
                <a:solidFill>
                  <a:srgbClr val="1E293B"/>
                </a:solidFill>
                <a:latin typeface="Calibri" pitchFamily="34" charset="0"/>
                <a:cs typeface="Calibri" pitchFamily="34" charset="-120"/>
              </a:rPr>
              <a:t>: Resize, contrast enhancement (CLAHE), Ben-Graham subtraction, circular crop.</a:t>
            </a:r>
          </a:p>
          <a:p>
            <a:pPr>
              <a:lnSpc>
                <a:spcPct val="150000"/>
              </a:lnSpc>
              <a:buFont typeface="Wingdings" pitchFamily="2" charset="2"/>
              <a:buChar char="Ø"/>
            </a:pPr>
            <a:r>
              <a:rPr lang="en-US" sz="1600" b="1" dirty="0">
                <a:solidFill>
                  <a:srgbClr val="1E293B"/>
                </a:solidFill>
                <a:latin typeface="Calibri" pitchFamily="34" charset="0"/>
                <a:cs typeface="Calibri" pitchFamily="34" charset="-120"/>
              </a:rPr>
              <a:t>Model</a:t>
            </a:r>
            <a:r>
              <a:rPr lang="en-US" sz="1600" dirty="0">
                <a:solidFill>
                  <a:srgbClr val="1E293B"/>
                </a:solidFill>
                <a:latin typeface="Calibri" pitchFamily="34" charset="0"/>
                <a:cs typeface="Calibri" pitchFamily="34" charset="-120"/>
              </a:rPr>
              <a:t>: Fine-tuned EfficientNet-B4 for 5-class DR grading.</a:t>
            </a:r>
          </a:p>
          <a:p>
            <a:pPr>
              <a:lnSpc>
                <a:spcPct val="150000"/>
              </a:lnSpc>
              <a:buFont typeface="Wingdings" pitchFamily="2" charset="2"/>
              <a:buChar char="Ø"/>
            </a:pPr>
            <a:r>
              <a:rPr lang="en-US" sz="1600" b="1" dirty="0">
                <a:solidFill>
                  <a:srgbClr val="1E293B"/>
                </a:solidFill>
                <a:latin typeface="Calibri" pitchFamily="34" charset="0"/>
                <a:cs typeface="Calibri" pitchFamily="34" charset="-120"/>
              </a:rPr>
              <a:t>Training</a:t>
            </a:r>
            <a:r>
              <a:rPr lang="en-US" sz="1600" dirty="0">
                <a:solidFill>
                  <a:srgbClr val="1E293B"/>
                </a:solidFill>
                <a:latin typeface="Calibri" pitchFamily="34" charset="0"/>
                <a:cs typeface="Calibri" pitchFamily="34" charset="-120"/>
              </a:rPr>
              <a:t>: Focal loss to handle class imbalance.</a:t>
            </a:r>
          </a:p>
          <a:p>
            <a:pPr>
              <a:lnSpc>
                <a:spcPct val="150000"/>
              </a:lnSpc>
              <a:buFont typeface="Wingdings" pitchFamily="2" charset="2"/>
              <a:buChar char="Ø"/>
            </a:pPr>
            <a:r>
              <a:rPr lang="en-US" sz="1600" b="1" dirty="0">
                <a:solidFill>
                  <a:srgbClr val="1E293B"/>
                </a:solidFill>
                <a:latin typeface="Calibri" pitchFamily="34" charset="0"/>
                <a:cs typeface="Calibri" pitchFamily="34" charset="-120"/>
              </a:rPr>
              <a:t>Explainability</a:t>
            </a:r>
            <a:r>
              <a:rPr lang="en-US" sz="1600" dirty="0">
                <a:solidFill>
                  <a:srgbClr val="1E293B"/>
                </a:solidFill>
                <a:latin typeface="Calibri" pitchFamily="34" charset="0"/>
                <a:cs typeface="Calibri" pitchFamily="34" charset="-120"/>
              </a:rPr>
              <a:t> </a:t>
            </a:r>
            <a:r>
              <a:rPr lang="en-US" sz="1600" b="1" dirty="0">
                <a:solidFill>
                  <a:srgbClr val="1E293B"/>
                </a:solidFill>
                <a:latin typeface="Calibri" pitchFamily="34" charset="0"/>
                <a:cs typeface="Calibri" pitchFamily="34" charset="-120"/>
              </a:rPr>
              <a:t>Modules</a:t>
            </a:r>
            <a:r>
              <a:rPr lang="en-US" sz="1600" dirty="0">
                <a:solidFill>
                  <a:srgbClr val="1E293B"/>
                </a:solidFill>
                <a:latin typeface="Calibri" pitchFamily="34" charset="0"/>
                <a:cs typeface="Calibri" pitchFamily="34" charset="-120"/>
              </a:rPr>
              <a:t>:</a:t>
            </a:r>
          </a:p>
          <a:p>
            <a:pPr lvl="1">
              <a:lnSpc>
                <a:spcPct val="150000"/>
              </a:lnSpc>
              <a:buFont typeface="Wingdings" pitchFamily="2" charset="2"/>
              <a:buChar char="Ø"/>
            </a:pPr>
            <a:r>
              <a:rPr lang="en-US" sz="1600" dirty="0">
                <a:solidFill>
                  <a:srgbClr val="1E293B"/>
                </a:solidFill>
                <a:latin typeface="Calibri" pitchFamily="34" charset="0"/>
                <a:cs typeface="Calibri" pitchFamily="34" charset="-120"/>
              </a:rPr>
              <a:t>Grad-CAM: Highlights important regions (spatial focus)</a:t>
            </a:r>
          </a:p>
          <a:p>
            <a:pPr lvl="1">
              <a:lnSpc>
                <a:spcPct val="150000"/>
              </a:lnSpc>
              <a:buFont typeface="Wingdings" pitchFamily="2" charset="2"/>
              <a:buChar char="Ø"/>
            </a:pPr>
            <a:r>
              <a:rPr lang="en-US" sz="1600" dirty="0">
                <a:solidFill>
                  <a:srgbClr val="1E293B"/>
                </a:solidFill>
                <a:latin typeface="Calibri" pitchFamily="34" charset="0"/>
                <a:cs typeface="Calibri" pitchFamily="34" charset="-120"/>
              </a:rPr>
              <a:t>SHAP: Computes pixel-level contributions</a:t>
            </a:r>
          </a:p>
        </p:txBody>
      </p:sp>
      <p:pic>
        <p:nvPicPr>
          <p:cNvPr id="41" name="Picture 40">
            <a:extLst>
              <a:ext uri="{FF2B5EF4-FFF2-40B4-BE49-F238E27FC236}">
                <a16:creationId xmlns:a16="http://schemas.microsoft.com/office/drawing/2014/main" id="{98DA71BE-0C66-BF84-BFEC-5BBFD1C52E0F}"/>
              </a:ext>
            </a:extLst>
          </p:cNvPr>
          <p:cNvPicPr>
            <a:picLocks noChangeAspect="1"/>
          </p:cNvPicPr>
          <p:nvPr/>
        </p:nvPicPr>
        <p:blipFill>
          <a:blip r:embed="rId3"/>
          <a:srcRect l="2477" r="4545"/>
          <a:stretch>
            <a:fillRect/>
          </a:stretch>
        </p:blipFill>
        <p:spPr>
          <a:xfrm>
            <a:off x="5529260" y="996700"/>
            <a:ext cx="6588949" cy="573328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0D2B55"/>
          </a:solidFill>
          <a:ln w="12700">
            <a:solidFill>
              <a:srgbClr val="0D2B55"/>
            </a:solidFill>
            <a:prstDash val="solid"/>
          </a:ln>
        </p:spPr>
        <p:txBody>
          <a:bodyPr/>
          <a:lstStyle/>
          <a:p>
            <a:endParaRPr lang="ar-SA"/>
          </a:p>
        </p:txBody>
      </p:sp>
      <p:sp>
        <p:nvSpPr>
          <p:cNvPr id="3" name="Text 1"/>
          <p:cNvSpPr/>
          <p:nvPr/>
        </p:nvSpPr>
        <p:spPr>
          <a:xfrm>
            <a:off x="457200" y="128016"/>
            <a:ext cx="11247120" cy="65836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Dataset: APTOS 2019</a:t>
            </a:r>
            <a:endParaRPr lang="en-US" sz="2600" dirty="0"/>
          </a:p>
        </p:txBody>
      </p:sp>
      <p:sp>
        <p:nvSpPr>
          <p:cNvPr id="4" name="Shape 2"/>
          <p:cNvSpPr/>
          <p:nvPr/>
        </p:nvSpPr>
        <p:spPr>
          <a:xfrm>
            <a:off x="271463" y="1005840"/>
            <a:ext cx="5123497" cy="5330952"/>
          </a:xfrm>
          <a:prstGeom prst="rect">
            <a:avLst/>
          </a:prstGeom>
          <a:solidFill>
            <a:srgbClr val="0D2B55"/>
          </a:solidFill>
          <a:ln w="12700">
            <a:solidFill>
              <a:srgbClr val="0D2B55"/>
            </a:solidFill>
            <a:prstDash val="solid"/>
          </a:ln>
        </p:spPr>
        <p:txBody>
          <a:bodyPr/>
          <a:lstStyle/>
          <a:p>
            <a:endParaRPr lang="ar-SA"/>
          </a:p>
        </p:txBody>
      </p:sp>
      <p:sp>
        <p:nvSpPr>
          <p:cNvPr id="5" name="Text 3"/>
          <p:cNvSpPr/>
          <p:nvPr/>
        </p:nvSpPr>
        <p:spPr>
          <a:xfrm>
            <a:off x="548640" y="1097280"/>
            <a:ext cx="4663440" cy="402336"/>
          </a:xfrm>
          <a:prstGeom prst="rect">
            <a:avLst/>
          </a:prstGeom>
          <a:noFill/>
          <a:ln/>
        </p:spPr>
        <p:txBody>
          <a:bodyPr wrap="square" rtlCol="0" anchor="ctr"/>
          <a:lstStyle/>
          <a:p>
            <a:pPr marL="0" indent="0">
              <a:buNone/>
            </a:pPr>
            <a:r>
              <a:rPr lang="en-US" sz="1500" b="1" dirty="0">
                <a:solidFill>
                  <a:srgbClr val="0FA3B1"/>
                </a:solidFill>
                <a:latin typeface="Calibri" pitchFamily="34" charset="0"/>
                <a:ea typeface="Calibri" pitchFamily="34" charset="-122"/>
                <a:cs typeface="Calibri" pitchFamily="34" charset="-120"/>
              </a:rPr>
              <a:t>Dataset Overview</a:t>
            </a:r>
            <a:endParaRPr lang="en-US" sz="1500" dirty="0"/>
          </a:p>
        </p:txBody>
      </p:sp>
      <p:sp>
        <p:nvSpPr>
          <p:cNvPr id="6" name="Shape 4"/>
          <p:cNvSpPr/>
          <p:nvPr/>
        </p:nvSpPr>
        <p:spPr>
          <a:xfrm>
            <a:off x="502920" y="1600200"/>
            <a:ext cx="4754880" cy="713232"/>
          </a:xfrm>
          <a:prstGeom prst="rect">
            <a:avLst/>
          </a:prstGeom>
          <a:solidFill>
            <a:srgbClr val="14304A"/>
          </a:solidFill>
          <a:ln w="12700">
            <a:solidFill>
              <a:srgbClr val="14304A"/>
            </a:solidFill>
            <a:prstDash val="solid"/>
          </a:ln>
        </p:spPr>
        <p:txBody>
          <a:bodyPr/>
          <a:lstStyle/>
          <a:p>
            <a:endParaRPr lang="ar-SA"/>
          </a:p>
        </p:txBody>
      </p:sp>
      <p:sp>
        <p:nvSpPr>
          <p:cNvPr id="7" name="Text 5"/>
          <p:cNvSpPr/>
          <p:nvPr/>
        </p:nvSpPr>
        <p:spPr>
          <a:xfrm>
            <a:off x="640080" y="1664208"/>
            <a:ext cx="1463040" cy="566928"/>
          </a:xfrm>
          <a:prstGeom prst="rect">
            <a:avLst/>
          </a:prstGeom>
          <a:noFill/>
          <a:ln/>
        </p:spPr>
        <p:txBody>
          <a:bodyPr wrap="square" rtlCol="0" anchor="ctr"/>
          <a:lstStyle/>
          <a:p>
            <a:pPr marL="0" indent="0" algn="ctr">
              <a:buNone/>
            </a:pPr>
            <a:r>
              <a:rPr lang="en-US" sz="2000" b="1" dirty="0">
                <a:solidFill>
                  <a:srgbClr val="F4A261"/>
                </a:solidFill>
                <a:latin typeface="Calibri" pitchFamily="34" charset="0"/>
                <a:ea typeface="Calibri" pitchFamily="34" charset="-122"/>
                <a:cs typeface="Calibri" pitchFamily="34" charset="-120"/>
              </a:rPr>
              <a:t>3,662</a:t>
            </a:r>
            <a:endParaRPr lang="en-US" sz="2000" dirty="0"/>
          </a:p>
        </p:txBody>
      </p:sp>
      <p:sp>
        <p:nvSpPr>
          <p:cNvPr id="8" name="Text 6"/>
          <p:cNvSpPr/>
          <p:nvPr/>
        </p:nvSpPr>
        <p:spPr>
          <a:xfrm>
            <a:off x="2194560" y="1746504"/>
            <a:ext cx="2926080" cy="411480"/>
          </a:xfrm>
          <a:prstGeom prst="rect">
            <a:avLst/>
          </a:prstGeom>
          <a:noFill/>
          <a:ln/>
        </p:spPr>
        <p:txBody>
          <a:bodyPr wrap="square" rtlCol="0" anchor="ctr"/>
          <a:lstStyle/>
          <a:p>
            <a:pPr marL="0" indent="0">
              <a:buNone/>
            </a:pPr>
            <a:r>
              <a:rPr lang="en-US" sz="1200" dirty="0">
                <a:solidFill>
                  <a:srgbClr val="C8D8E8"/>
                </a:solidFill>
                <a:latin typeface="Calibri" pitchFamily="34" charset="0"/>
                <a:ea typeface="Calibri" pitchFamily="34" charset="-122"/>
                <a:cs typeface="Calibri" pitchFamily="34" charset="-120"/>
              </a:rPr>
              <a:t>Total fundus images</a:t>
            </a:r>
            <a:endParaRPr lang="en-US" sz="1200" dirty="0"/>
          </a:p>
        </p:txBody>
      </p:sp>
      <p:sp>
        <p:nvSpPr>
          <p:cNvPr id="9" name="Shape 7"/>
          <p:cNvSpPr/>
          <p:nvPr/>
        </p:nvSpPr>
        <p:spPr>
          <a:xfrm>
            <a:off x="502920" y="2404872"/>
            <a:ext cx="4754880" cy="713232"/>
          </a:xfrm>
          <a:prstGeom prst="rect">
            <a:avLst/>
          </a:prstGeom>
          <a:solidFill>
            <a:srgbClr val="14304A"/>
          </a:solidFill>
          <a:ln w="12700">
            <a:solidFill>
              <a:srgbClr val="14304A"/>
            </a:solidFill>
            <a:prstDash val="solid"/>
          </a:ln>
        </p:spPr>
        <p:txBody>
          <a:bodyPr/>
          <a:lstStyle/>
          <a:p>
            <a:endParaRPr lang="ar-SA"/>
          </a:p>
        </p:txBody>
      </p:sp>
      <p:sp>
        <p:nvSpPr>
          <p:cNvPr id="10" name="Text 8"/>
          <p:cNvSpPr/>
          <p:nvPr/>
        </p:nvSpPr>
        <p:spPr>
          <a:xfrm>
            <a:off x="640080" y="2468880"/>
            <a:ext cx="1463040" cy="566928"/>
          </a:xfrm>
          <a:prstGeom prst="rect">
            <a:avLst/>
          </a:prstGeom>
          <a:noFill/>
          <a:ln/>
        </p:spPr>
        <p:txBody>
          <a:bodyPr wrap="square" rtlCol="0" anchor="ctr"/>
          <a:lstStyle/>
          <a:p>
            <a:pPr marL="0" indent="0" algn="ctr">
              <a:buNone/>
            </a:pPr>
            <a:r>
              <a:rPr lang="en-US" sz="2000" b="1" dirty="0">
                <a:solidFill>
                  <a:srgbClr val="F4A261"/>
                </a:solidFill>
                <a:latin typeface="Calibri" pitchFamily="34" charset="0"/>
                <a:ea typeface="Calibri" pitchFamily="34" charset="-122"/>
                <a:cs typeface="Calibri" pitchFamily="34" charset="-120"/>
              </a:rPr>
              <a:t>5</a:t>
            </a:r>
            <a:endParaRPr lang="en-US" sz="2000" dirty="0"/>
          </a:p>
        </p:txBody>
      </p:sp>
      <p:sp>
        <p:nvSpPr>
          <p:cNvPr id="11" name="Text 9"/>
          <p:cNvSpPr/>
          <p:nvPr/>
        </p:nvSpPr>
        <p:spPr>
          <a:xfrm>
            <a:off x="2194560" y="2551176"/>
            <a:ext cx="2926080" cy="411480"/>
          </a:xfrm>
          <a:prstGeom prst="rect">
            <a:avLst/>
          </a:prstGeom>
          <a:noFill/>
          <a:ln/>
        </p:spPr>
        <p:txBody>
          <a:bodyPr wrap="square" rtlCol="0" anchor="ctr"/>
          <a:lstStyle/>
          <a:p>
            <a:pPr marL="0" indent="0">
              <a:buNone/>
            </a:pPr>
            <a:r>
              <a:rPr lang="en-US" sz="1200" dirty="0">
                <a:solidFill>
                  <a:srgbClr val="C8D8E8"/>
                </a:solidFill>
                <a:latin typeface="Calibri" pitchFamily="34" charset="0"/>
                <a:ea typeface="Calibri" pitchFamily="34" charset="-122"/>
                <a:cs typeface="Calibri" pitchFamily="34" charset="-120"/>
              </a:rPr>
              <a:t>DR severity classes (ICDR 0–4)</a:t>
            </a:r>
            <a:endParaRPr lang="en-US" sz="1200" dirty="0"/>
          </a:p>
        </p:txBody>
      </p:sp>
      <p:sp>
        <p:nvSpPr>
          <p:cNvPr id="12" name="Shape 10"/>
          <p:cNvSpPr/>
          <p:nvPr/>
        </p:nvSpPr>
        <p:spPr>
          <a:xfrm>
            <a:off x="502920" y="3209544"/>
            <a:ext cx="4754880" cy="713232"/>
          </a:xfrm>
          <a:prstGeom prst="rect">
            <a:avLst/>
          </a:prstGeom>
          <a:solidFill>
            <a:srgbClr val="14304A"/>
          </a:solidFill>
          <a:ln w="12700">
            <a:solidFill>
              <a:srgbClr val="14304A"/>
            </a:solidFill>
            <a:prstDash val="solid"/>
          </a:ln>
        </p:spPr>
        <p:txBody>
          <a:bodyPr/>
          <a:lstStyle/>
          <a:p>
            <a:endParaRPr lang="ar-SA"/>
          </a:p>
        </p:txBody>
      </p:sp>
      <p:sp>
        <p:nvSpPr>
          <p:cNvPr id="13" name="Text 11"/>
          <p:cNvSpPr/>
          <p:nvPr/>
        </p:nvSpPr>
        <p:spPr>
          <a:xfrm>
            <a:off x="640080" y="3273552"/>
            <a:ext cx="1463040" cy="566928"/>
          </a:xfrm>
          <a:prstGeom prst="rect">
            <a:avLst/>
          </a:prstGeom>
          <a:noFill/>
          <a:ln/>
        </p:spPr>
        <p:txBody>
          <a:bodyPr wrap="square" rtlCol="0" anchor="ctr"/>
          <a:lstStyle/>
          <a:p>
            <a:pPr marL="0" indent="0" algn="ctr">
              <a:buNone/>
            </a:pPr>
            <a:r>
              <a:rPr lang="en-US" sz="2000" b="1" dirty="0">
                <a:solidFill>
                  <a:srgbClr val="F4A261"/>
                </a:solidFill>
                <a:latin typeface="Calibri" pitchFamily="34" charset="0"/>
                <a:ea typeface="Calibri" pitchFamily="34" charset="-122"/>
                <a:cs typeface="Calibri" pitchFamily="34" charset="-120"/>
              </a:rPr>
              <a:t>2,800</a:t>
            </a:r>
            <a:endParaRPr lang="en-US" sz="2000" dirty="0"/>
          </a:p>
        </p:txBody>
      </p:sp>
      <p:sp>
        <p:nvSpPr>
          <p:cNvPr id="14" name="Text 12"/>
          <p:cNvSpPr/>
          <p:nvPr/>
        </p:nvSpPr>
        <p:spPr>
          <a:xfrm>
            <a:off x="2194560" y="3355848"/>
            <a:ext cx="2926080" cy="411480"/>
          </a:xfrm>
          <a:prstGeom prst="rect">
            <a:avLst/>
          </a:prstGeom>
          <a:noFill/>
          <a:ln/>
        </p:spPr>
        <p:txBody>
          <a:bodyPr wrap="square" rtlCol="0" anchor="ctr"/>
          <a:lstStyle/>
          <a:p>
            <a:pPr marL="0" indent="0">
              <a:buNone/>
            </a:pPr>
            <a:r>
              <a:rPr lang="en-US" sz="1200" dirty="0">
                <a:solidFill>
                  <a:srgbClr val="C8D8E8"/>
                </a:solidFill>
                <a:latin typeface="Calibri" pitchFamily="34" charset="0"/>
                <a:ea typeface="Calibri" pitchFamily="34" charset="-122"/>
                <a:cs typeface="Calibri" pitchFamily="34" charset="-120"/>
              </a:rPr>
              <a:t>Training images (76.5%)</a:t>
            </a:r>
            <a:endParaRPr lang="en-US" sz="1200" dirty="0"/>
          </a:p>
        </p:txBody>
      </p:sp>
      <p:sp>
        <p:nvSpPr>
          <p:cNvPr id="15" name="Shape 13"/>
          <p:cNvSpPr/>
          <p:nvPr/>
        </p:nvSpPr>
        <p:spPr>
          <a:xfrm>
            <a:off x="502920" y="4014216"/>
            <a:ext cx="4754880" cy="713232"/>
          </a:xfrm>
          <a:prstGeom prst="rect">
            <a:avLst/>
          </a:prstGeom>
          <a:solidFill>
            <a:srgbClr val="14304A"/>
          </a:solidFill>
          <a:ln w="12700">
            <a:solidFill>
              <a:srgbClr val="14304A"/>
            </a:solidFill>
            <a:prstDash val="solid"/>
          </a:ln>
        </p:spPr>
        <p:txBody>
          <a:bodyPr/>
          <a:lstStyle/>
          <a:p>
            <a:endParaRPr lang="ar-SA"/>
          </a:p>
        </p:txBody>
      </p:sp>
      <p:sp>
        <p:nvSpPr>
          <p:cNvPr id="16" name="Text 14"/>
          <p:cNvSpPr/>
          <p:nvPr/>
        </p:nvSpPr>
        <p:spPr>
          <a:xfrm>
            <a:off x="640080" y="4078224"/>
            <a:ext cx="1463040" cy="566928"/>
          </a:xfrm>
          <a:prstGeom prst="rect">
            <a:avLst/>
          </a:prstGeom>
          <a:noFill/>
          <a:ln/>
        </p:spPr>
        <p:txBody>
          <a:bodyPr wrap="square" rtlCol="0" anchor="ctr"/>
          <a:lstStyle/>
          <a:p>
            <a:pPr marL="0" indent="0" algn="ctr">
              <a:buNone/>
            </a:pPr>
            <a:r>
              <a:rPr lang="en-US" sz="2000" b="1" dirty="0">
                <a:solidFill>
                  <a:srgbClr val="F4A261"/>
                </a:solidFill>
                <a:latin typeface="Calibri" pitchFamily="34" charset="0"/>
                <a:ea typeface="Calibri" pitchFamily="34" charset="-122"/>
                <a:cs typeface="Calibri" pitchFamily="34" charset="-120"/>
              </a:rPr>
              <a:t>312</a:t>
            </a:r>
            <a:endParaRPr lang="en-US" sz="2000" dirty="0"/>
          </a:p>
        </p:txBody>
      </p:sp>
      <p:sp>
        <p:nvSpPr>
          <p:cNvPr id="17" name="Text 15"/>
          <p:cNvSpPr/>
          <p:nvPr/>
        </p:nvSpPr>
        <p:spPr>
          <a:xfrm>
            <a:off x="2194560" y="4160520"/>
            <a:ext cx="2926080" cy="411480"/>
          </a:xfrm>
          <a:prstGeom prst="rect">
            <a:avLst/>
          </a:prstGeom>
          <a:noFill/>
          <a:ln/>
        </p:spPr>
        <p:txBody>
          <a:bodyPr wrap="square" rtlCol="0" anchor="ctr"/>
          <a:lstStyle/>
          <a:p>
            <a:pPr marL="0" indent="0">
              <a:buNone/>
            </a:pPr>
            <a:r>
              <a:rPr lang="en-US" sz="1200" dirty="0">
                <a:solidFill>
                  <a:srgbClr val="C8D8E8"/>
                </a:solidFill>
                <a:latin typeface="Calibri" pitchFamily="34" charset="0"/>
                <a:ea typeface="Calibri" pitchFamily="34" charset="-122"/>
                <a:cs typeface="Calibri" pitchFamily="34" charset="-120"/>
              </a:rPr>
              <a:t>Validation images (8.5%)</a:t>
            </a:r>
            <a:endParaRPr lang="en-US" sz="1200" dirty="0"/>
          </a:p>
        </p:txBody>
      </p:sp>
      <p:sp>
        <p:nvSpPr>
          <p:cNvPr id="18" name="Shape 16"/>
          <p:cNvSpPr/>
          <p:nvPr/>
        </p:nvSpPr>
        <p:spPr>
          <a:xfrm>
            <a:off x="502920" y="4818888"/>
            <a:ext cx="4754880" cy="713232"/>
          </a:xfrm>
          <a:prstGeom prst="rect">
            <a:avLst/>
          </a:prstGeom>
          <a:solidFill>
            <a:srgbClr val="14304A"/>
          </a:solidFill>
          <a:ln w="12700">
            <a:solidFill>
              <a:srgbClr val="14304A"/>
            </a:solidFill>
            <a:prstDash val="solid"/>
          </a:ln>
        </p:spPr>
        <p:txBody>
          <a:bodyPr/>
          <a:lstStyle/>
          <a:p>
            <a:endParaRPr lang="ar-SA"/>
          </a:p>
        </p:txBody>
      </p:sp>
      <p:sp>
        <p:nvSpPr>
          <p:cNvPr id="19" name="Text 17"/>
          <p:cNvSpPr/>
          <p:nvPr/>
        </p:nvSpPr>
        <p:spPr>
          <a:xfrm>
            <a:off x="640080" y="4882896"/>
            <a:ext cx="1463040" cy="566928"/>
          </a:xfrm>
          <a:prstGeom prst="rect">
            <a:avLst/>
          </a:prstGeom>
          <a:noFill/>
          <a:ln/>
        </p:spPr>
        <p:txBody>
          <a:bodyPr wrap="square" rtlCol="0" anchor="ctr"/>
          <a:lstStyle/>
          <a:p>
            <a:pPr marL="0" indent="0" algn="ctr">
              <a:buNone/>
            </a:pPr>
            <a:r>
              <a:rPr lang="en-US" sz="2000" b="1" dirty="0">
                <a:solidFill>
                  <a:srgbClr val="F4A261"/>
                </a:solidFill>
                <a:latin typeface="Calibri" pitchFamily="34" charset="0"/>
                <a:ea typeface="Calibri" pitchFamily="34" charset="-122"/>
                <a:cs typeface="Calibri" pitchFamily="34" charset="-120"/>
              </a:rPr>
              <a:t>550</a:t>
            </a:r>
            <a:endParaRPr lang="en-US" sz="2000" dirty="0"/>
          </a:p>
        </p:txBody>
      </p:sp>
      <p:sp>
        <p:nvSpPr>
          <p:cNvPr id="20" name="Text 18"/>
          <p:cNvSpPr/>
          <p:nvPr/>
        </p:nvSpPr>
        <p:spPr>
          <a:xfrm>
            <a:off x="2194560" y="4965192"/>
            <a:ext cx="2926080" cy="411480"/>
          </a:xfrm>
          <a:prstGeom prst="rect">
            <a:avLst/>
          </a:prstGeom>
          <a:noFill/>
          <a:ln/>
        </p:spPr>
        <p:txBody>
          <a:bodyPr wrap="square" rtlCol="0" anchor="ctr"/>
          <a:lstStyle/>
          <a:p>
            <a:pPr marL="0" indent="0">
              <a:buNone/>
            </a:pPr>
            <a:r>
              <a:rPr lang="en-US" sz="1200" dirty="0">
                <a:solidFill>
                  <a:srgbClr val="C8D8E8"/>
                </a:solidFill>
                <a:latin typeface="Calibri" pitchFamily="34" charset="0"/>
                <a:ea typeface="Calibri" pitchFamily="34" charset="-122"/>
                <a:cs typeface="Calibri" pitchFamily="34" charset="-120"/>
              </a:rPr>
              <a:t>Test images, held-out (15.0%)</a:t>
            </a:r>
            <a:endParaRPr lang="en-US" sz="1200" dirty="0"/>
          </a:p>
        </p:txBody>
      </p:sp>
      <p:sp>
        <p:nvSpPr>
          <p:cNvPr id="21" name="Shape 19"/>
          <p:cNvSpPr/>
          <p:nvPr/>
        </p:nvSpPr>
        <p:spPr>
          <a:xfrm>
            <a:off x="502920" y="5623560"/>
            <a:ext cx="4754880" cy="713232"/>
          </a:xfrm>
          <a:prstGeom prst="rect">
            <a:avLst/>
          </a:prstGeom>
          <a:solidFill>
            <a:srgbClr val="14304A"/>
          </a:solidFill>
          <a:ln w="12700">
            <a:solidFill>
              <a:srgbClr val="14304A"/>
            </a:solidFill>
            <a:prstDash val="solid"/>
          </a:ln>
        </p:spPr>
        <p:txBody>
          <a:bodyPr/>
          <a:lstStyle/>
          <a:p>
            <a:endParaRPr lang="ar-SA"/>
          </a:p>
        </p:txBody>
      </p:sp>
      <p:sp>
        <p:nvSpPr>
          <p:cNvPr id="22" name="Text 20"/>
          <p:cNvSpPr/>
          <p:nvPr/>
        </p:nvSpPr>
        <p:spPr>
          <a:xfrm>
            <a:off x="640080" y="5687568"/>
            <a:ext cx="1463040" cy="566928"/>
          </a:xfrm>
          <a:prstGeom prst="rect">
            <a:avLst/>
          </a:prstGeom>
          <a:noFill/>
          <a:ln/>
        </p:spPr>
        <p:txBody>
          <a:bodyPr wrap="square" rtlCol="0" anchor="ctr"/>
          <a:lstStyle/>
          <a:p>
            <a:pPr marL="0" indent="0" algn="ctr">
              <a:buNone/>
            </a:pPr>
            <a:r>
              <a:rPr lang="en-US" sz="2000" b="1" dirty="0">
                <a:solidFill>
                  <a:srgbClr val="F4A261"/>
                </a:solidFill>
                <a:latin typeface="Calibri" pitchFamily="34" charset="0"/>
                <a:ea typeface="Calibri" pitchFamily="34" charset="-122"/>
                <a:cs typeface="Calibri" pitchFamily="34" charset="-120"/>
              </a:rPr>
              <a:t>Seed</a:t>
            </a:r>
            <a:endParaRPr lang="en-US" sz="2000" dirty="0"/>
          </a:p>
        </p:txBody>
      </p:sp>
      <p:sp>
        <p:nvSpPr>
          <p:cNvPr id="23" name="Text 21"/>
          <p:cNvSpPr/>
          <p:nvPr/>
        </p:nvSpPr>
        <p:spPr>
          <a:xfrm>
            <a:off x="2194560" y="5769864"/>
            <a:ext cx="2926080" cy="411480"/>
          </a:xfrm>
          <a:prstGeom prst="rect">
            <a:avLst/>
          </a:prstGeom>
          <a:noFill/>
          <a:ln/>
        </p:spPr>
        <p:txBody>
          <a:bodyPr wrap="square" rtlCol="0" anchor="ctr"/>
          <a:lstStyle/>
          <a:p>
            <a:pPr marL="0" indent="0">
              <a:buNone/>
            </a:pPr>
            <a:r>
              <a:rPr lang="en-US" sz="1200" dirty="0">
                <a:solidFill>
                  <a:srgbClr val="C8D8E8"/>
                </a:solidFill>
                <a:latin typeface="Calibri" pitchFamily="34" charset="0"/>
                <a:ea typeface="Calibri" pitchFamily="34" charset="-122"/>
                <a:cs typeface="Calibri" pitchFamily="34" charset="-120"/>
              </a:rPr>
              <a:t>1988 — fixed for reproducibility</a:t>
            </a:r>
            <a:endParaRPr lang="en-US" sz="1200" dirty="0"/>
          </a:p>
        </p:txBody>
      </p:sp>
      <p:pic>
        <p:nvPicPr>
          <p:cNvPr id="27" name="Picture 26">
            <a:extLst>
              <a:ext uri="{FF2B5EF4-FFF2-40B4-BE49-F238E27FC236}">
                <a16:creationId xmlns:a16="http://schemas.microsoft.com/office/drawing/2014/main" id="{AFBCDD81-EBF2-2235-7115-422780C46873}"/>
              </a:ext>
            </a:extLst>
          </p:cNvPr>
          <p:cNvPicPr>
            <a:picLocks noChangeAspect="1"/>
          </p:cNvPicPr>
          <p:nvPr/>
        </p:nvPicPr>
        <p:blipFill>
          <a:blip r:embed="rId3"/>
          <a:stretch>
            <a:fillRect/>
          </a:stretch>
        </p:blipFill>
        <p:spPr>
          <a:xfrm>
            <a:off x="5486400" y="1042416"/>
            <a:ext cx="6675120" cy="5294376"/>
          </a:xfrm>
          <a:prstGeom prst="rect">
            <a:avLst/>
          </a:prstGeom>
        </p:spPr>
      </p:pic>
      <p:sp>
        <p:nvSpPr>
          <p:cNvPr id="28" name="TextBox 27">
            <a:extLst>
              <a:ext uri="{FF2B5EF4-FFF2-40B4-BE49-F238E27FC236}">
                <a16:creationId xmlns:a16="http://schemas.microsoft.com/office/drawing/2014/main" id="{57DA0FC0-EE4F-242F-4B19-68F18E5E46D1}"/>
              </a:ext>
            </a:extLst>
          </p:cNvPr>
          <p:cNvSpPr txBox="1"/>
          <p:nvPr/>
        </p:nvSpPr>
        <p:spPr>
          <a:xfrm>
            <a:off x="2103120" y="1171991"/>
            <a:ext cx="3291840" cy="276999"/>
          </a:xfrm>
          <a:prstGeom prst="rect">
            <a:avLst/>
          </a:prstGeom>
          <a:noFill/>
        </p:spPr>
        <p:txBody>
          <a:bodyPr wrap="square">
            <a:spAutoFit/>
          </a:bodyPr>
          <a:lstStyle/>
          <a:p>
            <a:r>
              <a:rPr lang="en-US" sz="1200" dirty="0">
                <a:solidFill>
                  <a:schemeClr val="bg1"/>
                </a:solidFill>
              </a:rPr>
              <a:t>⚠️ Highly imbalanced (No DR ≈ 49%, Severe ≈ 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0D2B55"/>
          </a:solidFill>
          <a:ln w="12700">
            <a:solidFill>
              <a:srgbClr val="0D2B55"/>
            </a:solidFill>
            <a:prstDash val="solid"/>
          </a:ln>
        </p:spPr>
        <p:txBody>
          <a:bodyPr/>
          <a:lstStyle/>
          <a:p>
            <a:endParaRPr lang="ar-SA"/>
          </a:p>
        </p:txBody>
      </p:sp>
      <p:sp>
        <p:nvSpPr>
          <p:cNvPr id="3" name="Text 1"/>
          <p:cNvSpPr/>
          <p:nvPr/>
        </p:nvSpPr>
        <p:spPr>
          <a:xfrm>
            <a:off x="457200" y="128016"/>
            <a:ext cx="11247120" cy="65836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Dataset: Class Imbalance &amp; Mitigation</a:t>
            </a:r>
            <a:endParaRPr lang="en-US" sz="2600" dirty="0"/>
          </a:p>
        </p:txBody>
      </p:sp>
      <p:sp>
        <p:nvSpPr>
          <p:cNvPr id="6" name="Text 3"/>
          <p:cNvSpPr/>
          <p:nvPr/>
        </p:nvSpPr>
        <p:spPr>
          <a:xfrm>
            <a:off x="6492240" y="1051560"/>
            <a:ext cx="5303520" cy="365760"/>
          </a:xfrm>
          <a:prstGeom prst="rect">
            <a:avLst/>
          </a:prstGeom>
          <a:noFill/>
          <a:ln/>
        </p:spPr>
        <p:txBody>
          <a:bodyPr wrap="square" rtlCol="0" anchor="ctr"/>
          <a:lstStyle/>
          <a:p>
            <a:pPr marL="0" indent="0">
              <a:buNone/>
            </a:pPr>
            <a:r>
              <a:rPr lang="en-US" sz="1400" b="1" dirty="0">
                <a:solidFill>
                  <a:srgbClr val="0D2B55"/>
                </a:solidFill>
                <a:latin typeface="Calibri" pitchFamily="34" charset="0"/>
                <a:ea typeface="Calibri" pitchFamily="34" charset="-122"/>
                <a:cs typeface="Calibri" pitchFamily="34" charset="-120"/>
              </a:rPr>
              <a:t>Class Distribution</a:t>
            </a:r>
            <a:endParaRPr lang="en-US" sz="1400" dirty="0"/>
          </a:p>
        </p:txBody>
      </p:sp>
      <p:sp>
        <p:nvSpPr>
          <p:cNvPr id="7" name="Text 4"/>
          <p:cNvSpPr/>
          <p:nvPr/>
        </p:nvSpPr>
        <p:spPr>
          <a:xfrm>
            <a:off x="6492240" y="1554480"/>
            <a:ext cx="141732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No DR</a:t>
            </a:r>
            <a:endParaRPr lang="en-US" sz="1100" dirty="0"/>
          </a:p>
        </p:txBody>
      </p:sp>
      <p:sp>
        <p:nvSpPr>
          <p:cNvPr id="8" name="Shape 5"/>
          <p:cNvSpPr/>
          <p:nvPr/>
        </p:nvSpPr>
        <p:spPr>
          <a:xfrm>
            <a:off x="8001000" y="1591056"/>
            <a:ext cx="3200400" cy="274320"/>
          </a:xfrm>
          <a:prstGeom prst="rect">
            <a:avLst/>
          </a:prstGeom>
          <a:solidFill>
            <a:srgbClr val="DDDDDD"/>
          </a:solidFill>
          <a:ln w="12700">
            <a:solidFill>
              <a:srgbClr val="DDDDDD"/>
            </a:solidFill>
            <a:prstDash val="solid"/>
          </a:ln>
        </p:spPr>
        <p:txBody>
          <a:bodyPr/>
          <a:lstStyle/>
          <a:p>
            <a:endParaRPr lang="ar-SA"/>
          </a:p>
        </p:txBody>
      </p:sp>
      <p:sp>
        <p:nvSpPr>
          <p:cNvPr id="9" name="Shape 6"/>
          <p:cNvSpPr/>
          <p:nvPr/>
        </p:nvSpPr>
        <p:spPr>
          <a:xfrm>
            <a:off x="8001000" y="1591056"/>
            <a:ext cx="2880360" cy="274320"/>
          </a:xfrm>
          <a:prstGeom prst="rect">
            <a:avLst/>
          </a:prstGeom>
          <a:solidFill>
            <a:srgbClr val="028090"/>
          </a:solidFill>
          <a:ln w="12700">
            <a:solidFill>
              <a:srgbClr val="028090"/>
            </a:solidFill>
            <a:prstDash val="solid"/>
          </a:ln>
        </p:spPr>
        <p:txBody>
          <a:bodyPr/>
          <a:lstStyle/>
          <a:p>
            <a:endParaRPr lang="ar-SA"/>
          </a:p>
        </p:txBody>
      </p:sp>
      <p:sp>
        <p:nvSpPr>
          <p:cNvPr id="10" name="Text 7"/>
          <p:cNvSpPr/>
          <p:nvPr/>
        </p:nvSpPr>
        <p:spPr>
          <a:xfrm>
            <a:off x="11292840" y="1554480"/>
            <a:ext cx="640080" cy="347472"/>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49.3%</a:t>
            </a:r>
            <a:endParaRPr lang="en-US" sz="1100" dirty="0"/>
          </a:p>
        </p:txBody>
      </p:sp>
      <p:sp>
        <p:nvSpPr>
          <p:cNvPr id="11" name="Text 8"/>
          <p:cNvSpPr/>
          <p:nvPr/>
        </p:nvSpPr>
        <p:spPr>
          <a:xfrm>
            <a:off x="6492240" y="2212848"/>
            <a:ext cx="141732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Moderate</a:t>
            </a:r>
            <a:endParaRPr lang="en-US" sz="1100" dirty="0"/>
          </a:p>
        </p:txBody>
      </p:sp>
      <p:sp>
        <p:nvSpPr>
          <p:cNvPr id="12" name="Shape 9"/>
          <p:cNvSpPr/>
          <p:nvPr/>
        </p:nvSpPr>
        <p:spPr>
          <a:xfrm>
            <a:off x="8001000" y="2249424"/>
            <a:ext cx="3200400" cy="274320"/>
          </a:xfrm>
          <a:prstGeom prst="rect">
            <a:avLst/>
          </a:prstGeom>
          <a:solidFill>
            <a:srgbClr val="DDDDDD"/>
          </a:solidFill>
          <a:ln w="12700">
            <a:solidFill>
              <a:srgbClr val="DDDDDD"/>
            </a:solidFill>
            <a:prstDash val="solid"/>
          </a:ln>
        </p:spPr>
        <p:txBody>
          <a:bodyPr/>
          <a:lstStyle/>
          <a:p>
            <a:endParaRPr lang="ar-SA"/>
          </a:p>
        </p:txBody>
      </p:sp>
      <p:sp>
        <p:nvSpPr>
          <p:cNvPr id="13" name="Shape 10"/>
          <p:cNvSpPr/>
          <p:nvPr/>
        </p:nvSpPr>
        <p:spPr>
          <a:xfrm>
            <a:off x="8001000" y="2249424"/>
            <a:ext cx="1600200" cy="274320"/>
          </a:xfrm>
          <a:prstGeom prst="rect">
            <a:avLst/>
          </a:prstGeom>
          <a:solidFill>
            <a:srgbClr val="0D2B55"/>
          </a:solidFill>
          <a:ln w="12700">
            <a:solidFill>
              <a:srgbClr val="0D2B55"/>
            </a:solidFill>
            <a:prstDash val="solid"/>
          </a:ln>
        </p:spPr>
        <p:txBody>
          <a:bodyPr/>
          <a:lstStyle/>
          <a:p>
            <a:endParaRPr lang="ar-SA"/>
          </a:p>
        </p:txBody>
      </p:sp>
      <p:sp>
        <p:nvSpPr>
          <p:cNvPr id="14" name="Text 11"/>
          <p:cNvSpPr/>
          <p:nvPr/>
        </p:nvSpPr>
        <p:spPr>
          <a:xfrm>
            <a:off x="11292840" y="2212848"/>
            <a:ext cx="640080" cy="347472"/>
          </a:xfrm>
          <a:prstGeom prst="rect">
            <a:avLst/>
          </a:prstGeom>
          <a:noFill/>
          <a:ln/>
        </p:spPr>
        <p:txBody>
          <a:bodyPr wrap="square" rtlCol="0" anchor="ctr"/>
          <a:lstStyle/>
          <a:p>
            <a:pPr marL="0" indent="0">
              <a:buNone/>
            </a:pPr>
            <a:r>
              <a:rPr lang="en-US" sz="1100" b="1" dirty="0">
                <a:solidFill>
                  <a:srgbClr val="0D2B55"/>
                </a:solidFill>
                <a:latin typeface="Calibri" pitchFamily="34" charset="0"/>
                <a:ea typeface="Calibri" pitchFamily="34" charset="-122"/>
                <a:cs typeface="Calibri" pitchFamily="34" charset="-120"/>
              </a:rPr>
              <a:t>27.3%</a:t>
            </a:r>
            <a:endParaRPr lang="en-US" sz="1100" dirty="0"/>
          </a:p>
        </p:txBody>
      </p:sp>
      <p:sp>
        <p:nvSpPr>
          <p:cNvPr id="15" name="Text 12"/>
          <p:cNvSpPr/>
          <p:nvPr/>
        </p:nvSpPr>
        <p:spPr>
          <a:xfrm>
            <a:off x="6492240" y="2871216"/>
            <a:ext cx="141732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Mild</a:t>
            </a:r>
            <a:endParaRPr lang="en-US" sz="1100" dirty="0"/>
          </a:p>
        </p:txBody>
      </p:sp>
      <p:sp>
        <p:nvSpPr>
          <p:cNvPr id="16" name="Shape 13"/>
          <p:cNvSpPr/>
          <p:nvPr/>
        </p:nvSpPr>
        <p:spPr>
          <a:xfrm>
            <a:off x="8001000" y="2907792"/>
            <a:ext cx="3200400" cy="274320"/>
          </a:xfrm>
          <a:prstGeom prst="rect">
            <a:avLst/>
          </a:prstGeom>
          <a:solidFill>
            <a:srgbClr val="DDDDDD"/>
          </a:solidFill>
          <a:ln w="12700">
            <a:solidFill>
              <a:srgbClr val="DDDDDD"/>
            </a:solidFill>
            <a:prstDash val="solid"/>
          </a:ln>
        </p:spPr>
        <p:txBody>
          <a:bodyPr/>
          <a:lstStyle/>
          <a:p>
            <a:endParaRPr lang="ar-SA"/>
          </a:p>
        </p:txBody>
      </p:sp>
      <p:sp>
        <p:nvSpPr>
          <p:cNvPr id="17" name="Shape 14"/>
          <p:cNvSpPr/>
          <p:nvPr/>
        </p:nvSpPr>
        <p:spPr>
          <a:xfrm>
            <a:off x="8001000" y="2907792"/>
            <a:ext cx="576072" cy="274320"/>
          </a:xfrm>
          <a:prstGeom prst="rect">
            <a:avLst/>
          </a:prstGeom>
          <a:solidFill>
            <a:srgbClr val="F4A261"/>
          </a:solidFill>
          <a:ln w="12700">
            <a:solidFill>
              <a:srgbClr val="F4A261"/>
            </a:solidFill>
            <a:prstDash val="solid"/>
          </a:ln>
        </p:spPr>
        <p:txBody>
          <a:bodyPr/>
          <a:lstStyle/>
          <a:p>
            <a:endParaRPr lang="ar-SA"/>
          </a:p>
        </p:txBody>
      </p:sp>
      <p:sp>
        <p:nvSpPr>
          <p:cNvPr id="18" name="Text 15"/>
          <p:cNvSpPr/>
          <p:nvPr/>
        </p:nvSpPr>
        <p:spPr>
          <a:xfrm>
            <a:off x="11292840" y="2871216"/>
            <a:ext cx="640080" cy="347472"/>
          </a:xfrm>
          <a:prstGeom prst="rect">
            <a:avLst/>
          </a:prstGeom>
          <a:noFill/>
          <a:ln/>
        </p:spPr>
        <p:txBody>
          <a:bodyPr wrap="square" rtlCol="0" anchor="ctr"/>
          <a:lstStyle/>
          <a:p>
            <a:pPr marL="0" indent="0">
              <a:buNone/>
            </a:pPr>
            <a:r>
              <a:rPr lang="en-US" sz="1100" b="1" dirty="0">
                <a:solidFill>
                  <a:srgbClr val="F4A261"/>
                </a:solidFill>
                <a:latin typeface="Calibri" pitchFamily="34" charset="0"/>
                <a:ea typeface="Calibri" pitchFamily="34" charset="-122"/>
                <a:cs typeface="Calibri" pitchFamily="34" charset="-120"/>
              </a:rPr>
              <a:t>10.1%</a:t>
            </a:r>
            <a:endParaRPr lang="en-US" sz="1100" dirty="0"/>
          </a:p>
        </p:txBody>
      </p:sp>
      <p:sp>
        <p:nvSpPr>
          <p:cNvPr id="19" name="Text 16"/>
          <p:cNvSpPr/>
          <p:nvPr/>
        </p:nvSpPr>
        <p:spPr>
          <a:xfrm>
            <a:off x="6492240" y="3529584"/>
            <a:ext cx="141732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Prolif. DR</a:t>
            </a:r>
            <a:endParaRPr lang="en-US" sz="1100" dirty="0"/>
          </a:p>
        </p:txBody>
      </p:sp>
      <p:sp>
        <p:nvSpPr>
          <p:cNvPr id="20" name="Shape 17"/>
          <p:cNvSpPr/>
          <p:nvPr/>
        </p:nvSpPr>
        <p:spPr>
          <a:xfrm>
            <a:off x="8001000" y="3566160"/>
            <a:ext cx="3200400" cy="274320"/>
          </a:xfrm>
          <a:prstGeom prst="rect">
            <a:avLst/>
          </a:prstGeom>
          <a:solidFill>
            <a:srgbClr val="DDDDDD"/>
          </a:solidFill>
          <a:ln w="12700">
            <a:solidFill>
              <a:srgbClr val="DDDDDD"/>
            </a:solidFill>
            <a:prstDash val="solid"/>
          </a:ln>
        </p:spPr>
        <p:txBody>
          <a:bodyPr/>
          <a:lstStyle/>
          <a:p>
            <a:endParaRPr lang="ar-SA"/>
          </a:p>
        </p:txBody>
      </p:sp>
      <p:sp>
        <p:nvSpPr>
          <p:cNvPr id="21" name="Shape 18"/>
          <p:cNvSpPr/>
          <p:nvPr/>
        </p:nvSpPr>
        <p:spPr>
          <a:xfrm>
            <a:off x="8001000" y="3566160"/>
            <a:ext cx="480060" cy="274320"/>
          </a:xfrm>
          <a:prstGeom prst="rect">
            <a:avLst/>
          </a:prstGeom>
          <a:solidFill>
            <a:srgbClr val="7D3C98"/>
          </a:solidFill>
          <a:ln w="12700">
            <a:solidFill>
              <a:srgbClr val="7D3C98"/>
            </a:solidFill>
            <a:prstDash val="solid"/>
          </a:ln>
        </p:spPr>
        <p:txBody>
          <a:bodyPr/>
          <a:lstStyle/>
          <a:p>
            <a:endParaRPr lang="ar-SA"/>
          </a:p>
        </p:txBody>
      </p:sp>
      <p:sp>
        <p:nvSpPr>
          <p:cNvPr id="22" name="Text 19"/>
          <p:cNvSpPr/>
          <p:nvPr/>
        </p:nvSpPr>
        <p:spPr>
          <a:xfrm>
            <a:off x="11292840" y="3529584"/>
            <a:ext cx="640080" cy="347472"/>
          </a:xfrm>
          <a:prstGeom prst="rect">
            <a:avLst/>
          </a:prstGeom>
          <a:noFill/>
          <a:ln/>
        </p:spPr>
        <p:txBody>
          <a:bodyPr wrap="square" rtlCol="0" anchor="ctr"/>
          <a:lstStyle/>
          <a:p>
            <a:pPr marL="0" indent="0">
              <a:buNone/>
            </a:pPr>
            <a:r>
              <a:rPr lang="en-US" sz="1100" b="1" dirty="0">
                <a:solidFill>
                  <a:srgbClr val="7D3C98"/>
                </a:solidFill>
                <a:latin typeface="Calibri" pitchFamily="34" charset="0"/>
                <a:ea typeface="Calibri" pitchFamily="34" charset="-122"/>
                <a:cs typeface="Calibri" pitchFamily="34" charset="-120"/>
              </a:rPr>
              <a:t>8.1%</a:t>
            </a:r>
            <a:endParaRPr lang="en-US" sz="1100" dirty="0"/>
          </a:p>
        </p:txBody>
      </p:sp>
      <p:sp>
        <p:nvSpPr>
          <p:cNvPr id="23" name="Text 20"/>
          <p:cNvSpPr/>
          <p:nvPr/>
        </p:nvSpPr>
        <p:spPr>
          <a:xfrm>
            <a:off x="6492240" y="4187952"/>
            <a:ext cx="141732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Severe</a:t>
            </a:r>
            <a:endParaRPr lang="en-US" sz="1100" dirty="0"/>
          </a:p>
        </p:txBody>
      </p:sp>
      <p:sp>
        <p:nvSpPr>
          <p:cNvPr id="24" name="Shape 21"/>
          <p:cNvSpPr/>
          <p:nvPr/>
        </p:nvSpPr>
        <p:spPr>
          <a:xfrm>
            <a:off x="8001000" y="4224528"/>
            <a:ext cx="3200400" cy="274320"/>
          </a:xfrm>
          <a:prstGeom prst="rect">
            <a:avLst/>
          </a:prstGeom>
          <a:solidFill>
            <a:srgbClr val="DDDDDD"/>
          </a:solidFill>
          <a:ln w="12700">
            <a:solidFill>
              <a:srgbClr val="DDDDDD"/>
            </a:solidFill>
            <a:prstDash val="solid"/>
          </a:ln>
        </p:spPr>
        <p:txBody>
          <a:bodyPr/>
          <a:lstStyle/>
          <a:p>
            <a:endParaRPr lang="ar-SA"/>
          </a:p>
        </p:txBody>
      </p:sp>
      <p:sp>
        <p:nvSpPr>
          <p:cNvPr id="25" name="Shape 22"/>
          <p:cNvSpPr/>
          <p:nvPr/>
        </p:nvSpPr>
        <p:spPr>
          <a:xfrm>
            <a:off x="8001000" y="4224528"/>
            <a:ext cx="320040" cy="274320"/>
          </a:xfrm>
          <a:prstGeom prst="rect">
            <a:avLst/>
          </a:prstGeom>
          <a:solidFill>
            <a:srgbClr val="E84855"/>
          </a:solidFill>
          <a:ln w="12700">
            <a:solidFill>
              <a:srgbClr val="E84855"/>
            </a:solidFill>
            <a:prstDash val="solid"/>
          </a:ln>
        </p:spPr>
        <p:txBody>
          <a:bodyPr/>
          <a:lstStyle/>
          <a:p>
            <a:endParaRPr lang="ar-SA"/>
          </a:p>
        </p:txBody>
      </p:sp>
      <p:sp>
        <p:nvSpPr>
          <p:cNvPr id="26" name="Text 23"/>
          <p:cNvSpPr/>
          <p:nvPr/>
        </p:nvSpPr>
        <p:spPr>
          <a:xfrm>
            <a:off x="11292840" y="4187952"/>
            <a:ext cx="640080" cy="347472"/>
          </a:xfrm>
          <a:prstGeom prst="rect">
            <a:avLst/>
          </a:prstGeom>
          <a:noFill/>
          <a:ln/>
        </p:spPr>
        <p:txBody>
          <a:bodyPr wrap="square" rtlCol="0" anchor="ctr"/>
          <a:lstStyle/>
          <a:p>
            <a:pPr marL="0" indent="0">
              <a:buNone/>
            </a:pPr>
            <a:r>
              <a:rPr lang="en-US" sz="1100" b="1" dirty="0">
                <a:solidFill>
                  <a:srgbClr val="E84855"/>
                </a:solidFill>
                <a:latin typeface="Calibri" pitchFamily="34" charset="0"/>
                <a:ea typeface="Calibri" pitchFamily="34" charset="-122"/>
                <a:cs typeface="Calibri" pitchFamily="34" charset="-120"/>
              </a:rPr>
              <a:t>5.3%</a:t>
            </a:r>
            <a:endParaRPr lang="en-US" sz="1100" dirty="0"/>
          </a:p>
        </p:txBody>
      </p:sp>
      <p:sp>
        <p:nvSpPr>
          <p:cNvPr id="27" name="Text 24"/>
          <p:cNvSpPr/>
          <p:nvPr/>
        </p:nvSpPr>
        <p:spPr>
          <a:xfrm>
            <a:off x="305751" y="4678304"/>
            <a:ext cx="7995609" cy="365760"/>
          </a:xfrm>
          <a:prstGeom prst="rect">
            <a:avLst/>
          </a:prstGeom>
          <a:noFill/>
          <a:ln/>
        </p:spPr>
        <p:txBody>
          <a:bodyPr wrap="square" rtlCol="0" anchor="ctr"/>
          <a:lstStyle/>
          <a:p>
            <a:pPr marL="0" indent="0">
              <a:buNone/>
            </a:pPr>
            <a:r>
              <a:rPr lang="en-US" sz="1400" b="1" dirty="0">
                <a:solidFill>
                  <a:srgbClr val="0D2B55"/>
                </a:solidFill>
                <a:latin typeface="Calibri" pitchFamily="34" charset="0"/>
                <a:ea typeface="Calibri" pitchFamily="34" charset="-122"/>
                <a:cs typeface="Calibri" pitchFamily="34" charset="-120"/>
              </a:rPr>
              <a:t>Mitigation Strategies</a:t>
            </a:r>
            <a:endParaRPr lang="en-US" sz="1400" dirty="0"/>
          </a:p>
        </p:txBody>
      </p:sp>
      <p:sp>
        <p:nvSpPr>
          <p:cNvPr id="28" name="Shape 25"/>
          <p:cNvSpPr/>
          <p:nvPr/>
        </p:nvSpPr>
        <p:spPr>
          <a:xfrm>
            <a:off x="305752" y="5108072"/>
            <a:ext cx="8271320" cy="475488"/>
          </a:xfrm>
          <a:prstGeom prst="rect">
            <a:avLst/>
          </a:prstGeom>
          <a:solidFill>
            <a:srgbClr val="EBF5FB"/>
          </a:solidFill>
          <a:ln w="12700">
            <a:solidFill>
              <a:srgbClr val="EBF5FB"/>
            </a:solidFill>
            <a:prstDash val="solid"/>
          </a:ln>
        </p:spPr>
        <p:txBody>
          <a:bodyPr/>
          <a:lstStyle/>
          <a:p>
            <a:endParaRPr lang="ar-SA"/>
          </a:p>
        </p:txBody>
      </p:sp>
      <p:sp>
        <p:nvSpPr>
          <p:cNvPr id="29" name="Shape 26"/>
          <p:cNvSpPr/>
          <p:nvPr/>
        </p:nvSpPr>
        <p:spPr>
          <a:xfrm>
            <a:off x="305751" y="5108072"/>
            <a:ext cx="275711" cy="475488"/>
          </a:xfrm>
          <a:prstGeom prst="rect">
            <a:avLst/>
          </a:prstGeom>
          <a:solidFill>
            <a:srgbClr val="028090"/>
          </a:solidFill>
          <a:ln w="12700">
            <a:solidFill>
              <a:srgbClr val="028090"/>
            </a:solidFill>
            <a:prstDash val="solid"/>
          </a:ln>
        </p:spPr>
        <p:txBody>
          <a:bodyPr/>
          <a:lstStyle/>
          <a:p>
            <a:endParaRPr lang="ar-SA"/>
          </a:p>
        </p:txBody>
      </p:sp>
      <p:sp>
        <p:nvSpPr>
          <p:cNvPr id="30" name="Text 27"/>
          <p:cNvSpPr/>
          <p:nvPr/>
        </p:nvSpPr>
        <p:spPr>
          <a:xfrm>
            <a:off x="561783" y="5144648"/>
            <a:ext cx="7719899"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Focal Loss (γ=2.0) — Down-weights easy majority examples; per-class inverse-frequency weights boost Severe and Prolif. DR</a:t>
            </a:r>
            <a:endParaRPr lang="en-US" sz="1050" dirty="0"/>
          </a:p>
        </p:txBody>
      </p:sp>
      <p:sp>
        <p:nvSpPr>
          <p:cNvPr id="31" name="Shape 28"/>
          <p:cNvSpPr/>
          <p:nvPr/>
        </p:nvSpPr>
        <p:spPr>
          <a:xfrm>
            <a:off x="305752" y="5638424"/>
            <a:ext cx="8271320" cy="475488"/>
          </a:xfrm>
          <a:prstGeom prst="rect">
            <a:avLst/>
          </a:prstGeom>
          <a:solidFill>
            <a:srgbClr val="EBF5FB"/>
          </a:solidFill>
          <a:ln w="12700">
            <a:solidFill>
              <a:srgbClr val="EBF5FB"/>
            </a:solidFill>
            <a:prstDash val="solid"/>
          </a:ln>
        </p:spPr>
        <p:txBody>
          <a:bodyPr/>
          <a:lstStyle/>
          <a:p>
            <a:endParaRPr lang="ar-SA"/>
          </a:p>
        </p:txBody>
      </p:sp>
      <p:sp>
        <p:nvSpPr>
          <p:cNvPr id="32" name="Shape 29"/>
          <p:cNvSpPr/>
          <p:nvPr/>
        </p:nvSpPr>
        <p:spPr>
          <a:xfrm>
            <a:off x="305751" y="5638424"/>
            <a:ext cx="275711" cy="475488"/>
          </a:xfrm>
          <a:prstGeom prst="rect">
            <a:avLst/>
          </a:prstGeom>
          <a:solidFill>
            <a:srgbClr val="0D2B55"/>
          </a:solidFill>
          <a:ln w="12700">
            <a:solidFill>
              <a:srgbClr val="0D2B55"/>
            </a:solidFill>
            <a:prstDash val="solid"/>
          </a:ln>
        </p:spPr>
        <p:txBody>
          <a:bodyPr/>
          <a:lstStyle/>
          <a:p>
            <a:endParaRPr lang="ar-SA"/>
          </a:p>
        </p:txBody>
      </p:sp>
      <p:sp>
        <p:nvSpPr>
          <p:cNvPr id="33" name="Text 30"/>
          <p:cNvSpPr/>
          <p:nvPr/>
        </p:nvSpPr>
        <p:spPr>
          <a:xfrm>
            <a:off x="561783" y="5675000"/>
            <a:ext cx="7719899"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Stratified Splits — Train/Val/Test share identical class ratios (seed 1988)</a:t>
            </a:r>
            <a:endParaRPr lang="en-US" sz="1050" dirty="0"/>
          </a:p>
        </p:txBody>
      </p:sp>
      <p:sp>
        <p:nvSpPr>
          <p:cNvPr id="34" name="Shape 31"/>
          <p:cNvSpPr/>
          <p:nvPr/>
        </p:nvSpPr>
        <p:spPr>
          <a:xfrm>
            <a:off x="305752" y="6168776"/>
            <a:ext cx="8271320" cy="475488"/>
          </a:xfrm>
          <a:prstGeom prst="rect">
            <a:avLst/>
          </a:prstGeom>
          <a:solidFill>
            <a:srgbClr val="EBF5FB"/>
          </a:solidFill>
          <a:ln w="12700">
            <a:solidFill>
              <a:srgbClr val="EBF5FB"/>
            </a:solidFill>
            <a:prstDash val="solid"/>
          </a:ln>
        </p:spPr>
        <p:txBody>
          <a:bodyPr/>
          <a:lstStyle/>
          <a:p>
            <a:endParaRPr lang="ar-SA"/>
          </a:p>
        </p:txBody>
      </p:sp>
      <p:sp>
        <p:nvSpPr>
          <p:cNvPr id="35" name="Shape 32"/>
          <p:cNvSpPr/>
          <p:nvPr/>
        </p:nvSpPr>
        <p:spPr>
          <a:xfrm>
            <a:off x="305751" y="6168776"/>
            <a:ext cx="275711" cy="475488"/>
          </a:xfrm>
          <a:prstGeom prst="rect">
            <a:avLst/>
          </a:prstGeom>
          <a:solidFill>
            <a:srgbClr val="16A34A"/>
          </a:solidFill>
          <a:ln w="12700">
            <a:solidFill>
              <a:srgbClr val="16A34A"/>
            </a:solidFill>
            <a:prstDash val="solid"/>
          </a:ln>
        </p:spPr>
        <p:txBody>
          <a:bodyPr/>
          <a:lstStyle/>
          <a:p>
            <a:endParaRPr lang="ar-SA"/>
          </a:p>
        </p:txBody>
      </p:sp>
      <p:sp>
        <p:nvSpPr>
          <p:cNvPr id="36" name="Text 33"/>
          <p:cNvSpPr/>
          <p:nvPr/>
        </p:nvSpPr>
        <p:spPr>
          <a:xfrm>
            <a:off x="561783" y="6205352"/>
            <a:ext cx="7719899" cy="384048"/>
          </a:xfrm>
          <a:prstGeom prst="rect">
            <a:avLst/>
          </a:prstGeom>
          <a:noFill/>
          <a:ln/>
        </p:spPr>
        <p:txBody>
          <a:bodyPr wrap="square" rtlCol="0" anchor="ctr"/>
          <a:lstStyle/>
          <a:p>
            <a:r>
              <a:rPr lang="en-US" sz="1050" dirty="0">
                <a:solidFill>
                  <a:srgbClr val="1E293B"/>
                </a:solidFill>
                <a:latin typeface="Calibri" pitchFamily="34" charset="0"/>
                <a:ea typeface="Calibri" pitchFamily="34" charset="-122"/>
                <a:cs typeface="Calibri" pitchFamily="34" charset="-120"/>
              </a:rPr>
              <a:t>Balanced XAI Audit — N = 120 audit set — target 24 per true class; actual per-true-class: 26 / 31 / 25 / 21 / 17 (rare classes back-filled due to high-confidence filter).</a:t>
            </a:r>
            <a:endParaRPr lang="en-US" sz="1050" dirty="0"/>
          </a:p>
        </p:txBody>
      </p:sp>
      <p:pic>
        <p:nvPicPr>
          <p:cNvPr id="37" name="Picture 36">
            <a:extLst>
              <a:ext uri="{FF2B5EF4-FFF2-40B4-BE49-F238E27FC236}">
                <a16:creationId xmlns:a16="http://schemas.microsoft.com/office/drawing/2014/main" id="{E2B1C853-4C3C-F5B0-CE4D-075B8100285A}"/>
              </a:ext>
            </a:extLst>
          </p:cNvPr>
          <p:cNvPicPr>
            <a:picLocks noChangeAspect="1"/>
          </p:cNvPicPr>
          <p:nvPr/>
        </p:nvPicPr>
        <p:blipFill>
          <a:blip r:embed="rId3"/>
          <a:stretch>
            <a:fillRect/>
          </a:stretch>
        </p:blipFill>
        <p:spPr>
          <a:xfrm>
            <a:off x="58103" y="1060704"/>
            <a:ext cx="6251257" cy="34747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0D2B55"/>
          </a:solidFill>
          <a:ln w="12700">
            <a:solidFill>
              <a:srgbClr val="0D2B55"/>
            </a:solidFill>
            <a:prstDash val="solid"/>
          </a:ln>
        </p:spPr>
        <p:txBody>
          <a:bodyPr/>
          <a:lstStyle/>
          <a:p>
            <a:endParaRPr lang="ar-SA"/>
          </a:p>
        </p:txBody>
      </p:sp>
      <p:sp>
        <p:nvSpPr>
          <p:cNvPr id="3" name="Text 1"/>
          <p:cNvSpPr/>
          <p:nvPr/>
        </p:nvSpPr>
        <p:spPr>
          <a:xfrm>
            <a:off x="457200" y="128016"/>
            <a:ext cx="11247120" cy="65836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Preprocessing Pipeline</a:t>
            </a:r>
            <a:endParaRPr lang="en-US" sz="2600" dirty="0"/>
          </a:p>
        </p:txBody>
      </p:sp>
      <p:sp>
        <p:nvSpPr>
          <p:cNvPr id="4" name="Shape 2"/>
          <p:cNvSpPr/>
          <p:nvPr/>
        </p:nvSpPr>
        <p:spPr>
          <a:xfrm>
            <a:off x="274320" y="1051560"/>
            <a:ext cx="1755648" cy="1737360"/>
          </a:xfrm>
          <a:prstGeom prst="rect">
            <a:avLst/>
          </a:prstGeom>
          <a:solidFill>
            <a:srgbClr val="34495E"/>
          </a:solidFill>
          <a:ln w="12700">
            <a:solidFill>
              <a:srgbClr val="34495E"/>
            </a:solidFill>
            <a:prstDash val="solid"/>
          </a:ln>
        </p:spPr>
        <p:txBody>
          <a:bodyPr/>
          <a:lstStyle/>
          <a:p>
            <a:endParaRPr lang="ar-SA"/>
          </a:p>
        </p:txBody>
      </p:sp>
      <p:sp>
        <p:nvSpPr>
          <p:cNvPr id="5" name="Text 3"/>
          <p:cNvSpPr/>
          <p:nvPr/>
        </p:nvSpPr>
        <p:spPr>
          <a:xfrm>
            <a:off x="329184" y="1115568"/>
            <a:ext cx="164592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Raw</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Fundus</a:t>
            </a:r>
            <a:endParaRPr lang="en-US" sz="1300" dirty="0"/>
          </a:p>
        </p:txBody>
      </p:sp>
      <p:sp>
        <p:nvSpPr>
          <p:cNvPr id="6" name="Text 4"/>
          <p:cNvSpPr/>
          <p:nvPr/>
        </p:nvSpPr>
        <p:spPr>
          <a:xfrm>
            <a:off x="329184" y="1664208"/>
            <a:ext cx="1645920" cy="1078992"/>
          </a:xfrm>
          <a:prstGeom prst="rect">
            <a:avLst/>
          </a:prstGeom>
          <a:noFill/>
          <a:ln/>
        </p:spPr>
        <p:txBody>
          <a:bodyPr wrap="square" rtlCol="0" anchor="ctr"/>
          <a:lstStyle/>
          <a:p>
            <a:pPr marL="0" indent="0" algn="ctr">
              <a:buNone/>
            </a:pPr>
            <a:r>
              <a:rPr lang="en-US" sz="1000" dirty="0">
                <a:solidFill>
                  <a:srgbClr val="D0E8F8"/>
                </a:solidFill>
                <a:latin typeface="Calibri" pitchFamily="34" charset="0"/>
                <a:ea typeface="Calibri" pitchFamily="34" charset="-122"/>
                <a:cs typeface="Calibri" pitchFamily="34" charset="-120"/>
              </a:rPr>
              <a:t>Any size</a:t>
            </a:r>
            <a:endParaRPr lang="en-US" sz="1000" dirty="0"/>
          </a:p>
          <a:p>
            <a:pPr marL="0" indent="0" algn="ctr">
              <a:buNone/>
            </a:pPr>
            <a:r>
              <a:rPr lang="en-US" sz="1000" dirty="0">
                <a:solidFill>
                  <a:srgbClr val="D0E8F8"/>
                </a:solidFill>
                <a:latin typeface="Calibri" pitchFamily="34" charset="0"/>
                <a:ea typeface="Calibri" pitchFamily="34" charset="-122"/>
                <a:cs typeface="Calibri" pitchFamily="34" charset="-120"/>
              </a:rPr>
              <a:t>Any lighting</a:t>
            </a:r>
            <a:endParaRPr lang="en-US" sz="1000" dirty="0"/>
          </a:p>
        </p:txBody>
      </p:sp>
      <p:sp>
        <p:nvSpPr>
          <p:cNvPr id="7" name="Shape 5"/>
          <p:cNvSpPr/>
          <p:nvPr/>
        </p:nvSpPr>
        <p:spPr>
          <a:xfrm>
            <a:off x="2029968" y="1947672"/>
            <a:ext cx="182880" cy="0"/>
          </a:xfrm>
          <a:prstGeom prst="line">
            <a:avLst/>
          </a:prstGeom>
          <a:noFill/>
          <a:ln w="25400">
            <a:solidFill>
              <a:srgbClr val="64748B"/>
            </a:solidFill>
            <a:prstDash val="solid"/>
          </a:ln>
        </p:spPr>
        <p:txBody>
          <a:bodyPr/>
          <a:lstStyle/>
          <a:p>
            <a:endParaRPr lang="ar-SA"/>
          </a:p>
        </p:txBody>
      </p:sp>
      <p:sp>
        <p:nvSpPr>
          <p:cNvPr id="8" name="Shape 6"/>
          <p:cNvSpPr/>
          <p:nvPr/>
        </p:nvSpPr>
        <p:spPr>
          <a:xfrm>
            <a:off x="2212848" y="1051560"/>
            <a:ext cx="1755648" cy="1737360"/>
          </a:xfrm>
          <a:prstGeom prst="rect">
            <a:avLst/>
          </a:prstGeom>
          <a:solidFill>
            <a:srgbClr val="1B6CA8"/>
          </a:solidFill>
          <a:ln w="12700">
            <a:solidFill>
              <a:srgbClr val="1B6CA8"/>
            </a:solidFill>
            <a:prstDash val="solid"/>
          </a:ln>
        </p:spPr>
        <p:txBody>
          <a:bodyPr/>
          <a:lstStyle/>
          <a:p>
            <a:endParaRPr lang="ar-SA"/>
          </a:p>
        </p:txBody>
      </p:sp>
      <p:sp>
        <p:nvSpPr>
          <p:cNvPr id="9" name="Text 7"/>
          <p:cNvSpPr/>
          <p:nvPr/>
        </p:nvSpPr>
        <p:spPr>
          <a:xfrm>
            <a:off x="2267712" y="1115568"/>
            <a:ext cx="164592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Resize</a:t>
            </a:r>
            <a:endParaRPr lang="en-US" sz="1300" dirty="0"/>
          </a:p>
        </p:txBody>
      </p:sp>
      <p:sp>
        <p:nvSpPr>
          <p:cNvPr id="10" name="Text 8"/>
          <p:cNvSpPr/>
          <p:nvPr/>
        </p:nvSpPr>
        <p:spPr>
          <a:xfrm>
            <a:off x="2267712" y="1664208"/>
            <a:ext cx="1645920" cy="1078992"/>
          </a:xfrm>
          <a:prstGeom prst="rect">
            <a:avLst/>
          </a:prstGeom>
          <a:noFill/>
          <a:ln/>
        </p:spPr>
        <p:txBody>
          <a:bodyPr wrap="square" rtlCol="0" anchor="ctr"/>
          <a:lstStyle/>
          <a:p>
            <a:pPr marL="0" indent="0" algn="ctr">
              <a:buNone/>
            </a:pPr>
            <a:r>
              <a:rPr lang="en-US" sz="1000" dirty="0">
                <a:solidFill>
                  <a:srgbClr val="D0E8F8"/>
                </a:solidFill>
                <a:latin typeface="Calibri" pitchFamily="34" charset="0"/>
                <a:ea typeface="Calibri" pitchFamily="34" charset="-122"/>
                <a:cs typeface="Calibri" pitchFamily="34" charset="-120"/>
              </a:rPr>
              <a:t>380 × 380 px</a:t>
            </a:r>
            <a:endParaRPr lang="en-US" sz="1000" dirty="0"/>
          </a:p>
          <a:p>
            <a:pPr marL="0" indent="0" algn="ctr">
              <a:buNone/>
            </a:pPr>
            <a:r>
              <a:rPr lang="en-US" sz="1000" dirty="0">
                <a:solidFill>
                  <a:srgbClr val="D0E8F8"/>
                </a:solidFill>
                <a:latin typeface="Calibri" pitchFamily="34" charset="0"/>
                <a:ea typeface="Calibri" pitchFamily="34" charset="-122"/>
                <a:cs typeface="Calibri" pitchFamily="34" charset="-120"/>
              </a:rPr>
              <a:t>Standard input</a:t>
            </a:r>
            <a:endParaRPr lang="en-US" sz="1000" dirty="0"/>
          </a:p>
        </p:txBody>
      </p:sp>
      <p:sp>
        <p:nvSpPr>
          <p:cNvPr id="11" name="Shape 9"/>
          <p:cNvSpPr/>
          <p:nvPr/>
        </p:nvSpPr>
        <p:spPr>
          <a:xfrm>
            <a:off x="3968496" y="1947672"/>
            <a:ext cx="182880" cy="0"/>
          </a:xfrm>
          <a:prstGeom prst="line">
            <a:avLst/>
          </a:prstGeom>
          <a:noFill/>
          <a:ln w="25400">
            <a:solidFill>
              <a:srgbClr val="64748B"/>
            </a:solidFill>
            <a:prstDash val="solid"/>
          </a:ln>
        </p:spPr>
        <p:txBody>
          <a:bodyPr/>
          <a:lstStyle/>
          <a:p>
            <a:endParaRPr lang="ar-SA"/>
          </a:p>
        </p:txBody>
      </p:sp>
      <p:sp>
        <p:nvSpPr>
          <p:cNvPr id="12" name="Shape 10"/>
          <p:cNvSpPr/>
          <p:nvPr/>
        </p:nvSpPr>
        <p:spPr>
          <a:xfrm>
            <a:off x="4151376" y="1051560"/>
            <a:ext cx="1755648" cy="1737360"/>
          </a:xfrm>
          <a:prstGeom prst="rect">
            <a:avLst/>
          </a:prstGeom>
          <a:solidFill>
            <a:srgbClr val="1F618D"/>
          </a:solidFill>
          <a:ln w="12700">
            <a:solidFill>
              <a:srgbClr val="1F618D"/>
            </a:solidFill>
            <a:prstDash val="solid"/>
          </a:ln>
        </p:spPr>
        <p:txBody>
          <a:bodyPr/>
          <a:lstStyle/>
          <a:p>
            <a:endParaRPr lang="ar-SA"/>
          </a:p>
        </p:txBody>
      </p:sp>
      <p:sp>
        <p:nvSpPr>
          <p:cNvPr id="13" name="Text 11"/>
          <p:cNvSpPr/>
          <p:nvPr/>
        </p:nvSpPr>
        <p:spPr>
          <a:xfrm>
            <a:off x="4206240" y="1115568"/>
            <a:ext cx="164592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CLAHE</a:t>
            </a:r>
            <a:endParaRPr lang="en-US" sz="1300" dirty="0"/>
          </a:p>
        </p:txBody>
      </p:sp>
      <p:sp>
        <p:nvSpPr>
          <p:cNvPr id="14" name="Text 12"/>
          <p:cNvSpPr/>
          <p:nvPr/>
        </p:nvSpPr>
        <p:spPr>
          <a:xfrm>
            <a:off x="4206240" y="1664208"/>
            <a:ext cx="1645920" cy="1078992"/>
          </a:xfrm>
          <a:prstGeom prst="rect">
            <a:avLst/>
          </a:prstGeom>
          <a:noFill/>
          <a:ln/>
        </p:spPr>
        <p:txBody>
          <a:bodyPr wrap="square" rtlCol="0" anchor="ctr"/>
          <a:lstStyle/>
          <a:p>
            <a:pPr marL="0" indent="0" algn="ctr">
              <a:buNone/>
            </a:pPr>
            <a:r>
              <a:rPr lang="en-US" sz="1000" dirty="0">
                <a:solidFill>
                  <a:srgbClr val="D0E8F8"/>
                </a:solidFill>
                <a:latin typeface="Calibri" pitchFamily="34" charset="0"/>
                <a:ea typeface="Calibri" pitchFamily="34" charset="-122"/>
                <a:cs typeface="Calibri" pitchFamily="34" charset="-120"/>
              </a:rPr>
              <a:t>LAB L-channel</a:t>
            </a:r>
            <a:endParaRPr lang="en-US" sz="1000" dirty="0"/>
          </a:p>
          <a:p>
            <a:pPr marL="0" indent="0" algn="ctr">
              <a:buNone/>
            </a:pPr>
            <a:r>
              <a:rPr lang="en-US" sz="1000" dirty="0">
                <a:solidFill>
                  <a:srgbClr val="D0E8F8"/>
                </a:solidFill>
                <a:latin typeface="Calibri" pitchFamily="34" charset="0"/>
                <a:ea typeface="Calibri" pitchFamily="34" charset="-122"/>
                <a:cs typeface="Calibri" pitchFamily="34" charset="-120"/>
              </a:rPr>
              <a:t>Clip 2.0 / Tile 8×8</a:t>
            </a:r>
            <a:endParaRPr lang="en-US" sz="1000" dirty="0"/>
          </a:p>
          <a:p>
            <a:pPr marL="0" indent="0" algn="ctr">
              <a:buNone/>
            </a:pPr>
            <a:r>
              <a:rPr lang="en-US" sz="1000" dirty="0">
                <a:solidFill>
                  <a:srgbClr val="D0E8F8"/>
                </a:solidFill>
                <a:latin typeface="Calibri" pitchFamily="34" charset="0"/>
                <a:ea typeface="Calibri" pitchFamily="34" charset="-122"/>
                <a:cs typeface="Calibri" pitchFamily="34" charset="-120"/>
              </a:rPr>
              <a:t>Local contrast boost</a:t>
            </a:r>
            <a:endParaRPr lang="en-US" sz="1000" dirty="0"/>
          </a:p>
        </p:txBody>
      </p:sp>
      <p:sp>
        <p:nvSpPr>
          <p:cNvPr id="15" name="Shape 13"/>
          <p:cNvSpPr/>
          <p:nvPr/>
        </p:nvSpPr>
        <p:spPr>
          <a:xfrm>
            <a:off x="5907024" y="1947672"/>
            <a:ext cx="182880" cy="0"/>
          </a:xfrm>
          <a:prstGeom prst="line">
            <a:avLst/>
          </a:prstGeom>
          <a:noFill/>
          <a:ln w="25400">
            <a:solidFill>
              <a:srgbClr val="64748B"/>
            </a:solidFill>
            <a:prstDash val="solid"/>
          </a:ln>
        </p:spPr>
        <p:txBody>
          <a:bodyPr/>
          <a:lstStyle/>
          <a:p>
            <a:endParaRPr lang="ar-SA"/>
          </a:p>
        </p:txBody>
      </p:sp>
      <p:sp>
        <p:nvSpPr>
          <p:cNvPr id="16" name="Shape 14"/>
          <p:cNvSpPr/>
          <p:nvPr/>
        </p:nvSpPr>
        <p:spPr>
          <a:xfrm>
            <a:off x="6089904" y="1051560"/>
            <a:ext cx="1755648" cy="1737360"/>
          </a:xfrm>
          <a:prstGeom prst="rect">
            <a:avLst/>
          </a:prstGeom>
          <a:solidFill>
            <a:srgbClr val="028090"/>
          </a:solidFill>
          <a:ln w="12700">
            <a:solidFill>
              <a:srgbClr val="028090"/>
            </a:solidFill>
            <a:prstDash val="solid"/>
          </a:ln>
        </p:spPr>
        <p:txBody>
          <a:bodyPr/>
          <a:lstStyle/>
          <a:p>
            <a:endParaRPr lang="ar-SA"/>
          </a:p>
        </p:txBody>
      </p:sp>
      <p:sp>
        <p:nvSpPr>
          <p:cNvPr id="17" name="Text 15"/>
          <p:cNvSpPr/>
          <p:nvPr/>
        </p:nvSpPr>
        <p:spPr>
          <a:xfrm>
            <a:off x="6144768" y="1115568"/>
            <a:ext cx="164592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Ben-Graham</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Subtraction</a:t>
            </a:r>
            <a:endParaRPr lang="en-US" sz="1300" dirty="0"/>
          </a:p>
        </p:txBody>
      </p:sp>
      <p:sp>
        <p:nvSpPr>
          <p:cNvPr id="18" name="Text 16"/>
          <p:cNvSpPr/>
          <p:nvPr/>
        </p:nvSpPr>
        <p:spPr>
          <a:xfrm>
            <a:off x="6144768" y="1664208"/>
            <a:ext cx="1645920" cy="1078992"/>
          </a:xfrm>
          <a:prstGeom prst="rect">
            <a:avLst/>
          </a:prstGeom>
          <a:noFill/>
          <a:ln/>
        </p:spPr>
        <p:txBody>
          <a:bodyPr wrap="square" rtlCol="0" anchor="ctr"/>
          <a:lstStyle/>
          <a:p>
            <a:pPr marL="0" indent="0" algn="ctr">
              <a:buNone/>
            </a:pPr>
            <a:r>
              <a:rPr lang="en-US" sz="1000" dirty="0">
                <a:solidFill>
                  <a:srgbClr val="D0E8F8"/>
                </a:solidFill>
                <a:latin typeface="Calibri" pitchFamily="34" charset="0"/>
                <a:ea typeface="Calibri" pitchFamily="34" charset="-122"/>
                <a:cs typeface="Calibri" pitchFamily="34" charset="-120"/>
              </a:rPr>
              <a:t>σ=10, weight=4</a:t>
            </a:r>
            <a:endParaRPr lang="en-US" sz="1000" dirty="0"/>
          </a:p>
          <a:p>
            <a:pPr marL="0" indent="0" algn="ctr">
              <a:buNone/>
            </a:pPr>
            <a:r>
              <a:rPr lang="en-US" sz="1000" dirty="0">
                <a:solidFill>
                  <a:srgbClr val="D0E8F8"/>
                </a:solidFill>
                <a:latin typeface="Calibri" pitchFamily="34" charset="0"/>
                <a:ea typeface="Calibri" pitchFamily="34" charset="-122"/>
                <a:cs typeface="Calibri" pitchFamily="34" charset="-120"/>
              </a:rPr>
              <a:t>Emphasises vessels</a:t>
            </a:r>
            <a:endParaRPr lang="en-US" sz="1000" dirty="0"/>
          </a:p>
          <a:p>
            <a:pPr marL="0" indent="0" algn="ctr">
              <a:buNone/>
            </a:pPr>
            <a:r>
              <a:rPr lang="en-US" sz="1000" dirty="0">
                <a:solidFill>
                  <a:srgbClr val="D0E8F8"/>
                </a:solidFill>
                <a:latin typeface="Calibri" pitchFamily="34" charset="0"/>
                <a:ea typeface="Calibri" pitchFamily="34" charset="-122"/>
                <a:cs typeface="Calibri" pitchFamily="34" charset="-120"/>
              </a:rPr>
              <a:t>&amp; lesions</a:t>
            </a:r>
            <a:endParaRPr lang="en-US" sz="1000" dirty="0"/>
          </a:p>
        </p:txBody>
      </p:sp>
      <p:sp>
        <p:nvSpPr>
          <p:cNvPr id="19" name="Shape 17"/>
          <p:cNvSpPr/>
          <p:nvPr/>
        </p:nvSpPr>
        <p:spPr>
          <a:xfrm>
            <a:off x="7845552" y="1947672"/>
            <a:ext cx="182880" cy="0"/>
          </a:xfrm>
          <a:prstGeom prst="line">
            <a:avLst/>
          </a:prstGeom>
          <a:noFill/>
          <a:ln w="25400">
            <a:solidFill>
              <a:srgbClr val="64748B"/>
            </a:solidFill>
            <a:prstDash val="solid"/>
          </a:ln>
        </p:spPr>
        <p:txBody>
          <a:bodyPr/>
          <a:lstStyle/>
          <a:p>
            <a:endParaRPr lang="ar-SA"/>
          </a:p>
        </p:txBody>
      </p:sp>
      <p:sp>
        <p:nvSpPr>
          <p:cNvPr id="20" name="Shape 18"/>
          <p:cNvSpPr/>
          <p:nvPr/>
        </p:nvSpPr>
        <p:spPr>
          <a:xfrm>
            <a:off x="8028432" y="1051560"/>
            <a:ext cx="1755648" cy="1737360"/>
          </a:xfrm>
          <a:prstGeom prst="rect">
            <a:avLst/>
          </a:prstGeom>
          <a:solidFill>
            <a:srgbClr val="028090"/>
          </a:solidFill>
          <a:ln w="12700">
            <a:solidFill>
              <a:srgbClr val="028090"/>
            </a:solidFill>
            <a:prstDash val="solid"/>
          </a:ln>
        </p:spPr>
        <p:txBody>
          <a:bodyPr/>
          <a:lstStyle/>
          <a:p>
            <a:endParaRPr lang="ar-SA"/>
          </a:p>
        </p:txBody>
      </p:sp>
      <p:sp>
        <p:nvSpPr>
          <p:cNvPr id="21" name="Text 19"/>
          <p:cNvSpPr/>
          <p:nvPr/>
        </p:nvSpPr>
        <p:spPr>
          <a:xfrm>
            <a:off x="8083296" y="1115568"/>
            <a:ext cx="164592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Circle</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Crop</a:t>
            </a:r>
            <a:endParaRPr lang="en-US" sz="1300" dirty="0"/>
          </a:p>
        </p:txBody>
      </p:sp>
      <p:sp>
        <p:nvSpPr>
          <p:cNvPr id="22" name="Text 20"/>
          <p:cNvSpPr/>
          <p:nvPr/>
        </p:nvSpPr>
        <p:spPr>
          <a:xfrm>
            <a:off x="8083296" y="1664208"/>
            <a:ext cx="1645920" cy="1078992"/>
          </a:xfrm>
          <a:prstGeom prst="rect">
            <a:avLst/>
          </a:prstGeom>
          <a:noFill/>
          <a:ln/>
        </p:spPr>
        <p:txBody>
          <a:bodyPr wrap="square" rtlCol="0" anchor="ctr"/>
          <a:lstStyle/>
          <a:p>
            <a:pPr marL="0" indent="0" algn="ctr">
              <a:buNone/>
            </a:pPr>
            <a:r>
              <a:rPr lang="en-US" sz="1000" dirty="0">
                <a:solidFill>
                  <a:srgbClr val="D0E8F8"/>
                </a:solidFill>
                <a:latin typeface="Calibri" pitchFamily="34" charset="0"/>
                <a:ea typeface="Calibri" pitchFamily="34" charset="-122"/>
                <a:cs typeface="Calibri" pitchFamily="34" charset="-120"/>
              </a:rPr>
              <a:t>Ratio = 1.0</a:t>
            </a:r>
            <a:endParaRPr lang="en-US" sz="1000" dirty="0"/>
          </a:p>
          <a:p>
            <a:pPr marL="0" indent="0" algn="ctr">
              <a:buNone/>
            </a:pPr>
            <a:r>
              <a:rPr lang="en-US" sz="1000" dirty="0">
                <a:solidFill>
                  <a:srgbClr val="D0E8F8"/>
                </a:solidFill>
                <a:latin typeface="Calibri" pitchFamily="34" charset="0"/>
                <a:ea typeface="Calibri" pitchFamily="34" charset="-122"/>
                <a:cs typeface="Calibri" pitchFamily="34" charset="-120"/>
              </a:rPr>
              <a:t>Removes aperture</a:t>
            </a:r>
            <a:endParaRPr lang="en-US" sz="1000" dirty="0"/>
          </a:p>
          <a:p>
            <a:pPr marL="0" indent="0" algn="ctr">
              <a:buNone/>
            </a:pPr>
            <a:r>
              <a:rPr lang="en-US" sz="1000" dirty="0">
                <a:solidFill>
                  <a:srgbClr val="D0E8F8"/>
                </a:solidFill>
                <a:latin typeface="Calibri" pitchFamily="34" charset="0"/>
                <a:ea typeface="Calibri" pitchFamily="34" charset="-122"/>
                <a:cs typeface="Calibri" pitchFamily="34" charset="-120"/>
              </a:rPr>
              <a:t>artefacts</a:t>
            </a:r>
            <a:endParaRPr lang="en-US" sz="1000" dirty="0"/>
          </a:p>
        </p:txBody>
      </p:sp>
      <p:sp>
        <p:nvSpPr>
          <p:cNvPr id="25" name="Text 23"/>
          <p:cNvSpPr/>
          <p:nvPr/>
        </p:nvSpPr>
        <p:spPr>
          <a:xfrm>
            <a:off x="10021824" y="1115568"/>
            <a:ext cx="164592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ImageNet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Norm</a:t>
            </a:r>
            <a:endParaRPr lang="en-US" sz="1300" dirty="0"/>
          </a:p>
        </p:txBody>
      </p:sp>
      <p:sp>
        <p:nvSpPr>
          <p:cNvPr id="27" name="Text 25"/>
          <p:cNvSpPr/>
          <p:nvPr/>
        </p:nvSpPr>
        <p:spPr>
          <a:xfrm>
            <a:off x="365760" y="2926080"/>
            <a:ext cx="11430000" cy="384048"/>
          </a:xfrm>
          <a:prstGeom prst="rect">
            <a:avLst/>
          </a:prstGeom>
          <a:noFill/>
          <a:ln/>
        </p:spPr>
        <p:txBody>
          <a:bodyPr wrap="square" rtlCol="0" anchor="ctr"/>
          <a:lstStyle/>
          <a:p>
            <a:pPr marL="0" indent="0">
              <a:buNone/>
            </a:pPr>
            <a:r>
              <a:rPr lang="en-US" sz="1500" b="1" dirty="0">
                <a:solidFill>
                  <a:srgbClr val="0D2B55"/>
                </a:solidFill>
                <a:latin typeface="Calibri" pitchFamily="34" charset="0"/>
                <a:ea typeface="Calibri" pitchFamily="34" charset="-122"/>
                <a:cs typeface="Calibri" pitchFamily="34" charset="-120"/>
              </a:rPr>
              <a:t>Why Each Step Matters</a:t>
            </a:r>
            <a:endParaRPr lang="en-US" sz="1500" dirty="0"/>
          </a:p>
        </p:txBody>
      </p:sp>
      <p:sp>
        <p:nvSpPr>
          <p:cNvPr id="28" name="Shape 26"/>
          <p:cNvSpPr/>
          <p:nvPr/>
        </p:nvSpPr>
        <p:spPr>
          <a:xfrm>
            <a:off x="365760" y="3383280"/>
            <a:ext cx="11430000" cy="987552"/>
          </a:xfrm>
          <a:prstGeom prst="rect">
            <a:avLst/>
          </a:prstGeom>
          <a:solidFill>
            <a:srgbClr val="EBF5FB"/>
          </a:solidFill>
          <a:ln w="12700">
            <a:solidFill>
              <a:srgbClr val="EBF5FB"/>
            </a:solidFill>
            <a:prstDash val="solid"/>
          </a:ln>
        </p:spPr>
        <p:txBody>
          <a:bodyPr/>
          <a:lstStyle/>
          <a:p>
            <a:endParaRPr lang="ar-SA"/>
          </a:p>
        </p:txBody>
      </p:sp>
      <p:sp>
        <p:nvSpPr>
          <p:cNvPr id="29" name="Shape 27"/>
          <p:cNvSpPr/>
          <p:nvPr/>
        </p:nvSpPr>
        <p:spPr>
          <a:xfrm>
            <a:off x="365760" y="3383280"/>
            <a:ext cx="1371600" cy="987552"/>
          </a:xfrm>
          <a:prstGeom prst="rect">
            <a:avLst/>
          </a:prstGeom>
          <a:solidFill>
            <a:srgbClr val="028090"/>
          </a:solidFill>
          <a:ln w="12700">
            <a:solidFill>
              <a:srgbClr val="028090"/>
            </a:solidFill>
            <a:prstDash val="solid"/>
          </a:ln>
        </p:spPr>
        <p:txBody>
          <a:bodyPr/>
          <a:lstStyle/>
          <a:p>
            <a:endParaRPr lang="ar-SA"/>
          </a:p>
        </p:txBody>
      </p:sp>
      <p:sp>
        <p:nvSpPr>
          <p:cNvPr id="30" name="Text 28"/>
          <p:cNvSpPr/>
          <p:nvPr/>
        </p:nvSpPr>
        <p:spPr>
          <a:xfrm>
            <a:off x="438912" y="3703320"/>
            <a:ext cx="1225296"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CLAHE</a:t>
            </a:r>
            <a:endParaRPr lang="en-US" sz="1200" dirty="0"/>
          </a:p>
        </p:txBody>
      </p:sp>
      <p:sp>
        <p:nvSpPr>
          <p:cNvPr id="31" name="Text 29"/>
          <p:cNvSpPr/>
          <p:nvPr/>
        </p:nvSpPr>
        <p:spPr>
          <a:xfrm>
            <a:off x="1874520" y="3511296"/>
            <a:ext cx="9784080" cy="77724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Fundus images vary in brightness across devices. CLAHE equalises local contrast in the LAB colour space, making subtle microaneurysms and haemorrhages visible.</a:t>
            </a:r>
            <a:endParaRPr lang="en-US" sz="1150" dirty="0"/>
          </a:p>
        </p:txBody>
      </p:sp>
      <p:sp>
        <p:nvSpPr>
          <p:cNvPr id="32" name="Shape 30"/>
          <p:cNvSpPr/>
          <p:nvPr/>
        </p:nvSpPr>
        <p:spPr>
          <a:xfrm>
            <a:off x="365760" y="4480560"/>
            <a:ext cx="11430000" cy="987552"/>
          </a:xfrm>
          <a:prstGeom prst="rect">
            <a:avLst/>
          </a:prstGeom>
          <a:solidFill>
            <a:srgbClr val="EBF5FB"/>
          </a:solidFill>
          <a:ln w="12700">
            <a:solidFill>
              <a:srgbClr val="EBF5FB"/>
            </a:solidFill>
            <a:prstDash val="solid"/>
          </a:ln>
        </p:spPr>
        <p:txBody>
          <a:bodyPr/>
          <a:lstStyle/>
          <a:p>
            <a:endParaRPr lang="ar-SA"/>
          </a:p>
        </p:txBody>
      </p:sp>
      <p:sp>
        <p:nvSpPr>
          <p:cNvPr id="33" name="Shape 31"/>
          <p:cNvSpPr/>
          <p:nvPr/>
        </p:nvSpPr>
        <p:spPr>
          <a:xfrm>
            <a:off x="365760" y="4480560"/>
            <a:ext cx="1371600" cy="987552"/>
          </a:xfrm>
          <a:prstGeom prst="rect">
            <a:avLst/>
          </a:prstGeom>
          <a:solidFill>
            <a:srgbClr val="0D2B55"/>
          </a:solidFill>
          <a:ln w="12700">
            <a:solidFill>
              <a:srgbClr val="0D2B55"/>
            </a:solidFill>
            <a:prstDash val="solid"/>
          </a:ln>
        </p:spPr>
        <p:txBody>
          <a:bodyPr/>
          <a:lstStyle/>
          <a:p>
            <a:endParaRPr lang="ar-SA"/>
          </a:p>
        </p:txBody>
      </p:sp>
      <p:sp>
        <p:nvSpPr>
          <p:cNvPr id="34" name="Text 32"/>
          <p:cNvSpPr/>
          <p:nvPr/>
        </p:nvSpPr>
        <p:spPr>
          <a:xfrm>
            <a:off x="438912" y="4800600"/>
            <a:ext cx="1225296"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Ben-Graham</a:t>
            </a:r>
            <a:endParaRPr lang="en-US" sz="1200" dirty="0"/>
          </a:p>
        </p:txBody>
      </p:sp>
      <p:sp>
        <p:nvSpPr>
          <p:cNvPr id="35" name="Text 33"/>
          <p:cNvSpPr/>
          <p:nvPr/>
        </p:nvSpPr>
        <p:spPr>
          <a:xfrm>
            <a:off x="1874520" y="4608576"/>
            <a:ext cx="9784080" cy="77724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Subtracts a Gaussian-blurred version of the image, removing slow illumination gradients and making retinal vessels the dominant signal. Grad-CAM and SHAP both operate on this enhanced image.</a:t>
            </a:r>
            <a:endParaRPr lang="en-US" sz="1150" dirty="0"/>
          </a:p>
        </p:txBody>
      </p:sp>
      <p:sp>
        <p:nvSpPr>
          <p:cNvPr id="36" name="Shape 34"/>
          <p:cNvSpPr/>
          <p:nvPr/>
        </p:nvSpPr>
        <p:spPr>
          <a:xfrm>
            <a:off x="365760" y="5577840"/>
            <a:ext cx="11430000" cy="987552"/>
          </a:xfrm>
          <a:prstGeom prst="rect">
            <a:avLst/>
          </a:prstGeom>
          <a:solidFill>
            <a:srgbClr val="EBF5FB"/>
          </a:solidFill>
          <a:ln w="12700">
            <a:solidFill>
              <a:srgbClr val="EBF5FB"/>
            </a:solidFill>
            <a:prstDash val="solid"/>
          </a:ln>
        </p:spPr>
        <p:txBody>
          <a:bodyPr/>
          <a:lstStyle/>
          <a:p>
            <a:endParaRPr lang="ar-SA"/>
          </a:p>
        </p:txBody>
      </p:sp>
      <p:sp>
        <p:nvSpPr>
          <p:cNvPr id="37" name="Shape 35"/>
          <p:cNvSpPr/>
          <p:nvPr/>
        </p:nvSpPr>
        <p:spPr>
          <a:xfrm>
            <a:off x="365760" y="5577840"/>
            <a:ext cx="1371600" cy="987552"/>
          </a:xfrm>
          <a:prstGeom prst="rect">
            <a:avLst/>
          </a:prstGeom>
          <a:solidFill>
            <a:srgbClr val="E84855"/>
          </a:solidFill>
          <a:ln w="12700">
            <a:solidFill>
              <a:srgbClr val="E84855"/>
            </a:solidFill>
            <a:prstDash val="solid"/>
          </a:ln>
        </p:spPr>
        <p:txBody>
          <a:bodyPr/>
          <a:lstStyle/>
          <a:p>
            <a:endParaRPr lang="ar-SA"/>
          </a:p>
        </p:txBody>
      </p:sp>
      <p:sp>
        <p:nvSpPr>
          <p:cNvPr id="38" name="Text 36"/>
          <p:cNvSpPr/>
          <p:nvPr/>
        </p:nvSpPr>
        <p:spPr>
          <a:xfrm>
            <a:off x="438912" y="5897880"/>
            <a:ext cx="1225296"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Circle Crop</a:t>
            </a:r>
            <a:endParaRPr lang="en-US" sz="1200" dirty="0"/>
          </a:p>
        </p:txBody>
      </p:sp>
      <p:sp>
        <p:nvSpPr>
          <p:cNvPr id="39" name="Text 37"/>
          <p:cNvSpPr/>
          <p:nvPr/>
        </p:nvSpPr>
        <p:spPr>
          <a:xfrm>
            <a:off x="1874520" y="5705856"/>
            <a:ext cx="9784080" cy="77724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Masks the dark corners from the camera opening. Absence of this crop is the root cause of the Grad-CAM corner-attribution artifact — the model never sees the corners, but without masking the upsampled heatmap spreads into them.</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0D2B55"/>
          </a:solidFill>
          <a:ln w="12700">
            <a:solidFill>
              <a:srgbClr val="0D2B55"/>
            </a:solidFill>
            <a:prstDash val="solid"/>
          </a:ln>
        </p:spPr>
        <p:txBody>
          <a:bodyPr/>
          <a:lstStyle/>
          <a:p>
            <a:endParaRPr lang="ar-SA"/>
          </a:p>
        </p:txBody>
      </p:sp>
      <p:sp>
        <p:nvSpPr>
          <p:cNvPr id="3" name="Text 1"/>
          <p:cNvSpPr/>
          <p:nvPr/>
        </p:nvSpPr>
        <p:spPr>
          <a:xfrm>
            <a:off x="457200" y="128016"/>
            <a:ext cx="11247120" cy="65836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Model Architecture: EfficientNet-B4</a:t>
            </a:r>
            <a:endParaRPr lang="en-US" sz="2600" dirty="0"/>
          </a:p>
        </p:txBody>
      </p:sp>
      <p:sp>
        <p:nvSpPr>
          <p:cNvPr id="4" name="Shape 2"/>
          <p:cNvSpPr/>
          <p:nvPr/>
        </p:nvSpPr>
        <p:spPr>
          <a:xfrm>
            <a:off x="694379" y="1005840"/>
            <a:ext cx="5303520" cy="5486400"/>
          </a:xfrm>
          <a:prstGeom prst="rect">
            <a:avLst/>
          </a:prstGeom>
          <a:solidFill>
            <a:srgbClr val="EBF5FB"/>
          </a:solidFill>
          <a:ln w="12700">
            <a:solidFill>
              <a:srgbClr val="EBF5FB"/>
            </a:solidFill>
            <a:prstDash val="solid"/>
          </a:ln>
        </p:spPr>
        <p:txBody>
          <a:bodyPr/>
          <a:lstStyle/>
          <a:p>
            <a:endParaRPr lang="ar-SA"/>
          </a:p>
        </p:txBody>
      </p:sp>
      <p:sp>
        <p:nvSpPr>
          <p:cNvPr id="6" name="Shape 4"/>
          <p:cNvSpPr/>
          <p:nvPr/>
        </p:nvSpPr>
        <p:spPr>
          <a:xfrm>
            <a:off x="802963" y="1129852"/>
            <a:ext cx="5194936" cy="758384"/>
          </a:xfrm>
          <a:prstGeom prst="rect">
            <a:avLst/>
          </a:prstGeom>
          <a:solidFill>
            <a:srgbClr val="FFFFFF"/>
          </a:solidFill>
          <a:ln w="12700">
            <a:solidFill>
              <a:srgbClr val="FFFFFF"/>
            </a:solidFill>
            <a:prstDash val="solid"/>
          </a:ln>
        </p:spPr>
        <p:txBody>
          <a:bodyPr/>
          <a:lstStyle/>
          <a:p>
            <a:endParaRPr lang="ar-SA"/>
          </a:p>
        </p:txBody>
      </p:sp>
      <p:sp>
        <p:nvSpPr>
          <p:cNvPr id="7" name="Shape 5"/>
          <p:cNvSpPr/>
          <p:nvPr/>
        </p:nvSpPr>
        <p:spPr>
          <a:xfrm>
            <a:off x="802963" y="1129852"/>
            <a:ext cx="201168" cy="758384"/>
          </a:xfrm>
          <a:prstGeom prst="rect">
            <a:avLst/>
          </a:prstGeom>
          <a:solidFill>
            <a:srgbClr val="0D2B55"/>
          </a:solidFill>
          <a:ln w="12700">
            <a:solidFill>
              <a:srgbClr val="0D2B55"/>
            </a:solidFill>
            <a:prstDash val="solid"/>
          </a:ln>
        </p:spPr>
        <p:txBody>
          <a:bodyPr/>
          <a:lstStyle/>
          <a:p>
            <a:endParaRPr lang="ar-SA"/>
          </a:p>
        </p:txBody>
      </p:sp>
      <p:sp>
        <p:nvSpPr>
          <p:cNvPr id="8" name="Text 6"/>
          <p:cNvSpPr/>
          <p:nvPr/>
        </p:nvSpPr>
        <p:spPr>
          <a:xfrm>
            <a:off x="1077283" y="1193860"/>
            <a:ext cx="4663440" cy="347472"/>
          </a:xfrm>
          <a:prstGeom prst="rect">
            <a:avLst/>
          </a:prstGeom>
          <a:noFill/>
          <a:ln/>
        </p:spPr>
        <p:txBody>
          <a:bodyPr wrap="square" rtlCol="0" anchor="ctr"/>
          <a:lstStyle/>
          <a:p>
            <a:pPr marL="0" indent="0">
              <a:buNone/>
            </a:pPr>
            <a:r>
              <a:rPr lang="en-US" sz="1250" b="1" dirty="0">
                <a:solidFill>
                  <a:srgbClr val="0D2B55"/>
                </a:solidFill>
                <a:latin typeface="Calibri" pitchFamily="34" charset="0"/>
                <a:ea typeface="Calibri" pitchFamily="34" charset="-122"/>
                <a:cs typeface="Calibri" pitchFamily="34" charset="-120"/>
              </a:rPr>
              <a:t>Backbone</a:t>
            </a:r>
            <a:endParaRPr lang="en-US" sz="1250" dirty="0"/>
          </a:p>
        </p:txBody>
      </p:sp>
      <p:sp>
        <p:nvSpPr>
          <p:cNvPr id="9" name="Text 7"/>
          <p:cNvSpPr/>
          <p:nvPr/>
        </p:nvSpPr>
        <p:spPr>
          <a:xfrm>
            <a:off x="1077283" y="1468180"/>
            <a:ext cx="5029200"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EfficientNet-B4 pretrained on ImageNet. Input: 380×380 preprocessed fundus image.</a:t>
            </a:r>
            <a:endParaRPr lang="en-US" sz="1100" dirty="0"/>
          </a:p>
        </p:txBody>
      </p:sp>
      <p:sp>
        <p:nvSpPr>
          <p:cNvPr id="10" name="Shape 8"/>
          <p:cNvSpPr/>
          <p:nvPr/>
        </p:nvSpPr>
        <p:spPr>
          <a:xfrm>
            <a:off x="802963" y="1979672"/>
            <a:ext cx="5194936" cy="694376"/>
          </a:xfrm>
          <a:prstGeom prst="rect">
            <a:avLst/>
          </a:prstGeom>
          <a:solidFill>
            <a:srgbClr val="FFFFFF"/>
          </a:solidFill>
          <a:ln w="12700">
            <a:solidFill>
              <a:srgbClr val="FFFFFF"/>
            </a:solidFill>
            <a:prstDash val="solid"/>
          </a:ln>
        </p:spPr>
        <p:txBody>
          <a:bodyPr/>
          <a:lstStyle/>
          <a:p>
            <a:endParaRPr lang="ar-SA"/>
          </a:p>
        </p:txBody>
      </p:sp>
      <p:sp>
        <p:nvSpPr>
          <p:cNvPr id="11" name="Shape 9"/>
          <p:cNvSpPr/>
          <p:nvPr/>
        </p:nvSpPr>
        <p:spPr>
          <a:xfrm>
            <a:off x="802963" y="1979672"/>
            <a:ext cx="201168" cy="694376"/>
          </a:xfrm>
          <a:prstGeom prst="rect">
            <a:avLst/>
          </a:prstGeom>
          <a:solidFill>
            <a:srgbClr val="1B6CA8"/>
          </a:solidFill>
          <a:ln w="12700">
            <a:solidFill>
              <a:srgbClr val="1B6CA8"/>
            </a:solidFill>
            <a:prstDash val="solid"/>
          </a:ln>
        </p:spPr>
        <p:txBody>
          <a:bodyPr/>
          <a:lstStyle/>
          <a:p>
            <a:endParaRPr lang="ar-SA"/>
          </a:p>
        </p:txBody>
      </p:sp>
      <p:sp>
        <p:nvSpPr>
          <p:cNvPr id="12" name="Text 10"/>
          <p:cNvSpPr/>
          <p:nvPr/>
        </p:nvSpPr>
        <p:spPr>
          <a:xfrm>
            <a:off x="1077283" y="2043680"/>
            <a:ext cx="4663440" cy="347472"/>
          </a:xfrm>
          <a:prstGeom prst="rect">
            <a:avLst/>
          </a:prstGeom>
          <a:noFill/>
          <a:ln/>
        </p:spPr>
        <p:txBody>
          <a:bodyPr wrap="square" rtlCol="0" anchor="ctr"/>
          <a:lstStyle/>
          <a:p>
            <a:pPr marL="0" indent="0">
              <a:buNone/>
            </a:pPr>
            <a:r>
              <a:rPr lang="en-US" sz="1250" b="1" dirty="0">
                <a:solidFill>
                  <a:srgbClr val="1B6CA8"/>
                </a:solidFill>
                <a:latin typeface="Calibri" pitchFamily="34" charset="0"/>
                <a:ea typeface="Calibri" pitchFamily="34" charset="-122"/>
                <a:cs typeface="Calibri" pitchFamily="34" charset="-120"/>
              </a:rPr>
              <a:t>Feature Maps</a:t>
            </a:r>
            <a:endParaRPr lang="en-US" sz="1250" dirty="0"/>
          </a:p>
        </p:txBody>
      </p:sp>
      <p:sp>
        <p:nvSpPr>
          <p:cNvPr id="13" name="Text 11"/>
          <p:cNvSpPr/>
          <p:nvPr/>
        </p:nvSpPr>
        <p:spPr>
          <a:xfrm>
            <a:off x="1068711" y="2290000"/>
            <a:ext cx="4663440"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Deep conv layers → F ∈ ℝ^{C×H'×W'}. Last-layer maps used by Grad-CAM.</a:t>
            </a:r>
            <a:endParaRPr lang="en-US" sz="1100" dirty="0"/>
          </a:p>
        </p:txBody>
      </p:sp>
      <p:sp>
        <p:nvSpPr>
          <p:cNvPr id="14" name="Shape 12"/>
          <p:cNvSpPr/>
          <p:nvPr/>
        </p:nvSpPr>
        <p:spPr>
          <a:xfrm>
            <a:off x="802963" y="2872352"/>
            <a:ext cx="5194936" cy="694944"/>
          </a:xfrm>
          <a:prstGeom prst="rect">
            <a:avLst/>
          </a:prstGeom>
          <a:solidFill>
            <a:srgbClr val="FFFFFF"/>
          </a:solidFill>
          <a:ln w="12700">
            <a:solidFill>
              <a:srgbClr val="FFFFFF"/>
            </a:solidFill>
            <a:prstDash val="solid"/>
          </a:ln>
        </p:spPr>
        <p:txBody>
          <a:bodyPr/>
          <a:lstStyle/>
          <a:p>
            <a:endParaRPr lang="ar-SA"/>
          </a:p>
        </p:txBody>
      </p:sp>
      <p:sp>
        <p:nvSpPr>
          <p:cNvPr id="15" name="Shape 13"/>
          <p:cNvSpPr/>
          <p:nvPr/>
        </p:nvSpPr>
        <p:spPr>
          <a:xfrm>
            <a:off x="820107" y="2872352"/>
            <a:ext cx="184024" cy="694944"/>
          </a:xfrm>
          <a:prstGeom prst="rect">
            <a:avLst/>
          </a:prstGeom>
          <a:solidFill>
            <a:srgbClr val="028090"/>
          </a:solidFill>
          <a:ln w="12700">
            <a:solidFill>
              <a:srgbClr val="028090"/>
            </a:solidFill>
            <a:prstDash val="solid"/>
          </a:ln>
        </p:spPr>
        <p:txBody>
          <a:bodyPr/>
          <a:lstStyle/>
          <a:p>
            <a:endParaRPr lang="ar-SA"/>
          </a:p>
        </p:txBody>
      </p:sp>
      <p:sp>
        <p:nvSpPr>
          <p:cNvPr id="16" name="Text 14"/>
          <p:cNvSpPr/>
          <p:nvPr/>
        </p:nvSpPr>
        <p:spPr>
          <a:xfrm>
            <a:off x="1077283" y="2936360"/>
            <a:ext cx="4663440" cy="347472"/>
          </a:xfrm>
          <a:prstGeom prst="rect">
            <a:avLst/>
          </a:prstGeom>
          <a:noFill/>
          <a:ln/>
        </p:spPr>
        <p:txBody>
          <a:bodyPr wrap="square" rtlCol="0" anchor="ctr"/>
          <a:lstStyle/>
          <a:p>
            <a:pPr marL="0" indent="0">
              <a:buNone/>
            </a:pPr>
            <a:r>
              <a:rPr lang="en-US" sz="1250" b="1" dirty="0">
                <a:solidFill>
                  <a:srgbClr val="028090"/>
                </a:solidFill>
                <a:latin typeface="Calibri" pitchFamily="34" charset="0"/>
                <a:ea typeface="Calibri" pitchFamily="34" charset="-122"/>
                <a:cs typeface="Calibri" pitchFamily="34" charset="-120"/>
              </a:rPr>
              <a:t>Classification Head</a:t>
            </a:r>
            <a:endParaRPr lang="en-US" sz="1250" dirty="0"/>
          </a:p>
        </p:txBody>
      </p:sp>
      <p:sp>
        <p:nvSpPr>
          <p:cNvPr id="17" name="Text 15"/>
          <p:cNvSpPr/>
          <p:nvPr/>
        </p:nvSpPr>
        <p:spPr>
          <a:xfrm>
            <a:off x="1077283" y="3183248"/>
            <a:ext cx="5029200"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Global Average Pooling → FC(5) → softmax. Predicted grade: ŷ = argmax softmax(z).</a:t>
            </a:r>
            <a:endParaRPr lang="en-US" sz="1100" dirty="0"/>
          </a:p>
        </p:txBody>
      </p:sp>
      <p:sp>
        <p:nvSpPr>
          <p:cNvPr id="18" name="Shape 16"/>
          <p:cNvSpPr/>
          <p:nvPr/>
        </p:nvSpPr>
        <p:spPr>
          <a:xfrm>
            <a:off x="6396043" y="1267560"/>
            <a:ext cx="4476751" cy="821836"/>
          </a:xfrm>
          <a:prstGeom prst="rect">
            <a:avLst/>
          </a:prstGeom>
          <a:solidFill>
            <a:srgbClr val="FFFFFF"/>
          </a:solidFill>
          <a:ln w="12700">
            <a:solidFill>
              <a:srgbClr val="FFFFFF"/>
            </a:solidFill>
            <a:prstDash val="solid"/>
          </a:ln>
        </p:spPr>
        <p:txBody>
          <a:bodyPr/>
          <a:lstStyle/>
          <a:p>
            <a:endParaRPr lang="ar-SA"/>
          </a:p>
        </p:txBody>
      </p:sp>
      <p:sp>
        <p:nvSpPr>
          <p:cNvPr id="19" name="Shape 17"/>
          <p:cNvSpPr/>
          <p:nvPr/>
        </p:nvSpPr>
        <p:spPr>
          <a:xfrm>
            <a:off x="6396043" y="1134424"/>
            <a:ext cx="201168" cy="868680"/>
          </a:xfrm>
          <a:prstGeom prst="rect">
            <a:avLst/>
          </a:prstGeom>
          <a:solidFill>
            <a:srgbClr val="E84855"/>
          </a:solidFill>
          <a:ln w="12700">
            <a:solidFill>
              <a:srgbClr val="E84855"/>
            </a:solidFill>
            <a:prstDash val="solid"/>
          </a:ln>
        </p:spPr>
        <p:txBody>
          <a:bodyPr/>
          <a:lstStyle/>
          <a:p>
            <a:endParaRPr lang="ar-SA"/>
          </a:p>
        </p:txBody>
      </p:sp>
      <p:sp>
        <p:nvSpPr>
          <p:cNvPr id="20" name="Text 18"/>
          <p:cNvSpPr/>
          <p:nvPr/>
        </p:nvSpPr>
        <p:spPr>
          <a:xfrm>
            <a:off x="6670363" y="1198432"/>
            <a:ext cx="4663440" cy="347472"/>
          </a:xfrm>
          <a:prstGeom prst="rect">
            <a:avLst/>
          </a:prstGeom>
          <a:noFill/>
          <a:ln/>
        </p:spPr>
        <p:txBody>
          <a:bodyPr wrap="square" rtlCol="0" anchor="ctr"/>
          <a:lstStyle/>
          <a:p>
            <a:pPr marL="0" indent="0">
              <a:buNone/>
            </a:pPr>
            <a:r>
              <a:rPr lang="en-US" sz="1250" b="1" dirty="0">
                <a:solidFill>
                  <a:srgbClr val="E84855"/>
                </a:solidFill>
                <a:latin typeface="Calibri" pitchFamily="34" charset="0"/>
                <a:ea typeface="Calibri" pitchFamily="34" charset="-122"/>
                <a:cs typeface="Calibri" pitchFamily="34" charset="-120"/>
              </a:rPr>
              <a:t>Focal Loss (γ=2.0)</a:t>
            </a:r>
            <a:endParaRPr lang="en-US" sz="1250" dirty="0"/>
          </a:p>
        </p:txBody>
      </p:sp>
      <p:sp>
        <p:nvSpPr>
          <p:cNvPr id="21" name="Text 19"/>
          <p:cNvSpPr/>
          <p:nvPr/>
        </p:nvSpPr>
        <p:spPr>
          <a:xfrm>
            <a:off x="6670363" y="1632196"/>
            <a:ext cx="4331019" cy="32518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L_focal = -α_t(1-p_t)^γ log(p_t) with per-class inverse-frequency weights. Combats class imbalance.</a:t>
            </a:r>
            <a:endParaRPr lang="en-US" sz="1100" dirty="0"/>
          </a:p>
        </p:txBody>
      </p:sp>
      <p:sp>
        <p:nvSpPr>
          <p:cNvPr id="22" name="Shape 20"/>
          <p:cNvSpPr/>
          <p:nvPr/>
        </p:nvSpPr>
        <p:spPr>
          <a:xfrm>
            <a:off x="6396043" y="2198560"/>
            <a:ext cx="4476751" cy="973828"/>
          </a:xfrm>
          <a:prstGeom prst="rect">
            <a:avLst/>
          </a:prstGeom>
          <a:solidFill>
            <a:srgbClr val="FFFFFF"/>
          </a:solidFill>
          <a:ln w="12700">
            <a:solidFill>
              <a:srgbClr val="FFFFFF"/>
            </a:solidFill>
            <a:prstDash val="solid"/>
          </a:ln>
        </p:spPr>
        <p:txBody>
          <a:bodyPr/>
          <a:lstStyle/>
          <a:p>
            <a:endParaRPr lang="ar-SA"/>
          </a:p>
        </p:txBody>
      </p:sp>
      <p:sp>
        <p:nvSpPr>
          <p:cNvPr id="23" name="Shape 21"/>
          <p:cNvSpPr/>
          <p:nvPr/>
        </p:nvSpPr>
        <p:spPr>
          <a:xfrm>
            <a:off x="6396043" y="2198560"/>
            <a:ext cx="201168" cy="868680"/>
          </a:xfrm>
          <a:prstGeom prst="rect">
            <a:avLst/>
          </a:prstGeom>
          <a:solidFill>
            <a:srgbClr val="16A34A"/>
          </a:solidFill>
          <a:ln w="12700">
            <a:solidFill>
              <a:srgbClr val="16A34A"/>
            </a:solidFill>
            <a:prstDash val="solid"/>
          </a:ln>
        </p:spPr>
        <p:txBody>
          <a:bodyPr/>
          <a:lstStyle/>
          <a:p>
            <a:endParaRPr lang="ar-SA"/>
          </a:p>
        </p:txBody>
      </p:sp>
      <p:sp>
        <p:nvSpPr>
          <p:cNvPr id="24" name="Text 22"/>
          <p:cNvSpPr/>
          <p:nvPr/>
        </p:nvSpPr>
        <p:spPr>
          <a:xfrm>
            <a:off x="6670363" y="2262568"/>
            <a:ext cx="4663440" cy="347472"/>
          </a:xfrm>
          <a:prstGeom prst="rect">
            <a:avLst/>
          </a:prstGeom>
          <a:noFill/>
          <a:ln/>
        </p:spPr>
        <p:txBody>
          <a:bodyPr wrap="square" rtlCol="0" anchor="ctr"/>
          <a:lstStyle/>
          <a:p>
            <a:pPr marL="0" indent="0">
              <a:buNone/>
            </a:pPr>
            <a:r>
              <a:rPr lang="en-US" sz="1250" b="1" dirty="0">
                <a:solidFill>
                  <a:srgbClr val="16A34A"/>
                </a:solidFill>
                <a:latin typeface="Calibri" pitchFamily="34" charset="0"/>
                <a:ea typeface="Calibri" pitchFamily="34" charset="-122"/>
                <a:cs typeface="Calibri" pitchFamily="34" charset="-120"/>
              </a:rPr>
              <a:t>Calibration</a:t>
            </a:r>
            <a:endParaRPr lang="en-US" sz="1250" dirty="0"/>
          </a:p>
        </p:txBody>
      </p:sp>
      <p:sp>
        <p:nvSpPr>
          <p:cNvPr id="25" name="Text 23"/>
          <p:cNvSpPr/>
          <p:nvPr/>
        </p:nvSpPr>
        <p:spPr>
          <a:xfrm>
            <a:off x="6670363" y="2637472"/>
            <a:ext cx="3888106"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Temperature scaling: T* = 0.7435 fitted on validation set. ECE: 0.079 → 0.044.</a:t>
            </a:r>
            <a:endParaRPr lang="en-US" sz="1100" dirty="0"/>
          </a:p>
        </p:txBody>
      </p:sp>
      <p:pic>
        <p:nvPicPr>
          <p:cNvPr id="28" name="Picture 27">
            <a:extLst>
              <a:ext uri="{FF2B5EF4-FFF2-40B4-BE49-F238E27FC236}">
                <a16:creationId xmlns:a16="http://schemas.microsoft.com/office/drawing/2014/main" id="{A8164815-A1BD-E556-A5D2-416B8D479E1D}"/>
              </a:ext>
            </a:extLst>
          </p:cNvPr>
          <p:cNvPicPr>
            <a:picLocks noChangeAspect="1"/>
          </p:cNvPicPr>
          <p:nvPr/>
        </p:nvPicPr>
        <p:blipFill>
          <a:blip r:embed="rId3"/>
          <a:stretch>
            <a:fillRect/>
          </a:stretch>
        </p:blipFill>
        <p:spPr>
          <a:xfrm>
            <a:off x="785819" y="3653588"/>
            <a:ext cx="10086975" cy="29300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0D2B55"/>
          </a:solidFill>
          <a:ln w="12700">
            <a:solidFill>
              <a:srgbClr val="0D2B55"/>
            </a:solidFill>
            <a:prstDash val="solid"/>
          </a:ln>
        </p:spPr>
        <p:txBody>
          <a:bodyPr/>
          <a:lstStyle/>
          <a:p>
            <a:endParaRPr lang="ar-SA"/>
          </a:p>
        </p:txBody>
      </p:sp>
      <p:sp>
        <p:nvSpPr>
          <p:cNvPr id="3" name="Text 1"/>
          <p:cNvSpPr/>
          <p:nvPr/>
        </p:nvSpPr>
        <p:spPr>
          <a:xfrm>
            <a:off x="457200" y="128016"/>
            <a:ext cx="11247120" cy="65836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Explainability Methods: Grad-CAM vs SHAP</a:t>
            </a:r>
            <a:endParaRPr lang="en-US" sz="2600" dirty="0"/>
          </a:p>
        </p:txBody>
      </p:sp>
      <p:sp>
        <p:nvSpPr>
          <p:cNvPr id="4" name="Text 2"/>
          <p:cNvSpPr/>
          <p:nvPr/>
        </p:nvSpPr>
        <p:spPr>
          <a:xfrm>
            <a:off x="457200" y="1005840"/>
            <a:ext cx="11247120" cy="347472"/>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Two complementary methods: Grad-CAM answers WHERE, SHAP answers WHY</a:t>
            </a:r>
            <a:endParaRPr lang="en-US" sz="1300" dirty="0"/>
          </a:p>
        </p:txBody>
      </p:sp>
      <p:sp>
        <p:nvSpPr>
          <p:cNvPr id="5" name="Shape 3"/>
          <p:cNvSpPr/>
          <p:nvPr/>
        </p:nvSpPr>
        <p:spPr>
          <a:xfrm>
            <a:off x="365760" y="1444752"/>
            <a:ext cx="5577840" cy="4741736"/>
          </a:xfrm>
          <a:prstGeom prst="rect">
            <a:avLst/>
          </a:prstGeom>
          <a:solidFill>
            <a:srgbClr val="0D2B55"/>
          </a:solidFill>
          <a:ln w="12700">
            <a:solidFill>
              <a:srgbClr val="0D2B55"/>
            </a:solidFill>
            <a:prstDash val="solid"/>
          </a:ln>
        </p:spPr>
        <p:txBody>
          <a:bodyPr/>
          <a:lstStyle/>
          <a:p>
            <a:endParaRPr lang="ar-SA"/>
          </a:p>
        </p:txBody>
      </p:sp>
      <p:sp>
        <p:nvSpPr>
          <p:cNvPr id="6" name="Text 4"/>
          <p:cNvSpPr/>
          <p:nvPr/>
        </p:nvSpPr>
        <p:spPr>
          <a:xfrm>
            <a:off x="566928" y="1536192"/>
            <a:ext cx="5175504"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Grad-CAM</a:t>
            </a:r>
            <a:endParaRPr lang="en-US" sz="2200" dirty="0"/>
          </a:p>
        </p:txBody>
      </p:sp>
      <p:sp>
        <p:nvSpPr>
          <p:cNvPr id="7" name="Text 5"/>
          <p:cNvSpPr/>
          <p:nvPr/>
        </p:nvSpPr>
        <p:spPr>
          <a:xfrm>
            <a:off x="566928" y="2039112"/>
            <a:ext cx="5175504" cy="347472"/>
          </a:xfrm>
          <a:prstGeom prst="rect">
            <a:avLst/>
          </a:prstGeom>
          <a:noFill/>
          <a:ln/>
        </p:spPr>
        <p:txBody>
          <a:bodyPr wrap="square" rtlCol="0" anchor="ctr"/>
          <a:lstStyle/>
          <a:p>
            <a:pPr marL="0" indent="0">
              <a:buNone/>
            </a:pPr>
            <a:r>
              <a:rPr lang="en-US" sz="1300" i="1" dirty="0">
                <a:solidFill>
                  <a:srgbClr val="F4A261"/>
                </a:solidFill>
                <a:latin typeface="Calibri" pitchFamily="34" charset="0"/>
                <a:ea typeface="Calibri" pitchFamily="34" charset="-122"/>
                <a:cs typeface="Calibri" pitchFamily="34" charset="-120"/>
              </a:rPr>
              <a:t>"WHERE did the model look?"</a:t>
            </a:r>
            <a:endParaRPr lang="en-US" sz="1300" dirty="0"/>
          </a:p>
        </p:txBody>
      </p:sp>
      <p:sp>
        <p:nvSpPr>
          <p:cNvPr id="8" name="Text 6"/>
          <p:cNvSpPr/>
          <p:nvPr/>
        </p:nvSpPr>
        <p:spPr>
          <a:xfrm>
            <a:off x="566928" y="2450592"/>
            <a:ext cx="5175504" cy="4005072"/>
          </a:xfrm>
          <a:prstGeom prst="rect">
            <a:avLst/>
          </a:prstGeom>
          <a:noFill/>
          <a:ln/>
        </p:spPr>
        <p:txBody>
          <a:bodyPr wrap="square" rtlCol="0" anchor="t"/>
          <a:lstStyle/>
          <a:p>
            <a:pPr marL="0" indent="0">
              <a:buNone/>
            </a:pPr>
            <a:r>
              <a:rPr lang="en-US" sz="1150" b="1" dirty="0">
                <a:solidFill>
                  <a:srgbClr val="0FA3B1"/>
                </a:solidFill>
                <a:latin typeface="Calibri" pitchFamily="34" charset="0"/>
                <a:ea typeface="Calibri" pitchFamily="34" charset="-122"/>
                <a:cs typeface="Calibri" pitchFamily="34" charset="-120"/>
              </a:rPr>
              <a:t>Mechanism: </a:t>
            </a:r>
            <a:r>
              <a:rPr lang="en-US" sz="1150" dirty="0">
                <a:solidFill>
                  <a:srgbClr val="C8D8E8"/>
                </a:solidFill>
                <a:latin typeface="Calibri" pitchFamily="34" charset="0"/>
                <a:ea typeface="Calibri" pitchFamily="34" charset="-122"/>
                <a:cs typeface="Calibri" pitchFamily="34" charset="-120"/>
              </a:rPr>
              <a:t>Gradients of predicted logit w.r.t. last conv feature maps. Channel importance = spatial average of gradients. Heatmap = ReLU(weighted feature sum) upsampled to 380×380.
</a:t>
            </a:r>
            <a:r>
              <a:rPr lang="en-US" sz="1150" b="1" dirty="0">
                <a:solidFill>
                  <a:srgbClr val="0FA3B1"/>
                </a:solidFill>
                <a:latin typeface="Calibri" pitchFamily="34" charset="0"/>
                <a:ea typeface="Calibri" pitchFamily="34" charset="-122"/>
                <a:cs typeface="Calibri" pitchFamily="34" charset="-120"/>
              </a:rPr>
              <a:t>Strengths:
</a:t>
            </a:r>
            <a:r>
              <a:rPr lang="en-US" sz="1150" dirty="0">
                <a:solidFill>
                  <a:srgbClr val="C8D8E8"/>
                </a:solidFill>
                <a:latin typeface="Calibri" pitchFamily="34" charset="0"/>
                <a:ea typeface="Calibri" pitchFamily="34" charset="-122"/>
                <a:cs typeface="Calibri" pitchFamily="34" charset="-120"/>
              </a:rPr>
              <a:t>· Fast — single forward + backward pass
· Region-level spatial localization
· Class-discriminative (targets predicted class)
</a:t>
            </a:r>
            <a:r>
              <a:rPr lang="en-US" sz="1150" b="1" dirty="0">
                <a:solidFill>
                  <a:srgbClr val="E84855"/>
                </a:solidFill>
                <a:latin typeface="Calibri" pitchFamily="34" charset="0"/>
                <a:ea typeface="Calibri" pitchFamily="34" charset="-122"/>
                <a:cs typeface="Calibri" pitchFamily="34" charset="-120"/>
              </a:rPr>
              <a:t>Limitation:
</a:t>
            </a:r>
            <a:r>
              <a:rPr lang="en-US" sz="1150" dirty="0">
                <a:solidFill>
                  <a:srgbClr val="C8D8E8"/>
                </a:solidFill>
                <a:latin typeface="Calibri" pitchFamily="34" charset="0"/>
                <a:ea typeface="Calibri" pitchFamily="34" charset="-122"/>
                <a:cs typeface="Calibri" pitchFamily="34" charset="-120"/>
              </a:rPr>
              <a:t>· Low-res 12×12 grid must be upsampled — bilinear interpolation leaks attribution into dark corners unless the retinal-disc mask is applied</a:t>
            </a:r>
            <a:endParaRPr lang="en-US" sz="1150" dirty="0"/>
          </a:p>
        </p:txBody>
      </p:sp>
      <p:sp>
        <p:nvSpPr>
          <p:cNvPr id="9" name="Shape 7"/>
          <p:cNvSpPr/>
          <p:nvPr/>
        </p:nvSpPr>
        <p:spPr>
          <a:xfrm>
            <a:off x="6217920" y="1444752"/>
            <a:ext cx="5577840" cy="4741736"/>
          </a:xfrm>
          <a:prstGeom prst="rect">
            <a:avLst/>
          </a:prstGeom>
          <a:solidFill>
            <a:srgbClr val="1F618D"/>
          </a:solidFill>
          <a:ln w="12700">
            <a:solidFill>
              <a:srgbClr val="1F618D"/>
            </a:solidFill>
            <a:prstDash val="solid"/>
          </a:ln>
        </p:spPr>
        <p:txBody>
          <a:bodyPr/>
          <a:lstStyle/>
          <a:p>
            <a:endParaRPr lang="ar-SA"/>
          </a:p>
        </p:txBody>
      </p:sp>
      <p:sp>
        <p:nvSpPr>
          <p:cNvPr id="10" name="Text 8"/>
          <p:cNvSpPr/>
          <p:nvPr/>
        </p:nvSpPr>
        <p:spPr>
          <a:xfrm>
            <a:off x="6419088" y="1536192"/>
            <a:ext cx="5175504"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SHAP DeepExplainer</a:t>
            </a:r>
            <a:endParaRPr lang="en-US" sz="2200" dirty="0"/>
          </a:p>
        </p:txBody>
      </p:sp>
      <p:sp>
        <p:nvSpPr>
          <p:cNvPr id="11" name="Text 9"/>
          <p:cNvSpPr/>
          <p:nvPr/>
        </p:nvSpPr>
        <p:spPr>
          <a:xfrm>
            <a:off x="6419088" y="2039112"/>
            <a:ext cx="5175504" cy="347472"/>
          </a:xfrm>
          <a:prstGeom prst="rect">
            <a:avLst/>
          </a:prstGeom>
          <a:noFill/>
          <a:ln/>
        </p:spPr>
        <p:txBody>
          <a:bodyPr wrap="square" rtlCol="0" anchor="ctr"/>
          <a:lstStyle/>
          <a:p>
            <a:pPr marL="0" indent="0">
              <a:buNone/>
            </a:pPr>
            <a:r>
              <a:rPr lang="en-US" sz="1300" i="1" dirty="0">
                <a:solidFill>
                  <a:srgbClr val="F4A261"/>
                </a:solidFill>
                <a:latin typeface="Calibri" pitchFamily="34" charset="0"/>
                <a:ea typeface="Calibri" pitchFamily="34" charset="-122"/>
                <a:cs typeface="Calibri" pitchFamily="34" charset="-120"/>
              </a:rPr>
              <a:t>"WHY did each pixel matter?"</a:t>
            </a:r>
            <a:endParaRPr lang="en-US" sz="1300" dirty="0"/>
          </a:p>
        </p:txBody>
      </p:sp>
      <p:sp>
        <p:nvSpPr>
          <p:cNvPr id="12" name="Text 10"/>
          <p:cNvSpPr/>
          <p:nvPr/>
        </p:nvSpPr>
        <p:spPr>
          <a:xfrm>
            <a:off x="6419088" y="2450592"/>
            <a:ext cx="5175504" cy="4005072"/>
          </a:xfrm>
          <a:prstGeom prst="rect">
            <a:avLst/>
          </a:prstGeom>
          <a:noFill/>
          <a:ln/>
        </p:spPr>
        <p:txBody>
          <a:bodyPr wrap="square" rtlCol="0" anchor="t"/>
          <a:lstStyle/>
          <a:p>
            <a:pPr marL="0" indent="0">
              <a:buNone/>
            </a:pPr>
            <a:r>
              <a:rPr lang="en-US" sz="1150" b="1" dirty="0">
                <a:solidFill>
                  <a:srgbClr val="0FA3B1"/>
                </a:solidFill>
                <a:latin typeface="Calibri" pitchFamily="34" charset="0"/>
                <a:ea typeface="Calibri" pitchFamily="34" charset="-122"/>
                <a:cs typeface="Calibri" pitchFamily="34" charset="-120"/>
              </a:rPr>
              <a:t>Mechanism: </a:t>
            </a:r>
            <a:r>
              <a:rPr lang="en-US" sz="1150" dirty="0">
                <a:solidFill>
                  <a:srgbClr val="C8D8E8"/>
                </a:solidFill>
                <a:latin typeface="Calibri" pitchFamily="34" charset="0"/>
                <a:ea typeface="Calibri" pitchFamily="34" charset="-122"/>
                <a:cs typeface="Calibri" pitchFamily="34" charset="-120"/>
              </a:rPr>
              <a:t>Game-theoretic Shapley values at pixel level. Background = 16 class-balanced training images (seed 1988). Attribution φ ∈ ℝ^{H×W×3} — signed per-pixel, per-channel contributions.
</a:t>
            </a:r>
            <a:r>
              <a:rPr lang="en-US" sz="1150" b="1" dirty="0">
                <a:solidFill>
                  <a:srgbClr val="0FA3B1"/>
                </a:solidFill>
                <a:latin typeface="Calibri" pitchFamily="34" charset="0"/>
                <a:ea typeface="Calibri" pitchFamily="34" charset="-122"/>
                <a:cs typeface="Calibri" pitchFamily="34" charset="-120"/>
              </a:rPr>
              <a:t>Strengths:
</a:t>
            </a:r>
            <a:r>
              <a:rPr lang="en-US" sz="1150" dirty="0">
                <a:solidFill>
                  <a:srgbClr val="C8D8E8"/>
                </a:solidFill>
                <a:latin typeface="Calibri" pitchFamily="34" charset="0"/>
                <a:ea typeface="Calibri" pitchFamily="34" charset="-122"/>
                <a:cs typeface="Calibri" pitchFamily="34" charset="-120"/>
              </a:rPr>
              <a:t>· Full 380×380 pixel-level resolution
· Signed attribution: pushes toward / away from class
· Theoretically principled (Shapley axioms)
</a:t>
            </a:r>
            <a:r>
              <a:rPr lang="en-US" sz="1150" b="1" dirty="0">
                <a:solidFill>
                  <a:srgbClr val="E84855"/>
                </a:solidFill>
                <a:latin typeface="Calibri" pitchFamily="34" charset="0"/>
                <a:ea typeface="Calibri" pitchFamily="34" charset="-122"/>
                <a:cs typeface="Calibri" pitchFamily="34" charset="-120"/>
              </a:rPr>
              <a:t>Limitation:
</a:t>
            </a:r>
            <a:r>
              <a:rPr lang="en-US" sz="1150" dirty="0">
                <a:solidFill>
                  <a:srgbClr val="C8D8E8"/>
                </a:solidFill>
                <a:latin typeface="Calibri" pitchFamily="34" charset="0"/>
                <a:ea typeface="Calibri" pitchFamily="34" charset="-122"/>
                <a:cs typeface="Calibri" pitchFamily="34" charset="-120"/>
              </a:rPr>
              <a:t>· Computationally heavier; background choice affects attributions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0D2B55"/>
          </a:solidFill>
          <a:ln w="12700">
            <a:solidFill>
              <a:srgbClr val="0D2B55"/>
            </a:solidFill>
            <a:prstDash val="solid"/>
          </a:ln>
        </p:spPr>
        <p:txBody>
          <a:bodyPr/>
          <a:lstStyle/>
          <a:p>
            <a:endParaRPr lang="ar-SA"/>
          </a:p>
        </p:txBody>
      </p:sp>
      <p:sp>
        <p:nvSpPr>
          <p:cNvPr id="3" name="Text 1"/>
          <p:cNvSpPr/>
          <p:nvPr/>
        </p:nvSpPr>
        <p:spPr>
          <a:xfrm>
            <a:off x="457200" y="128016"/>
            <a:ext cx="11247120" cy="65836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Key Contribution: Attribution-Mask Correction</a:t>
            </a:r>
            <a:endParaRPr lang="en-US" sz="2600" dirty="0"/>
          </a:p>
        </p:txBody>
      </p:sp>
      <p:sp>
        <p:nvSpPr>
          <p:cNvPr id="4" name="Shape 2"/>
          <p:cNvSpPr/>
          <p:nvPr/>
        </p:nvSpPr>
        <p:spPr>
          <a:xfrm>
            <a:off x="365760" y="1005840"/>
            <a:ext cx="11430000" cy="621792"/>
          </a:xfrm>
          <a:prstGeom prst="rect">
            <a:avLst/>
          </a:prstGeom>
          <a:solidFill>
            <a:srgbClr val="FDF3F3"/>
          </a:solidFill>
          <a:ln w="12700">
            <a:solidFill>
              <a:srgbClr val="FDF3F3"/>
            </a:solidFill>
            <a:prstDash val="solid"/>
          </a:ln>
        </p:spPr>
        <p:txBody>
          <a:bodyPr/>
          <a:lstStyle/>
          <a:p>
            <a:endParaRPr lang="ar-SA"/>
          </a:p>
        </p:txBody>
      </p:sp>
      <p:sp>
        <p:nvSpPr>
          <p:cNvPr id="5" name="Shape 3"/>
          <p:cNvSpPr/>
          <p:nvPr/>
        </p:nvSpPr>
        <p:spPr>
          <a:xfrm>
            <a:off x="365760" y="1005840"/>
            <a:ext cx="11430000" cy="621792"/>
          </a:xfrm>
          <a:prstGeom prst="rect">
            <a:avLst/>
          </a:prstGeom>
          <a:solidFill>
            <a:srgbClr val="FDF3F3"/>
          </a:solidFill>
          <a:ln w="12700">
            <a:solidFill>
              <a:srgbClr val="FDF3F3"/>
            </a:solidFill>
            <a:prstDash val="solid"/>
          </a:ln>
        </p:spPr>
        <p:txBody>
          <a:bodyPr/>
          <a:lstStyle/>
          <a:p>
            <a:endParaRPr lang="ar-SA"/>
          </a:p>
        </p:txBody>
      </p:sp>
      <p:sp>
        <p:nvSpPr>
          <p:cNvPr id="6" name="Shape 4"/>
          <p:cNvSpPr/>
          <p:nvPr/>
        </p:nvSpPr>
        <p:spPr>
          <a:xfrm>
            <a:off x="365760" y="1005840"/>
            <a:ext cx="11430000" cy="621792"/>
          </a:xfrm>
          <a:prstGeom prst="rect">
            <a:avLst/>
          </a:prstGeom>
          <a:solidFill>
            <a:srgbClr val="FDF3F3"/>
          </a:solidFill>
          <a:ln w="19050">
            <a:solidFill>
              <a:srgbClr val="E84855"/>
            </a:solidFill>
            <a:prstDash val="solid"/>
          </a:ln>
        </p:spPr>
        <p:txBody>
          <a:bodyPr/>
          <a:lstStyle/>
          <a:p>
            <a:endParaRPr lang="ar-SA"/>
          </a:p>
        </p:txBody>
      </p:sp>
      <p:sp>
        <p:nvSpPr>
          <p:cNvPr id="7" name="Text 5"/>
          <p:cNvSpPr/>
          <p:nvPr/>
        </p:nvSpPr>
        <p:spPr>
          <a:xfrm>
            <a:off x="548640" y="1115568"/>
            <a:ext cx="11064240" cy="402336"/>
          </a:xfrm>
          <a:prstGeom prst="rect">
            <a:avLst/>
          </a:prstGeom>
          <a:noFill/>
          <a:ln/>
        </p:spPr>
        <p:txBody>
          <a:bodyPr wrap="square" rtlCol="0" anchor="ctr"/>
          <a:lstStyle/>
          <a:p>
            <a:r>
              <a:rPr lang="en-US" sz="1300" b="1" dirty="0">
                <a:solidFill>
                  <a:srgbClr val="E84855"/>
                </a:solidFill>
                <a:latin typeface="Calibri" pitchFamily="34" charset="0"/>
                <a:ea typeface="Calibri" pitchFamily="34" charset="-122"/>
                <a:cs typeface="Calibri" pitchFamily="34" charset="-120"/>
              </a:rPr>
              <a:t>⚠  Problem: The problem: Grad-CAM’s border ratio was inflated because bilinear upscaling spread attribution into the dark corners outside the retinal disc.</a:t>
            </a:r>
            <a:endParaRPr lang="en-US" sz="1300" dirty="0"/>
          </a:p>
        </p:txBody>
      </p:sp>
      <p:sp>
        <p:nvSpPr>
          <p:cNvPr id="8" name="Shape 6"/>
          <p:cNvSpPr/>
          <p:nvPr/>
        </p:nvSpPr>
        <p:spPr>
          <a:xfrm>
            <a:off x="365760" y="1737360"/>
            <a:ext cx="5486400" cy="2103120"/>
          </a:xfrm>
          <a:prstGeom prst="rect">
            <a:avLst/>
          </a:prstGeom>
          <a:solidFill>
            <a:srgbClr val="FDF3F3"/>
          </a:solidFill>
          <a:ln w="19050">
            <a:solidFill>
              <a:srgbClr val="C0392B"/>
            </a:solidFill>
            <a:prstDash val="solid"/>
          </a:ln>
        </p:spPr>
        <p:txBody>
          <a:bodyPr/>
          <a:lstStyle/>
          <a:p>
            <a:endParaRPr lang="ar-SA"/>
          </a:p>
        </p:txBody>
      </p:sp>
      <p:sp>
        <p:nvSpPr>
          <p:cNvPr id="9" name="Shape 7"/>
          <p:cNvSpPr/>
          <p:nvPr/>
        </p:nvSpPr>
        <p:spPr>
          <a:xfrm>
            <a:off x="365760" y="1737360"/>
            <a:ext cx="5486400" cy="420624"/>
          </a:xfrm>
          <a:prstGeom prst="rect">
            <a:avLst/>
          </a:prstGeom>
          <a:solidFill>
            <a:srgbClr val="C0392B"/>
          </a:solidFill>
          <a:ln w="12700">
            <a:solidFill>
              <a:srgbClr val="C0392B"/>
            </a:solidFill>
            <a:prstDash val="solid"/>
          </a:ln>
        </p:spPr>
        <p:txBody>
          <a:bodyPr/>
          <a:lstStyle/>
          <a:p>
            <a:endParaRPr lang="ar-SA"/>
          </a:p>
        </p:txBody>
      </p:sp>
      <p:sp>
        <p:nvSpPr>
          <p:cNvPr id="10" name="Text 8"/>
          <p:cNvSpPr/>
          <p:nvPr/>
        </p:nvSpPr>
        <p:spPr>
          <a:xfrm>
            <a:off x="475488" y="1792224"/>
            <a:ext cx="5266944" cy="32918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Root Cause</a:t>
            </a:r>
            <a:endParaRPr lang="en-US" sz="1300" dirty="0"/>
          </a:p>
        </p:txBody>
      </p:sp>
      <p:sp>
        <p:nvSpPr>
          <p:cNvPr id="11" name="Text 9"/>
          <p:cNvSpPr/>
          <p:nvPr/>
        </p:nvSpPr>
        <p:spPr>
          <a:xfrm>
            <a:off x="475488" y="2249424"/>
            <a:ext cx="5266944" cy="1508760"/>
          </a:xfrm>
          <a:prstGeom prst="rect">
            <a:avLst/>
          </a:prstGeom>
          <a:noFill/>
          <a:ln/>
        </p:spPr>
        <p:txBody>
          <a:bodyPr wrap="square" rtlCol="0" anchor="t"/>
          <a:lstStyle/>
          <a:p>
            <a:r>
              <a:rPr lang="en-US" sz="1150" dirty="0"/>
              <a:t>Grad-CAM starts from a small 12×12 map. When we enlarge it (</a:t>
            </a:r>
            <a:r>
              <a:rPr lang="en-US" sz="1150" dirty="0">
                <a:solidFill>
                  <a:srgbClr val="1E293B"/>
                </a:solidFill>
                <a:latin typeface="Calibri" pitchFamily="34" charset="0"/>
                <a:ea typeface="Calibri" pitchFamily="34" charset="-122"/>
                <a:cs typeface="Calibri" pitchFamily="34" charset="-120"/>
              </a:rPr>
              <a:t>Bilinear </a:t>
            </a:r>
            <a:r>
              <a:rPr lang="en-US" sz="1150" dirty="0" err="1">
                <a:solidFill>
                  <a:srgbClr val="1E293B"/>
                </a:solidFill>
                <a:latin typeface="Calibri" pitchFamily="34" charset="0"/>
                <a:ea typeface="Calibri" pitchFamily="34" charset="-122"/>
                <a:cs typeface="Calibri" pitchFamily="34" charset="-120"/>
              </a:rPr>
              <a:t>upsampling</a:t>
            </a:r>
            <a:r>
              <a:rPr lang="en-US" sz="1150" dirty="0">
                <a:solidFill>
                  <a:srgbClr val="1E293B"/>
                </a:solidFill>
                <a:latin typeface="Calibri" pitchFamily="34" charset="0"/>
                <a:ea typeface="Calibri" pitchFamily="34" charset="-122"/>
                <a:cs typeface="Calibri" pitchFamily="34" charset="-120"/>
              </a:rPr>
              <a:t> to 380×380</a:t>
            </a:r>
            <a:r>
              <a:rPr lang="en-US" sz="1150" dirty="0"/>
              <a:t>), some heat leaks into the black corners, even though those corners are not retina</a:t>
            </a:r>
          </a:p>
        </p:txBody>
      </p:sp>
      <p:sp>
        <p:nvSpPr>
          <p:cNvPr id="12" name="Shape 10"/>
          <p:cNvSpPr/>
          <p:nvPr/>
        </p:nvSpPr>
        <p:spPr>
          <a:xfrm>
            <a:off x="6126480" y="1737360"/>
            <a:ext cx="5486400" cy="2103120"/>
          </a:xfrm>
          <a:prstGeom prst="rect">
            <a:avLst/>
          </a:prstGeom>
          <a:solidFill>
            <a:srgbClr val="FFF8E1"/>
          </a:solidFill>
          <a:ln w="19050">
            <a:solidFill>
              <a:srgbClr val="F4A261"/>
            </a:solidFill>
            <a:prstDash val="solid"/>
          </a:ln>
        </p:spPr>
        <p:txBody>
          <a:bodyPr/>
          <a:lstStyle/>
          <a:p>
            <a:endParaRPr lang="ar-SA"/>
          </a:p>
        </p:txBody>
      </p:sp>
      <p:sp>
        <p:nvSpPr>
          <p:cNvPr id="13" name="Shape 11"/>
          <p:cNvSpPr/>
          <p:nvPr/>
        </p:nvSpPr>
        <p:spPr>
          <a:xfrm>
            <a:off x="6126480" y="1737360"/>
            <a:ext cx="5486400" cy="420624"/>
          </a:xfrm>
          <a:prstGeom prst="rect">
            <a:avLst/>
          </a:prstGeom>
          <a:solidFill>
            <a:srgbClr val="F4A261"/>
          </a:solidFill>
          <a:ln w="12700">
            <a:solidFill>
              <a:srgbClr val="F4A261"/>
            </a:solidFill>
            <a:prstDash val="solid"/>
          </a:ln>
        </p:spPr>
        <p:txBody>
          <a:bodyPr/>
          <a:lstStyle/>
          <a:p>
            <a:endParaRPr lang="ar-SA"/>
          </a:p>
        </p:txBody>
      </p:sp>
      <p:sp>
        <p:nvSpPr>
          <p:cNvPr id="14" name="Text 12"/>
          <p:cNvSpPr/>
          <p:nvPr/>
        </p:nvSpPr>
        <p:spPr>
          <a:xfrm>
            <a:off x="6236208" y="1792224"/>
            <a:ext cx="5266944" cy="32918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Effect on Metrics</a:t>
            </a:r>
            <a:endParaRPr lang="en-US" sz="1300" dirty="0"/>
          </a:p>
        </p:txBody>
      </p:sp>
      <p:sp>
        <p:nvSpPr>
          <p:cNvPr id="15" name="Text 13"/>
          <p:cNvSpPr/>
          <p:nvPr/>
        </p:nvSpPr>
        <p:spPr>
          <a:xfrm>
            <a:off x="6236208" y="2249424"/>
            <a:ext cx="5266944" cy="1508760"/>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Before correction, SHAP looked better on localization (0.234 vs 0.290) — but that was due to the corner artefact, not because SHAP was truly better</a:t>
            </a:r>
            <a:endParaRPr lang="en-US" sz="1150" dirty="0"/>
          </a:p>
        </p:txBody>
      </p:sp>
      <p:sp>
        <p:nvSpPr>
          <p:cNvPr id="16" name="Shape 14"/>
          <p:cNvSpPr/>
          <p:nvPr/>
        </p:nvSpPr>
        <p:spPr>
          <a:xfrm>
            <a:off x="365760" y="4023360"/>
            <a:ext cx="5486400" cy="2103120"/>
          </a:xfrm>
          <a:prstGeom prst="rect">
            <a:avLst/>
          </a:prstGeom>
          <a:solidFill>
            <a:srgbClr val="F0FFF4"/>
          </a:solidFill>
          <a:ln w="19050">
            <a:solidFill>
              <a:srgbClr val="028090"/>
            </a:solidFill>
            <a:prstDash val="solid"/>
          </a:ln>
        </p:spPr>
        <p:txBody>
          <a:bodyPr/>
          <a:lstStyle/>
          <a:p>
            <a:endParaRPr lang="ar-SA"/>
          </a:p>
        </p:txBody>
      </p:sp>
      <p:sp>
        <p:nvSpPr>
          <p:cNvPr id="17" name="Shape 15"/>
          <p:cNvSpPr/>
          <p:nvPr/>
        </p:nvSpPr>
        <p:spPr>
          <a:xfrm>
            <a:off x="365760" y="4023360"/>
            <a:ext cx="5486400" cy="420624"/>
          </a:xfrm>
          <a:prstGeom prst="rect">
            <a:avLst/>
          </a:prstGeom>
          <a:solidFill>
            <a:srgbClr val="028090"/>
          </a:solidFill>
          <a:ln w="12700">
            <a:solidFill>
              <a:srgbClr val="028090"/>
            </a:solidFill>
            <a:prstDash val="solid"/>
          </a:ln>
        </p:spPr>
        <p:txBody>
          <a:bodyPr/>
          <a:lstStyle/>
          <a:p>
            <a:endParaRPr lang="ar-SA"/>
          </a:p>
        </p:txBody>
      </p:sp>
      <p:sp>
        <p:nvSpPr>
          <p:cNvPr id="18" name="Text 16"/>
          <p:cNvSpPr/>
          <p:nvPr/>
        </p:nvSpPr>
        <p:spPr>
          <a:xfrm>
            <a:off x="475488" y="4078224"/>
            <a:ext cx="5266944" cy="32918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The Fix: Retinal-Disc Mask </a:t>
            </a:r>
            <a:endParaRPr lang="en-US" sz="1300" dirty="0"/>
          </a:p>
        </p:txBody>
      </p:sp>
      <p:sp>
        <p:nvSpPr>
          <p:cNvPr id="19" name="Text 17"/>
          <p:cNvSpPr/>
          <p:nvPr/>
        </p:nvSpPr>
        <p:spPr>
          <a:xfrm>
            <a:off x="475488" y="4535424"/>
            <a:ext cx="5266944" cy="1508760"/>
          </a:xfrm>
          <a:prstGeom prst="rect">
            <a:avLst/>
          </a:prstGeom>
          <a:noFill/>
          <a:ln/>
        </p:spPr>
        <p:txBody>
          <a:bodyPr wrap="square" rtlCol="0" anchor="t"/>
          <a:lstStyle/>
          <a:p>
            <a:r>
              <a:rPr lang="en-US" sz="1150" dirty="0"/>
              <a:t>Apply the same retinal-disc mask to both Grad-CAM and SHAP before computing any XAI metric. This removes corner artefacts fairly for both methods. </a:t>
            </a:r>
            <a:r>
              <a:rPr lang="en-US" sz="1150" dirty="0">
                <a:solidFill>
                  <a:srgbClr val="1E293B"/>
                </a:solidFill>
                <a:latin typeface="Calibri" pitchFamily="34" charset="0"/>
                <a:ea typeface="Calibri" pitchFamily="34" charset="-122"/>
                <a:cs typeface="Calibri" pitchFamily="34" charset="-120"/>
              </a:rPr>
              <a:t>Mask (radius = 0.50 × min(H,W)) to both maps before any metric: </a:t>
            </a:r>
            <a:r>
              <a:rPr lang="en-US" sz="1150" dirty="0" err="1">
                <a:solidFill>
                  <a:srgbClr val="1E293B"/>
                </a:solidFill>
                <a:latin typeface="Calibri" pitchFamily="34" charset="0"/>
                <a:ea typeface="Calibri" pitchFamily="34" charset="-122"/>
                <a:cs typeface="Calibri" pitchFamily="34" charset="-120"/>
              </a:rPr>
              <a:t>Ẽ</a:t>
            </a:r>
            <a:r>
              <a:rPr lang="en-US" sz="1150" dirty="0">
                <a:solidFill>
                  <a:srgbClr val="1E293B"/>
                </a:solidFill>
                <a:latin typeface="Calibri" pitchFamily="34" charset="0"/>
                <a:ea typeface="Calibri" pitchFamily="34" charset="-122"/>
                <a:cs typeface="Calibri" pitchFamily="34" charset="-120"/>
              </a:rPr>
              <a:t>(Heatmap) = M ⊙ E_cam and </a:t>
            </a:r>
            <a:r>
              <a:rPr lang="en-US" sz="1150" dirty="0" err="1">
                <a:solidFill>
                  <a:srgbClr val="1E293B"/>
                </a:solidFill>
                <a:latin typeface="Calibri" pitchFamily="34" charset="0"/>
                <a:ea typeface="Calibri" pitchFamily="34" charset="-122"/>
                <a:cs typeface="Calibri" pitchFamily="34" charset="-120"/>
              </a:rPr>
              <a:t>φ</a:t>
            </a:r>
            <a:r>
              <a:rPr lang="en-US" sz="1150" dirty="0">
                <a:solidFill>
                  <a:srgbClr val="1E293B"/>
                </a:solidFill>
                <a:latin typeface="Calibri" pitchFamily="34" charset="0"/>
                <a:ea typeface="Calibri" pitchFamily="34" charset="-122"/>
                <a:cs typeface="Calibri" pitchFamily="34" charset="-120"/>
              </a:rPr>
              <a:t>̃ (</a:t>
            </a:r>
            <a:r>
              <a:rPr lang="en-US" sz="1150" dirty="0" err="1">
                <a:solidFill>
                  <a:srgbClr val="1E293B"/>
                </a:solidFill>
                <a:latin typeface="Calibri" pitchFamily="34" charset="0"/>
                <a:ea typeface="Calibri" pitchFamily="34" charset="-122"/>
                <a:cs typeface="Calibri" pitchFamily="34" charset="-120"/>
              </a:rPr>
              <a:t>AttributionMap</a:t>
            </a:r>
            <a:r>
              <a:rPr lang="en-US" sz="1150" dirty="0">
                <a:solidFill>
                  <a:srgbClr val="1E293B"/>
                </a:solidFill>
                <a:latin typeface="Calibri" pitchFamily="34" charset="0"/>
                <a:ea typeface="Calibri" pitchFamily="34" charset="-122"/>
                <a:cs typeface="Calibri" pitchFamily="34" charset="-120"/>
              </a:rPr>
              <a:t>) = M ⊙ φ_shap. </a:t>
            </a:r>
          </a:p>
          <a:p>
            <a:r>
              <a:rPr lang="en-US" sz="1150" dirty="0">
                <a:solidFill>
                  <a:srgbClr val="1E293B"/>
                </a:solidFill>
                <a:latin typeface="Calibri" pitchFamily="34" charset="0"/>
                <a:ea typeface="Calibri" pitchFamily="34" charset="-122"/>
                <a:cs typeface="Calibri" pitchFamily="34" charset="-120"/>
              </a:rPr>
              <a:t>Numerically unchanged for SHAP (corners = constant in all SHAP inputs).</a:t>
            </a:r>
            <a:endParaRPr lang="en-US" sz="1150" dirty="0"/>
          </a:p>
        </p:txBody>
      </p:sp>
      <p:sp>
        <p:nvSpPr>
          <p:cNvPr id="20" name="Shape 18"/>
          <p:cNvSpPr/>
          <p:nvPr/>
        </p:nvSpPr>
        <p:spPr>
          <a:xfrm>
            <a:off x="6126480" y="4023360"/>
            <a:ext cx="5486400" cy="2103120"/>
          </a:xfrm>
          <a:prstGeom prst="rect">
            <a:avLst/>
          </a:prstGeom>
          <a:solidFill>
            <a:srgbClr val="F0FFF4"/>
          </a:solidFill>
          <a:ln w="19050">
            <a:solidFill>
              <a:srgbClr val="16A34A"/>
            </a:solidFill>
            <a:prstDash val="solid"/>
          </a:ln>
        </p:spPr>
        <p:txBody>
          <a:bodyPr/>
          <a:lstStyle/>
          <a:p>
            <a:endParaRPr lang="ar-SA"/>
          </a:p>
        </p:txBody>
      </p:sp>
      <p:sp>
        <p:nvSpPr>
          <p:cNvPr id="21" name="Shape 19"/>
          <p:cNvSpPr/>
          <p:nvPr/>
        </p:nvSpPr>
        <p:spPr>
          <a:xfrm>
            <a:off x="6126480" y="4023360"/>
            <a:ext cx="5486400" cy="420624"/>
          </a:xfrm>
          <a:prstGeom prst="rect">
            <a:avLst/>
          </a:prstGeom>
          <a:solidFill>
            <a:srgbClr val="16A34A"/>
          </a:solidFill>
          <a:ln w="12700">
            <a:solidFill>
              <a:srgbClr val="16A34A"/>
            </a:solidFill>
            <a:prstDash val="solid"/>
          </a:ln>
        </p:spPr>
        <p:txBody>
          <a:bodyPr/>
          <a:lstStyle/>
          <a:p>
            <a:endParaRPr lang="ar-SA"/>
          </a:p>
        </p:txBody>
      </p:sp>
      <p:sp>
        <p:nvSpPr>
          <p:cNvPr id="22" name="Text 20"/>
          <p:cNvSpPr/>
          <p:nvPr/>
        </p:nvSpPr>
        <p:spPr>
          <a:xfrm>
            <a:off x="6236208" y="4078224"/>
            <a:ext cx="5266944" cy="32918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Result After Correction</a:t>
            </a:r>
            <a:endParaRPr lang="en-US" sz="1300" dirty="0"/>
          </a:p>
        </p:txBody>
      </p:sp>
      <p:sp>
        <p:nvSpPr>
          <p:cNvPr id="23" name="Text 21"/>
          <p:cNvSpPr/>
          <p:nvPr/>
        </p:nvSpPr>
        <p:spPr>
          <a:xfrm>
            <a:off x="6236208" y="4535424"/>
            <a:ext cx="5266944" cy="1508760"/>
          </a:xfrm>
          <a:prstGeom prst="rect">
            <a:avLst/>
          </a:prstGeom>
          <a:noFill/>
          <a:ln/>
        </p:spPr>
        <p:txBody>
          <a:bodyPr wrap="square" rtlCol="0" anchor="t"/>
          <a:lstStyle/>
          <a:p>
            <a:r>
              <a:rPr lang="en-US" sz="1150" dirty="0"/>
              <a:t>After correction, Grad-CAM’s border ratio improves to 0.206, lower than SHAP’s 0.234, so Grad-CAM becomes better on localization.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0D2B55"/>
          </a:solidFill>
          <a:ln w="12700">
            <a:solidFill>
              <a:srgbClr val="0D2B55"/>
            </a:solidFill>
            <a:prstDash val="solid"/>
          </a:ln>
        </p:spPr>
        <p:txBody>
          <a:bodyPr/>
          <a:lstStyle/>
          <a:p>
            <a:endParaRPr lang="ar-SA"/>
          </a:p>
        </p:txBody>
      </p:sp>
      <p:sp>
        <p:nvSpPr>
          <p:cNvPr id="3" name="Text 1"/>
          <p:cNvSpPr/>
          <p:nvPr/>
        </p:nvSpPr>
        <p:spPr>
          <a:xfrm>
            <a:off x="457200" y="128016"/>
            <a:ext cx="11247120" cy="65836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Evaluation Metrics</a:t>
            </a:r>
            <a:endParaRPr lang="en-US" sz="2600" dirty="0"/>
          </a:p>
        </p:txBody>
      </p:sp>
      <p:sp>
        <p:nvSpPr>
          <p:cNvPr id="4" name="Text 2"/>
          <p:cNvSpPr/>
          <p:nvPr/>
        </p:nvSpPr>
        <p:spPr>
          <a:xfrm>
            <a:off x="365760" y="1024128"/>
            <a:ext cx="5577840" cy="384048"/>
          </a:xfrm>
          <a:prstGeom prst="rect">
            <a:avLst/>
          </a:prstGeom>
          <a:noFill/>
          <a:ln/>
        </p:spPr>
        <p:txBody>
          <a:bodyPr wrap="square" rtlCol="0" anchor="ctr"/>
          <a:lstStyle/>
          <a:p>
            <a:pPr marL="0" indent="0">
              <a:buNone/>
            </a:pPr>
            <a:r>
              <a:rPr lang="en-US" sz="1400" b="1" dirty="0">
                <a:solidFill>
                  <a:srgbClr val="0D2B55"/>
                </a:solidFill>
                <a:latin typeface="Calibri" pitchFamily="34" charset="0"/>
                <a:ea typeface="Calibri" pitchFamily="34" charset="-122"/>
                <a:cs typeface="Calibri" pitchFamily="34" charset="-120"/>
              </a:rPr>
              <a:t>A  Classification &amp; Calibration</a:t>
            </a:r>
            <a:endParaRPr lang="en-US" sz="1400" dirty="0"/>
          </a:p>
        </p:txBody>
      </p:sp>
      <p:sp>
        <p:nvSpPr>
          <p:cNvPr id="5" name="Shape 3"/>
          <p:cNvSpPr/>
          <p:nvPr/>
        </p:nvSpPr>
        <p:spPr>
          <a:xfrm>
            <a:off x="365760" y="1481328"/>
            <a:ext cx="5532120" cy="896112"/>
          </a:xfrm>
          <a:prstGeom prst="rect">
            <a:avLst/>
          </a:prstGeom>
          <a:solidFill>
            <a:srgbClr val="EBF5FB"/>
          </a:solidFill>
          <a:ln w="12700">
            <a:solidFill>
              <a:srgbClr val="EBF5FB"/>
            </a:solidFill>
            <a:prstDash val="solid"/>
          </a:ln>
        </p:spPr>
        <p:txBody>
          <a:bodyPr/>
          <a:lstStyle/>
          <a:p>
            <a:endParaRPr lang="ar-SA"/>
          </a:p>
        </p:txBody>
      </p:sp>
      <p:sp>
        <p:nvSpPr>
          <p:cNvPr id="6" name="Shape 4"/>
          <p:cNvSpPr/>
          <p:nvPr/>
        </p:nvSpPr>
        <p:spPr>
          <a:xfrm>
            <a:off x="365760" y="1481328"/>
            <a:ext cx="201168" cy="896112"/>
          </a:xfrm>
          <a:prstGeom prst="rect">
            <a:avLst/>
          </a:prstGeom>
          <a:solidFill>
            <a:srgbClr val="0D2B55"/>
          </a:solidFill>
          <a:ln w="12700">
            <a:solidFill>
              <a:srgbClr val="0D2B55"/>
            </a:solidFill>
            <a:prstDash val="solid"/>
          </a:ln>
        </p:spPr>
        <p:txBody>
          <a:bodyPr/>
          <a:lstStyle/>
          <a:p>
            <a:endParaRPr lang="ar-SA"/>
          </a:p>
        </p:txBody>
      </p:sp>
      <p:sp>
        <p:nvSpPr>
          <p:cNvPr id="7" name="Text 5"/>
          <p:cNvSpPr/>
          <p:nvPr/>
        </p:nvSpPr>
        <p:spPr>
          <a:xfrm>
            <a:off x="640080" y="1536192"/>
            <a:ext cx="5120640" cy="347472"/>
          </a:xfrm>
          <a:prstGeom prst="rect">
            <a:avLst/>
          </a:prstGeom>
          <a:noFill/>
          <a:ln/>
        </p:spPr>
        <p:txBody>
          <a:bodyPr wrap="square" rtlCol="0" anchor="ctr"/>
          <a:lstStyle/>
          <a:p>
            <a:pPr marL="0" indent="0">
              <a:buNone/>
            </a:pPr>
            <a:r>
              <a:rPr lang="en-US" sz="1250" b="1" dirty="0">
                <a:solidFill>
                  <a:srgbClr val="0D2B55"/>
                </a:solidFill>
                <a:latin typeface="Calibri" pitchFamily="34" charset="0"/>
                <a:ea typeface="Calibri" pitchFamily="34" charset="-122"/>
                <a:cs typeface="Calibri" pitchFamily="34" charset="-120"/>
              </a:rPr>
              <a:t>Accuracy</a:t>
            </a:r>
            <a:endParaRPr lang="en-US" sz="1250" dirty="0"/>
          </a:p>
        </p:txBody>
      </p:sp>
      <p:sp>
        <p:nvSpPr>
          <p:cNvPr id="8" name="Text 6"/>
          <p:cNvSpPr/>
          <p:nvPr/>
        </p:nvSpPr>
        <p:spPr>
          <a:xfrm>
            <a:off x="640080" y="1883664"/>
            <a:ext cx="5120640" cy="43891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Overall fraction of correctly classified images on the 550-image test set</a:t>
            </a:r>
            <a:endParaRPr lang="en-US" sz="1100" dirty="0"/>
          </a:p>
        </p:txBody>
      </p:sp>
      <p:sp>
        <p:nvSpPr>
          <p:cNvPr id="9" name="Shape 7"/>
          <p:cNvSpPr/>
          <p:nvPr/>
        </p:nvSpPr>
        <p:spPr>
          <a:xfrm>
            <a:off x="365760" y="2487168"/>
            <a:ext cx="5532120" cy="896112"/>
          </a:xfrm>
          <a:prstGeom prst="rect">
            <a:avLst/>
          </a:prstGeom>
          <a:solidFill>
            <a:srgbClr val="EBF5FB"/>
          </a:solidFill>
          <a:ln w="12700">
            <a:solidFill>
              <a:srgbClr val="EBF5FB"/>
            </a:solidFill>
            <a:prstDash val="solid"/>
          </a:ln>
        </p:spPr>
        <p:txBody>
          <a:bodyPr/>
          <a:lstStyle/>
          <a:p>
            <a:endParaRPr lang="ar-SA"/>
          </a:p>
        </p:txBody>
      </p:sp>
      <p:sp>
        <p:nvSpPr>
          <p:cNvPr id="10" name="Shape 8"/>
          <p:cNvSpPr/>
          <p:nvPr/>
        </p:nvSpPr>
        <p:spPr>
          <a:xfrm>
            <a:off x="365760" y="2487168"/>
            <a:ext cx="201168" cy="896112"/>
          </a:xfrm>
          <a:prstGeom prst="rect">
            <a:avLst/>
          </a:prstGeom>
          <a:solidFill>
            <a:srgbClr val="028090"/>
          </a:solidFill>
          <a:ln w="12700">
            <a:solidFill>
              <a:srgbClr val="028090"/>
            </a:solidFill>
            <a:prstDash val="solid"/>
          </a:ln>
        </p:spPr>
        <p:txBody>
          <a:bodyPr/>
          <a:lstStyle/>
          <a:p>
            <a:endParaRPr lang="ar-SA"/>
          </a:p>
        </p:txBody>
      </p:sp>
      <p:sp>
        <p:nvSpPr>
          <p:cNvPr id="11" name="Text 9"/>
          <p:cNvSpPr/>
          <p:nvPr/>
        </p:nvSpPr>
        <p:spPr>
          <a:xfrm>
            <a:off x="640080" y="2542032"/>
            <a:ext cx="5120640" cy="347472"/>
          </a:xfrm>
          <a:prstGeom prst="rect">
            <a:avLst/>
          </a:prstGeom>
          <a:noFill/>
          <a:ln/>
        </p:spPr>
        <p:txBody>
          <a:bodyPr wrap="square" rtlCol="0" anchor="ctr"/>
          <a:lstStyle/>
          <a:p>
            <a:pPr marL="0" indent="0">
              <a:buNone/>
            </a:pPr>
            <a:r>
              <a:rPr lang="en-US" sz="1250" b="1" dirty="0">
                <a:solidFill>
                  <a:srgbClr val="028090"/>
                </a:solidFill>
                <a:latin typeface="Calibri" pitchFamily="34" charset="0"/>
                <a:ea typeface="Calibri" pitchFamily="34" charset="-122"/>
                <a:cs typeface="Calibri" pitchFamily="34" charset="-120"/>
              </a:rPr>
              <a:t>Macro F1</a:t>
            </a:r>
            <a:endParaRPr lang="en-US" sz="1250" dirty="0"/>
          </a:p>
        </p:txBody>
      </p:sp>
      <p:sp>
        <p:nvSpPr>
          <p:cNvPr id="12" name="Text 10"/>
          <p:cNvSpPr/>
          <p:nvPr/>
        </p:nvSpPr>
        <p:spPr>
          <a:xfrm>
            <a:off x="640080" y="2889504"/>
            <a:ext cx="5120640" cy="43891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Unweighted mean of per-class F1 scores — treats all 5 DR grades equally</a:t>
            </a:r>
            <a:endParaRPr lang="en-US" sz="1100" dirty="0"/>
          </a:p>
        </p:txBody>
      </p:sp>
      <p:sp>
        <p:nvSpPr>
          <p:cNvPr id="13" name="Shape 11"/>
          <p:cNvSpPr/>
          <p:nvPr/>
        </p:nvSpPr>
        <p:spPr>
          <a:xfrm>
            <a:off x="365760" y="3493008"/>
            <a:ext cx="5532120" cy="896112"/>
          </a:xfrm>
          <a:prstGeom prst="rect">
            <a:avLst/>
          </a:prstGeom>
          <a:solidFill>
            <a:srgbClr val="EBF5FB"/>
          </a:solidFill>
          <a:ln w="12700">
            <a:solidFill>
              <a:srgbClr val="EBF5FB"/>
            </a:solidFill>
            <a:prstDash val="solid"/>
          </a:ln>
        </p:spPr>
        <p:txBody>
          <a:bodyPr/>
          <a:lstStyle/>
          <a:p>
            <a:endParaRPr lang="ar-SA"/>
          </a:p>
        </p:txBody>
      </p:sp>
      <p:sp>
        <p:nvSpPr>
          <p:cNvPr id="14" name="Shape 12"/>
          <p:cNvSpPr/>
          <p:nvPr/>
        </p:nvSpPr>
        <p:spPr>
          <a:xfrm>
            <a:off x="365760" y="3493008"/>
            <a:ext cx="201168" cy="896112"/>
          </a:xfrm>
          <a:prstGeom prst="rect">
            <a:avLst/>
          </a:prstGeom>
          <a:solidFill>
            <a:srgbClr val="1B6CA8"/>
          </a:solidFill>
          <a:ln w="12700">
            <a:solidFill>
              <a:srgbClr val="1B6CA8"/>
            </a:solidFill>
            <a:prstDash val="solid"/>
          </a:ln>
        </p:spPr>
        <p:txBody>
          <a:bodyPr/>
          <a:lstStyle/>
          <a:p>
            <a:endParaRPr lang="ar-SA"/>
          </a:p>
        </p:txBody>
      </p:sp>
      <p:sp>
        <p:nvSpPr>
          <p:cNvPr id="15" name="Text 13"/>
          <p:cNvSpPr/>
          <p:nvPr/>
        </p:nvSpPr>
        <p:spPr>
          <a:xfrm>
            <a:off x="640080" y="3547872"/>
            <a:ext cx="5120640" cy="347472"/>
          </a:xfrm>
          <a:prstGeom prst="rect">
            <a:avLst/>
          </a:prstGeom>
          <a:noFill/>
          <a:ln/>
        </p:spPr>
        <p:txBody>
          <a:bodyPr wrap="square" rtlCol="0" anchor="ctr"/>
          <a:lstStyle/>
          <a:p>
            <a:pPr marL="0" indent="0">
              <a:buNone/>
            </a:pPr>
            <a:r>
              <a:rPr lang="en-US" sz="1250" b="1" dirty="0">
                <a:solidFill>
                  <a:srgbClr val="1B6CA8"/>
                </a:solidFill>
                <a:latin typeface="Calibri" pitchFamily="34" charset="0"/>
                <a:ea typeface="Calibri" pitchFamily="34" charset="-122"/>
                <a:cs typeface="Calibri" pitchFamily="34" charset="-120"/>
              </a:rPr>
              <a:t>QWK</a:t>
            </a:r>
            <a:endParaRPr lang="en-US" sz="1250" dirty="0"/>
          </a:p>
        </p:txBody>
      </p:sp>
      <p:sp>
        <p:nvSpPr>
          <p:cNvPr id="16" name="Text 14"/>
          <p:cNvSpPr/>
          <p:nvPr/>
        </p:nvSpPr>
        <p:spPr>
          <a:xfrm>
            <a:off x="640080" y="3895344"/>
            <a:ext cx="5120640" cy="43891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Quadratic Weighted Kappa — penalises distant ordinal errors more than near ones; key metric for DR grading</a:t>
            </a:r>
            <a:endParaRPr lang="en-US" sz="1100" dirty="0"/>
          </a:p>
        </p:txBody>
      </p:sp>
      <p:sp>
        <p:nvSpPr>
          <p:cNvPr id="17" name="Shape 15"/>
          <p:cNvSpPr/>
          <p:nvPr/>
        </p:nvSpPr>
        <p:spPr>
          <a:xfrm>
            <a:off x="365760" y="4498848"/>
            <a:ext cx="5532120" cy="896112"/>
          </a:xfrm>
          <a:prstGeom prst="rect">
            <a:avLst/>
          </a:prstGeom>
          <a:solidFill>
            <a:srgbClr val="EBF5FB"/>
          </a:solidFill>
          <a:ln w="12700">
            <a:solidFill>
              <a:srgbClr val="EBF5FB"/>
            </a:solidFill>
            <a:prstDash val="solid"/>
          </a:ln>
        </p:spPr>
        <p:txBody>
          <a:bodyPr/>
          <a:lstStyle/>
          <a:p>
            <a:endParaRPr lang="ar-SA"/>
          </a:p>
        </p:txBody>
      </p:sp>
      <p:sp>
        <p:nvSpPr>
          <p:cNvPr id="18" name="Shape 16"/>
          <p:cNvSpPr/>
          <p:nvPr/>
        </p:nvSpPr>
        <p:spPr>
          <a:xfrm>
            <a:off x="365760" y="4498848"/>
            <a:ext cx="201168" cy="896112"/>
          </a:xfrm>
          <a:prstGeom prst="rect">
            <a:avLst/>
          </a:prstGeom>
          <a:solidFill>
            <a:srgbClr val="16A34A"/>
          </a:solidFill>
          <a:ln w="12700">
            <a:solidFill>
              <a:srgbClr val="16A34A"/>
            </a:solidFill>
            <a:prstDash val="solid"/>
          </a:ln>
        </p:spPr>
        <p:txBody>
          <a:bodyPr/>
          <a:lstStyle/>
          <a:p>
            <a:endParaRPr lang="ar-SA"/>
          </a:p>
        </p:txBody>
      </p:sp>
      <p:sp>
        <p:nvSpPr>
          <p:cNvPr id="19" name="Text 17"/>
          <p:cNvSpPr/>
          <p:nvPr/>
        </p:nvSpPr>
        <p:spPr>
          <a:xfrm>
            <a:off x="640080" y="4553712"/>
            <a:ext cx="5120640" cy="347472"/>
          </a:xfrm>
          <a:prstGeom prst="rect">
            <a:avLst/>
          </a:prstGeom>
          <a:noFill/>
          <a:ln/>
        </p:spPr>
        <p:txBody>
          <a:bodyPr wrap="square" rtlCol="0" anchor="ctr"/>
          <a:lstStyle/>
          <a:p>
            <a:pPr marL="0" indent="0">
              <a:buNone/>
            </a:pPr>
            <a:r>
              <a:rPr lang="en-US" sz="1250" b="1" dirty="0">
                <a:solidFill>
                  <a:srgbClr val="16A34A"/>
                </a:solidFill>
                <a:latin typeface="Calibri" pitchFamily="34" charset="0"/>
                <a:ea typeface="Calibri" pitchFamily="34" charset="-122"/>
                <a:cs typeface="Calibri" pitchFamily="34" charset="-120"/>
              </a:rPr>
              <a:t>ECE</a:t>
            </a:r>
            <a:endParaRPr lang="en-US" sz="1250" dirty="0"/>
          </a:p>
        </p:txBody>
      </p:sp>
      <p:sp>
        <p:nvSpPr>
          <p:cNvPr id="20" name="Text 18"/>
          <p:cNvSpPr/>
          <p:nvPr/>
        </p:nvSpPr>
        <p:spPr>
          <a:xfrm>
            <a:off x="640080" y="4901184"/>
            <a:ext cx="5120640" cy="43891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Expected Calibration Error — measures how well confidence probabilities match true accuracy; reduced via temperature scaling</a:t>
            </a:r>
            <a:endParaRPr lang="en-US" sz="1100" dirty="0"/>
          </a:p>
        </p:txBody>
      </p:sp>
      <p:sp>
        <p:nvSpPr>
          <p:cNvPr id="21" name="Text 19"/>
          <p:cNvSpPr/>
          <p:nvPr/>
        </p:nvSpPr>
        <p:spPr>
          <a:xfrm>
            <a:off x="6217920" y="1024128"/>
            <a:ext cx="5577840" cy="384048"/>
          </a:xfrm>
          <a:prstGeom prst="rect">
            <a:avLst/>
          </a:prstGeom>
          <a:noFill/>
          <a:ln/>
        </p:spPr>
        <p:txBody>
          <a:bodyPr wrap="square" rtlCol="0" anchor="ctr"/>
          <a:lstStyle/>
          <a:p>
            <a:pPr marL="0" indent="0">
              <a:buNone/>
            </a:pPr>
            <a:r>
              <a:rPr lang="en-US" sz="1400" b="1" dirty="0">
                <a:solidFill>
                  <a:srgbClr val="0D2B55"/>
                </a:solidFill>
                <a:latin typeface="Calibri" pitchFamily="34" charset="0"/>
                <a:ea typeface="Calibri" pitchFamily="34" charset="-122"/>
                <a:cs typeface="Calibri" pitchFamily="34" charset="-120"/>
              </a:rPr>
              <a:t>B  XAI Explanation Quality</a:t>
            </a:r>
            <a:endParaRPr lang="en-US" sz="1400" dirty="0"/>
          </a:p>
        </p:txBody>
      </p:sp>
      <p:sp>
        <p:nvSpPr>
          <p:cNvPr id="22" name="Shape 20"/>
          <p:cNvSpPr/>
          <p:nvPr/>
        </p:nvSpPr>
        <p:spPr>
          <a:xfrm>
            <a:off x="6217920" y="1481328"/>
            <a:ext cx="5532120" cy="1170432"/>
          </a:xfrm>
          <a:prstGeom prst="rect">
            <a:avLst/>
          </a:prstGeom>
          <a:solidFill>
            <a:srgbClr val="EBF5FB"/>
          </a:solidFill>
          <a:ln w="12700">
            <a:solidFill>
              <a:srgbClr val="EBF5FB"/>
            </a:solidFill>
            <a:prstDash val="solid"/>
          </a:ln>
        </p:spPr>
        <p:txBody>
          <a:bodyPr/>
          <a:lstStyle/>
          <a:p>
            <a:endParaRPr lang="ar-SA"/>
          </a:p>
        </p:txBody>
      </p:sp>
      <p:sp>
        <p:nvSpPr>
          <p:cNvPr id="23" name="Shape 21"/>
          <p:cNvSpPr/>
          <p:nvPr/>
        </p:nvSpPr>
        <p:spPr>
          <a:xfrm>
            <a:off x="6217920" y="1481328"/>
            <a:ext cx="201168" cy="1170432"/>
          </a:xfrm>
          <a:prstGeom prst="rect">
            <a:avLst/>
          </a:prstGeom>
          <a:solidFill>
            <a:srgbClr val="E84855"/>
          </a:solidFill>
          <a:ln w="12700">
            <a:solidFill>
              <a:srgbClr val="E84855"/>
            </a:solidFill>
            <a:prstDash val="solid"/>
          </a:ln>
        </p:spPr>
        <p:txBody>
          <a:bodyPr/>
          <a:lstStyle/>
          <a:p>
            <a:endParaRPr lang="ar-SA"/>
          </a:p>
        </p:txBody>
      </p:sp>
      <p:sp>
        <p:nvSpPr>
          <p:cNvPr id="24" name="Text 22"/>
          <p:cNvSpPr/>
          <p:nvPr/>
        </p:nvSpPr>
        <p:spPr>
          <a:xfrm>
            <a:off x="6492240" y="1536192"/>
            <a:ext cx="5120640" cy="329184"/>
          </a:xfrm>
          <a:prstGeom prst="rect">
            <a:avLst/>
          </a:prstGeom>
          <a:noFill/>
          <a:ln/>
        </p:spPr>
        <p:txBody>
          <a:bodyPr wrap="square" rtlCol="0" anchor="ctr"/>
          <a:lstStyle/>
          <a:p>
            <a:pPr marL="0" indent="0">
              <a:buNone/>
            </a:pPr>
            <a:r>
              <a:rPr lang="en-US" sz="1250" b="1" dirty="0">
                <a:solidFill>
                  <a:srgbClr val="E84855"/>
                </a:solidFill>
                <a:latin typeface="Calibri" pitchFamily="34" charset="0"/>
                <a:ea typeface="Calibri" pitchFamily="34" charset="-122"/>
                <a:cs typeface="Calibri" pitchFamily="34" charset="-120"/>
              </a:rPr>
              <a:t>Border Ratio ↓</a:t>
            </a:r>
            <a:endParaRPr lang="en-US" sz="1250" dirty="0"/>
          </a:p>
        </p:txBody>
      </p:sp>
      <p:sp>
        <p:nvSpPr>
          <p:cNvPr id="25" name="Text 23"/>
          <p:cNvSpPr/>
          <p:nvPr/>
        </p:nvSpPr>
        <p:spPr>
          <a:xfrm>
            <a:off x="6492240" y="1865376"/>
            <a:ext cx="5120640" cy="274320"/>
          </a:xfrm>
          <a:prstGeom prst="rect">
            <a:avLst/>
          </a:prstGeom>
          <a:noFill/>
          <a:ln/>
        </p:spPr>
        <p:txBody>
          <a:bodyPr wrap="square" rtlCol="0" anchor="ctr"/>
          <a:lstStyle/>
          <a:p>
            <a:r>
              <a:rPr lang="en-US" sz="1000" dirty="0"/>
              <a:t>BR = total attribution inside outer 10% border</a:t>
            </a:r>
            <a:endParaRPr lang="en-US" sz="950" dirty="0">
              <a:solidFill>
                <a:srgbClr val="0D2B55"/>
              </a:solidFill>
              <a:latin typeface="Consolas" pitchFamily="34" charset="0"/>
              <a:ea typeface="Consolas" pitchFamily="34" charset="-122"/>
              <a:cs typeface="Consolas" pitchFamily="34" charset="-120"/>
            </a:endParaRPr>
          </a:p>
        </p:txBody>
      </p:sp>
      <p:sp>
        <p:nvSpPr>
          <p:cNvPr id="26" name="Text 24"/>
          <p:cNvSpPr/>
          <p:nvPr/>
        </p:nvSpPr>
        <p:spPr>
          <a:xfrm>
            <a:off x="6492240" y="2139696"/>
            <a:ext cx="5120640" cy="493776"/>
          </a:xfrm>
          <a:prstGeom prst="rect">
            <a:avLst/>
          </a:prstGeom>
          <a:noFill/>
          <a:ln/>
        </p:spPr>
        <p:txBody>
          <a:bodyPr wrap="square" rtlCol="0" anchor="ctr"/>
          <a:lstStyle/>
          <a:p>
            <a:r>
              <a:rPr lang="en-US" sz="1050" dirty="0"/>
              <a:t>Fraction of attribution mass in the outer 10% image border. Lower is better. Pass threshold: BR ≤ 0.25.</a:t>
            </a:r>
          </a:p>
        </p:txBody>
      </p:sp>
      <p:sp>
        <p:nvSpPr>
          <p:cNvPr id="27" name="Shape 25"/>
          <p:cNvSpPr/>
          <p:nvPr/>
        </p:nvSpPr>
        <p:spPr>
          <a:xfrm>
            <a:off x="6217920" y="2770632"/>
            <a:ext cx="5532120" cy="1170432"/>
          </a:xfrm>
          <a:prstGeom prst="rect">
            <a:avLst/>
          </a:prstGeom>
          <a:solidFill>
            <a:srgbClr val="EBF5FB"/>
          </a:solidFill>
          <a:ln w="12700">
            <a:solidFill>
              <a:srgbClr val="EBF5FB"/>
            </a:solidFill>
            <a:prstDash val="solid"/>
          </a:ln>
        </p:spPr>
        <p:txBody>
          <a:bodyPr/>
          <a:lstStyle/>
          <a:p>
            <a:endParaRPr lang="ar-SA"/>
          </a:p>
        </p:txBody>
      </p:sp>
      <p:sp>
        <p:nvSpPr>
          <p:cNvPr id="28" name="Shape 26"/>
          <p:cNvSpPr/>
          <p:nvPr/>
        </p:nvSpPr>
        <p:spPr>
          <a:xfrm>
            <a:off x="6217920" y="2770632"/>
            <a:ext cx="201168" cy="1170432"/>
          </a:xfrm>
          <a:prstGeom prst="rect">
            <a:avLst/>
          </a:prstGeom>
          <a:solidFill>
            <a:srgbClr val="16A34A"/>
          </a:solidFill>
          <a:ln w="12700">
            <a:solidFill>
              <a:srgbClr val="16A34A"/>
            </a:solidFill>
            <a:prstDash val="solid"/>
          </a:ln>
        </p:spPr>
        <p:txBody>
          <a:bodyPr/>
          <a:lstStyle/>
          <a:p>
            <a:endParaRPr lang="ar-SA"/>
          </a:p>
        </p:txBody>
      </p:sp>
      <p:sp>
        <p:nvSpPr>
          <p:cNvPr id="29" name="Text 27"/>
          <p:cNvSpPr/>
          <p:nvPr/>
        </p:nvSpPr>
        <p:spPr>
          <a:xfrm>
            <a:off x="6492240" y="2825496"/>
            <a:ext cx="5120640" cy="329184"/>
          </a:xfrm>
          <a:prstGeom prst="rect">
            <a:avLst/>
          </a:prstGeom>
          <a:noFill/>
          <a:ln/>
        </p:spPr>
        <p:txBody>
          <a:bodyPr wrap="square" rtlCol="0" anchor="ctr"/>
          <a:lstStyle/>
          <a:p>
            <a:pPr marL="0" indent="0">
              <a:buNone/>
            </a:pPr>
            <a:r>
              <a:rPr lang="en-US" sz="1250" b="1" dirty="0">
                <a:solidFill>
                  <a:srgbClr val="16A34A"/>
                </a:solidFill>
                <a:latin typeface="Calibri" pitchFamily="34" charset="0"/>
                <a:ea typeface="Calibri" pitchFamily="34" charset="-122"/>
                <a:cs typeface="Calibri" pitchFamily="34" charset="-120"/>
              </a:rPr>
              <a:t>Retina Ratio ↑</a:t>
            </a:r>
            <a:endParaRPr lang="en-US" sz="1250" dirty="0"/>
          </a:p>
        </p:txBody>
      </p:sp>
      <p:sp>
        <p:nvSpPr>
          <p:cNvPr id="30" name="Text 28"/>
          <p:cNvSpPr/>
          <p:nvPr/>
        </p:nvSpPr>
        <p:spPr>
          <a:xfrm>
            <a:off x="6492240" y="3154680"/>
            <a:ext cx="5120640" cy="274320"/>
          </a:xfrm>
          <a:prstGeom prst="rect">
            <a:avLst/>
          </a:prstGeom>
          <a:noFill/>
          <a:ln/>
        </p:spPr>
        <p:txBody>
          <a:bodyPr wrap="square" rtlCol="0" anchor="ctr"/>
          <a:lstStyle/>
          <a:p>
            <a:r>
              <a:rPr lang="en-US" sz="1000" dirty="0"/>
              <a:t>RR = total attribution inside retinal disc</a:t>
            </a:r>
            <a:endParaRPr lang="en-US" sz="950" dirty="0"/>
          </a:p>
        </p:txBody>
      </p:sp>
      <p:sp>
        <p:nvSpPr>
          <p:cNvPr id="31" name="Text 29"/>
          <p:cNvSpPr/>
          <p:nvPr/>
        </p:nvSpPr>
        <p:spPr>
          <a:xfrm>
            <a:off x="6492240" y="3429000"/>
            <a:ext cx="5120640" cy="493776"/>
          </a:xfrm>
          <a:prstGeom prst="rect">
            <a:avLst/>
          </a:prstGeom>
          <a:noFill/>
          <a:ln/>
        </p:spPr>
        <p:txBody>
          <a:bodyPr wrap="square" rtlCol="0" anchor="ctr"/>
          <a:lstStyle/>
          <a:p>
            <a:r>
              <a:rPr lang="en-US" sz="1050" dirty="0"/>
              <a:t>Fraction of attribution mass inside the retinal disc. Higher is better.</a:t>
            </a:r>
          </a:p>
        </p:txBody>
      </p:sp>
      <p:sp>
        <p:nvSpPr>
          <p:cNvPr id="32" name="Shape 30"/>
          <p:cNvSpPr/>
          <p:nvPr/>
        </p:nvSpPr>
        <p:spPr>
          <a:xfrm>
            <a:off x="6217920" y="4000243"/>
            <a:ext cx="5532120" cy="1289304"/>
          </a:xfrm>
          <a:prstGeom prst="rect">
            <a:avLst/>
          </a:prstGeom>
          <a:solidFill>
            <a:srgbClr val="EBF5FB"/>
          </a:solidFill>
          <a:ln w="12700">
            <a:solidFill>
              <a:srgbClr val="EBF5FB"/>
            </a:solidFill>
            <a:prstDash val="solid"/>
          </a:ln>
        </p:spPr>
        <p:txBody>
          <a:bodyPr/>
          <a:lstStyle/>
          <a:p>
            <a:endParaRPr lang="ar-SA"/>
          </a:p>
        </p:txBody>
      </p:sp>
      <p:sp>
        <p:nvSpPr>
          <p:cNvPr id="33" name="Shape 31"/>
          <p:cNvSpPr/>
          <p:nvPr/>
        </p:nvSpPr>
        <p:spPr>
          <a:xfrm>
            <a:off x="6217920" y="4059936"/>
            <a:ext cx="201168" cy="1170432"/>
          </a:xfrm>
          <a:prstGeom prst="rect">
            <a:avLst/>
          </a:prstGeom>
          <a:solidFill>
            <a:srgbClr val="028090"/>
          </a:solidFill>
          <a:ln w="12700">
            <a:solidFill>
              <a:srgbClr val="028090"/>
            </a:solidFill>
            <a:prstDash val="solid"/>
          </a:ln>
        </p:spPr>
        <p:txBody>
          <a:bodyPr/>
          <a:lstStyle/>
          <a:p>
            <a:endParaRPr lang="ar-SA"/>
          </a:p>
        </p:txBody>
      </p:sp>
      <p:sp>
        <p:nvSpPr>
          <p:cNvPr id="34" name="Text 32"/>
          <p:cNvSpPr/>
          <p:nvPr/>
        </p:nvSpPr>
        <p:spPr>
          <a:xfrm>
            <a:off x="6492240" y="4114800"/>
            <a:ext cx="5120640" cy="329184"/>
          </a:xfrm>
          <a:prstGeom prst="rect">
            <a:avLst/>
          </a:prstGeom>
          <a:noFill/>
          <a:ln/>
        </p:spPr>
        <p:txBody>
          <a:bodyPr wrap="square" rtlCol="0" anchor="ctr"/>
          <a:lstStyle/>
          <a:p>
            <a:pPr marL="0" indent="0">
              <a:buNone/>
            </a:pPr>
            <a:r>
              <a:rPr lang="en-US" sz="1250" b="1" dirty="0">
                <a:solidFill>
                  <a:srgbClr val="028090"/>
                </a:solidFill>
                <a:latin typeface="Calibri" pitchFamily="34" charset="0"/>
                <a:ea typeface="Calibri" pitchFamily="34" charset="-122"/>
                <a:cs typeface="Calibri" pitchFamily="34" charset="-120"/>
              </a:rPr>
              <a:t>Faithfulness Δ_k ↑</a:t>
            </a:r>
            <a:endParaRPr lang="en-US" sz="1250" dirty="0"/>
          </a:p>
        </p:txBody>
      </p:sp>
      <p:sp>
        <p:nvSpPr>
          <p:cNvPr id="35" name="Text 33"/>
          <p:cNvSpPr/>
          <p:nvPr/>
        </p:nvSpPr>
        <p:spPr>
          <a:xfrm>
            <a:off x="6492240" y="4443984"/>
            <a:ext cx="5120640" cy="274320"/>
          </a:xfrm>
          <a:prstGeom prst="rect">
            <a:avLst/>
          </a:prstGeom>
          <a:noFill/>
          <a:ln/>
        </p:spPr>
        <p:txBody>
          <a:bodyPr wrap="square" rtlCol="0" anchor="ctr"/>
          <a:lstStyle/>
          <a:p>
            <a:r>
              <a:rPr lang="el-GR" sz="1000" dirty="0"/>
              <a:t>Δ</a:t>
            </a:r>
            <a:r>
              <a:rPr lang="en-US" sz="1000" dirty="0"/>
              <a:t>k = Confidence(original) − Avg Confidence(masked top-k%)</a:t>
            </a:r>
            <a:endParaRPr lang="en-US" sz="950" dirty="0"/>
          </a:p>
        </p:txBody>
      </p:sp>
      <p:sp>
        <p:nvSpPr>
          <p:cNvPr id="36" name="Text 34"/>
          <p:cNvSpPr/>
          <p:nvPr/>
        </p:nvSpPr>
        <p:spPr>
          <a:xfrm>
            <a:off x="6492240" y="4718304"/>
            <a:ext cx="5120640" cy="493776"/>
          </a:xfrm>
          <a:prstGeom prst="rect">
            <a:avLst/>
          </a:prstGeom>
          <a:noFill/>
          <a:ln/>
        </p:spPr>
        <p:txBody>
          <a:bodyPr wrap="square" rtlCol="0" anchor="ctr"/>
          <a:lstStyle/>
          <a:p>
            <a:r>
              <a:rPr lang="en-US" sz="1050" dirty="0"/>
              <a:t>Drop in predicted-class confidence when the top-k% most important pixels are masked. Larger drop = highlighted pixels really matter. </a:t>
            </a:r>
            <a:r>
              <a:rPr lang="en-US" sz="1050" dirty="0">
                <a:solidFill>
                  <a:srgbClr val="1E293B"/>
                </a:solidFill>
                <a:latin typeface="Calibri" pitchFamily="34" charset="0"/>
                <a:ea typeface="Calibri" pitchFamily="34" charset="-122"/>
                <a:cs typeface="Calibri" pitchFamily="34" charset="-120"/>
              </a:rPr>
              <a:t> Example: </a:t>
            </a:r>
            <a:r>
              <a:rPr lang="el-GR" sz="1050" dirty="0">
                <a:solidFill>
                  <a:srgbClr val="1E293B"/>
                </a:solidFill>
                <a:latin typeface="Calibri" pitchFamily="34" charset="0"/>
                <a:ea typeface="Calibri" pitchFamily="34" charset="-122"/>
                <a:cs typeface="Calibri" pitchFamily="34" charset="-120"/>
              </a:rPr>
              <a:t>Δ 20 ​ </a:t>
            </a:r>
            <a:r>
              <a:rPr lang="en-US" sz="1050" dirty="0">
                <a:solidFill>
                  <a:srgbClr val="1E293B"/>
                </a:solidFill>
                <a:latin typeface="Calibri" pitchFamily="34" charset="0"/>
                <a:ea typeface="Calibri" pitchFamily="34" charset="-122"/>
                <a:cs typeface="Calibri" pitchFamily="34" charset="-120"/>
              </a:rPr>
              <a:t>asks, What happens when I remove the top 20%?</a:t>
            </a:r>
            <a:endParaRPr lang="en-US" sz="1050" dirty="0"/>
          </a:p>
        </p:txBody>
      </p:sp>
      <p:sp>
        <p:nvSpPr>
          <p:cNvPr id="37" name="Shape 35"/>
          <p:cNvSpPr/>
          <p:nvPr/>
        </p:nvSpPr>
        <p:spPr>
          <a:xfrm>
            <a:off x="6217920" y="5349239"/>
            <a:ext cx="5532120" cy="1289303"/>
          </a:xfrm>
          <a:prstGeom prst="rect">
            <a:avLst/>
          </a:prstGeom>
          <a:solidFill>
            <a:srgbClr val="EBF5FB"/>
          </a:solidFill>
          <a:ln w="12700">
            <a:solidFill>
              <a:srgbClr val="EBF5FB"/>
            </a:solidFill>
            <a:prstDash val="solid"/>
          </a:ln>
        </p:spPr>
        <p:txBody>
          <a:bodyPr/>
          <a:lstStyle/>
          <a:p>
            <a:endParaRPr lang="ar-SA"/>
          </a:p>
        </p:txBody>
      </p:sp>
      <p:sp>
        <p:nvSpPr>
          <p:cNvPr id="38" name="Shape 36"/>
          <p:cNvSpPr/>
          <p:nvPr/>
        </p:nvSpPr>
        <p:spPr>
          <a:xfrm>
            <a:off x="6217920" y="5349240"/>
            <a:ext cx="201168" cy="1170432"/>
          </a:xfrm>
          <a:prstGeom prst="rect">
            <a:avLst/>
          </a:prstGeom>
          <a:solidFill>
            <a:srgbClr val="7D3C98"/>
          </a:solidFill>
          <a:ln w="12700">
            <a:solidFill>
              <a:srgbClr val="7D3C98"/>
            </a:solidFill>
            <a:prstDash val="solid"/>
          </a:ln>
        </p:spPr>
        <p:txBody>
          <a:bodyPr/>
          <a:lstStyle/>
          <a:p>
            <a:endParaRPr lang="ar-SA"/>
          </a:p>
        </p:txBody>
      </p:sp>
      <p:sp>
        <p:nvSpPr>
          <p:cNvPr id="39" name="Text 37"/>
          <p:cNvSpPr/>
          <p:nvPr/>
        </p:nvSpPr>
        <p:spPr>
          <a:xfrm>
            <a:off x="6492240" y="5404104"/>
            <a:ext cx="5120640" cy="329184"/>
          </a:xfrm>
          <a:prstGeom prst="rect">
            <a:avLst/>
          </a:prstGeom>
          <a:noFill/>
          <a:ln/>
        </p:spPr>
        <p:txBody>
          <a:bodyPr wrap="square" rtlCol="0" anchor="ctr"/>
          <a:lstStyle/>
          <a:p>
            <a:pPr marL="0" indent="0">
              <a:buNone/>
            </a:pPr>
            <a:r>
              <a:rPr lang="en-US" sz="1250" b="1" dirty="0">
                <a:solidFill>
                  <a:srgbClr val="7D3C98"/>
                </a:solidFill>
                <a:latin typeface="Calibri" pitchFamily="34" charset="0"/>
                <a:ea typeface="Calibri" pitchFamily="34" charset="-122"/>
                <a:cs typeface="Calibri" pitchFamily="34" charset="-120"/>
              </a:rPr>
              <a:t>AOPC ↑</a:t>
            </a:r>
            <a:endParaRPr lang="en-US" sz="1250" dirty="0"/>
          </a:p>
        </p:txBody>
      </p:sp>
      <p:sp>
        <p:nvSpPr>
          <p:cNvPr id="40" name="Text 38"/>
          <p:cNvSpPr/>
          <p:nvPr/>
        </p:nvSpPr>
        <p:spPr>
          <a:xfrm>
            <a:off x="6492240" y="5733288"/>
            <a:ext cx="5120640" cy="274320"/>
          </a:xfrm>
          <a:prstGeom prst="rect">
            <a:avLst/>
          </a:prstGeom>
          <a:noFill/>
          <a:ln/>
        </p:spPr>
        <p:txBody>
          <a:bodyPr wrap="square" rtlCol="0" anchor="ctr"/>
          <a:lstStyle/>
          <a:p>
            <a:r>
              <a:rPr lang="en-US" sz="950" dirty="0">
                <a:solidFill>
                  <a:srgbClr val="0D2B55"/>
                </a:solidFill>
                <a:latin typeface="Consolas" pitchFamily="34" charset="0"/>
                <a:ea typeface="Consolas" pitchFamily="34" charset="-122"/>
                <a:cs typeface="Consolas" pitchFamily="34" charset="-120"/>
              </a:rPr>
              <a:t>AOPC = Average [Confidence(original) − Confidence(masked at step ℓ)]</a:t>
            </a:r>
            <a:endParaRPr lang="en-US" sz="950" dirty="0"/>
          </a:p>
        </p:txBody>
      </p:sp>
      <p:sp>
        <p:nvSpPr>
          <p:cNvPr id="41" name="Text 39"/>
          <p:cNvSpPr/>
          <p:nvPr/>
        </p:nvSpPr>
        <p:spPr>
          <a:xfrm>
            <a:off x="6492240" y="6007608"/>
            <a:ext cx="5120640" cy="493776"/>
          </a:xfrm>
          <a:prstGeom prst="rect">
            <a:avLst/>
          </a:prstGeom>
          <a:noFill/>
          <a:ln/>
        </p:spPr>
        <p:txBody>
          <a:bodyPr wrap="square" rtlCol="0" anchor="ctr"/>
          <a:lstStyle/>
          <a:p>
            <a:r>
              <a:rPr lang="en-US" sz="1050" dirty="0"/>
              <a:t>Average confidence drop as important pixels are removed step by step(</a:t>
            </a:r>
            <a:r>
              <a:rPr lang="el-GR" sz="1050" dirty="0"/>
              <a:t>Δ</a:t>
            </a:r>
            <a:r>
              <a:rPr lang="en-US" sz="1050" dirty="0"/>
              <a:t>k at 10%, 20%, and 30%). More stable than a single </a:t>
            </a:r>
            <a:r>
              <a:rPr lang="el-GR" sz="1050" dirty="0"/>
              <a:t>Δ</a:t>
            </a:r>
            <a:r>
              <a:rPr lang="en-US" sz="1050" dirty="0"/>
              <a:t>k. Example What happens overall as I keep removing the most important pixels step by step</a:t>
            </a:r>
            <a:r>
              <a:rPr lang="en-US" sz="1050" dirty="0">
                <a:solidFill>
                  <a:srgbClr val="1E293B"/>
                </a:solidFill>
                <a:latin typeface="Calibri" pitchFamily="34" charset="0"/>
                <a:ea typeface="Calibri" pitchFamily="34" charset="-122"/>
                <a:cs typeface="Calibri" pitchFamily="34" charset="-120"/>
              </a:rPr>
              <a: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0D2B55"/>
          </a:solidFill>
          <a:ln w="12700">
            <a:solidFill>
              <a:srgbClr val="0D2B55"/>
            </a:solidFill>
            <a:prstDash val="solid"/>
          </a:ln>
        </p:spPr>
        <p:txBody>
          <a:bodyPr/>
          <a:lstStyle/>
          <a:p>
            <a:endParaRPr lang="ar-SA"/>
          </a:p>
        </p:txBody>
      </p:sp>
      <p:sp>
        <p:nvSpPr>
          <p:cNvPr id="3" name="Text 1"/>
          <p:cNvSpPr/>
          <p:nvPr/>
        </p:nvSpPr>
        <p:spPr>
          <a:xfrm>
            <a:off x="457200" y="128016"/>
            <a:ext cx="11247120" cy="65836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Results &amp; Analysis: Classification Performance</a:t>
            </a:r>
            <a:endParaRPr lang="en-US" sz="2600" dirty="0"/>
          </a:p>
        </p:txBody>
      </p:sp>
      <p:sp>
        <p:nvSpPr>
          <p:cNvPr id="4" name="Shape 2"/>
          <p:cNvSpPr/>
          <p:nvPr/>
        </p:nvSpPr>
        <p:spPr>
          <a:xfrm>
            <a:off x="365760" y="1078992"/>
            <a:ext cx="2468880" cy="1097280"/>
          </a:xfrm>
          <a:prstGeom prst="rect">
            <a:avLst/>
          </a:prstGeom>
          <a:solidFill>
            <a:srgbClr val="0D2B55"/>
          </a:solidFill>
          <a:ln w="12700">
            <a:solidFill>
              <a:srgbClr val="0D2B55"/>
            </a:solidFill>
            <a:prstDash val="solid"/>
          </a:ln>
        </p:spPr>
        <p:txBody>
          <a:bodyPr/>
          <a:lstStyle/>
          <a:p>
            <a:endParaRPr lang="ar-SA"/>
          </a:p>
        </p:txBody>
      </p:sp>
      <p:sp>
        <p:nvSpPr>
          <p:cNvPr id="5" name="Shape 3"/>
          <p:cNvSpPr/>
          <p:nvPr/>
        </p:nvSpPr>
        <p:spPr>
          <a:xfrm>
            <a:off x="365760" y="1078992"/>
            <a:ext cx="2468880" cy="91440"/>
          </a:xfrm>
          <a:prstGeom prst="rect">
            <a:avLst/>
          </a:prstGeom>
          <a:solidFill>
            <a:srgbClr val="028090"/>
          </a:solidFill>
          <a:ln w="12700">
            <a:solidFill>
              <a:srgbClr val="028090"/>
            </a:solidFill>
            <a:prstDash val="solid"/>
          </a:ln>
        </p:spPr>
        <p:txBody>
          <a:bodyPr/>
          <a:lstStyle/>
          <a:p>
            <a:endParaRPr lang="ar-SA"/>
          </a:p>
        </p:txBody>
      </p:sp>
      <p:sp>
        <p:nvSpPr>
          <p:cNvPr id="6" name="Text 4"/>
          <p:cNvSpPr/>
          <p:nvPr/>
        </p:nvSpPr>
        <p:spPr>
          <a:xfrm>
            <a:off x="365760" y="1188720"/>
            <a:ext cx="2468880" cy="658368"/>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82.2%</a:t>
            </a:r>
            <a:endParaRPr lang="en-US" sz="3600" dirty="0"/>
          </a:p>
        </p:txBody>
      </p:sp>
      <p:sp>
        <p:nvSpPr>
          <p:cNvPr id="7" name="Text 5"/>
          <p:cNvSpPr/>
          <p:nvPr/>
        </p:nvSpPr>
        <p:spPr>
          <a:xfrm>
            <a:off x="365760" y="1883664"/>
            <a:ext cx="2468880" cy="256032"/>
          </a:xfrm>
          <a:prstGeom prst="rect">
            <a:avLst/>
          </a:prstGeom>
          <a:noFill/>
          <a:ln/>
        </p:spPr>
        <p:txBody>
          <a:bodyPr wrap="square" rtlCol="0" anchor="ctr"/>
          <a:lstStyle/>
          <a:p>
            <a:pPr marL="0" indent="0" algn="ctr">
              <a:buNone/>
            </a:pPr>
            <a:r>
              <a:rPr lang="en-US" sz="1000" dirty="0">
                <a:solidFill>
                  <a:srgbClr val="0FA3B1"/>
                </a:solidFill>
                <a:latin typeface="Calibri" pitchFamily="34" charset="0"/>
                <a:ea typeface="Calibri" pitchFamily="34" charset="-122"/>
                <a:cs typeface="Calibri" pitchFamily="34" charset="-120"/>
              </a:rPr>
              <a:t>Accuracy</a:t>
            </a:r>
            <a:endParaRPr lang="en-US" sz="1000" dirty="0"/>
          </a:p>
        </p:txBody>
      </p:sp>
      <p:sp>
        <p:nvSpPr>
          <p:cNvPr id="8" name="Shape 6"/>
          <p:cNvSpPr/>
          <p:nvPr/>
        </p:nvSpPr>
        <p:spPr>
          <a:xfrm>
            <a:off x="2971800" y="1078992"/>
            <a:ext cx="2468880" cy="1097280"/>
          </a:xfrm>
          <a:prstGeom prst="rect">
            <a:avLst/>
          </a:prstGeom>
          <a:solidFill>
            <a:srgbClr val="0D2B55"/>
          </a:solidFill>
          <a:ln w="12700">
            <a:solidFill>
              <a:srgbClr val="0D2B55"/>
            </a:solidFill>
            <a:prstDash val="solid"/>
          </a:ln>
        </p:spPr>
        <p:txBody>
          <a:bodyPr/>
          <a:lstStyle/>
          <a:p>
            <a:endParaRPr lang="ar-SA"/>
          </a:p>
        </p:txBody>
      </p:sp>
      <p:sp>
        <p:nvSpPr>
          <p:cNvPr id="9" name="Shape 7"/>
          <p:cNvSpPr/>
          <p:nvPr/>
        </p:nvSpPr>
        <p:spPr>
          <a:xfrm>
            <a:off x="2971800" y="1078992"/>
            <a:ext cx="2468880" cy="91440"/>
          </a:xfrm>
          <a:prstGeom prst="rect">
            <a:avLst/>
          </a:prstGeom>
          <a:solidFill>
            <a:srgbClr val="F4A261"/>
          </a:solidFill>
          <a:ln w="12700">
            <a:solidFill>
              <a:srgbClr val="F4A261"/>
            </a:solidFill>
            <a:prstDash val="solid"/>
          </a:ln>
        </p:spPr>
        <p:txBody>
          <a:bodyPr/>
          <a:lstStyle/>
          <a:p>
            <a:endParaRPr lang="ar-SA"/>
          </a:p>
        </p:txBody>
      </p:sp>
      <p:sp>
        <p:nvSpPr>
          <p:cNvPr id="10" name="Text 8"/>
          <p:cNvSpPr/>
          <p:nvPr/>
        </p:nvSpPr>
        <p:spPr>
          <a:xfrm>
            <a:off x="2971800" y="1188720"/>
            <a:ext cx="2468880" cy="658368"/>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0.896</a:t>
            </a:r>
            <a:endParaRPr lang="en-US" sz="3600" dirty="0"/>
          </a:p>
        </p:txBody>
      </p:sp>
      <p:sp>
        <p:nvSpPr>
          <p:cNvPr id="11" name="Text 9"/>
          <p:cNvSpPr/>
          <p:nvPr/>
        </p:nvSpPr>
        <p:spPr>
          <a:xfrm>
            <a:off x="2971800" y="1883664"/>
            <a:ext cx="2468880" cy="256032"/>
          </a:xfrm>
          <a:prstGeom prst="rect">
            <a:avLst/>
          </a:prstGeom>
          <a:noFill/>
          <a:ln/>
        </p:spPr>
        <p:txBody>
          <a:bodyPr wrap="square" rtlCol="0" anchor="ctr"/>
          <a:lstStyle/>
          <a:p>
            <a:pPr marL="0" indent="0" algn="ctr">
              <a:buNone/>
            </a:pPr>
            <a:r>
              <a:rPr lang="en-US" sz="1000" dirty="0">
                <a:solidFill>
                  <a:srgbClr val="0FA3B1"/>
                </a:solidFill>
                <a:latin typeface="Calibri" pitchFamily="34" charset="0"/>
                <a:ea typeface="Calibri" pitchFamily="34" charset="-122"/>
                <a:cs typeface="Calibri" pitchFamily="34" charset="-120"/>
              </a:rPr>
              <a:t>Quadratic Weighted Kappa</a:t>
            </a:r>
            <a:endParaRPr lang="en-US" sz="1000" dirty="0"/>
          </a:p>
        </p:txBody>
      </p:sp>
      <p:sp>
        <p:nvSpPr>
          <p:cNvPr id="12" name="Shape 10"/>
          <p:cNvSpPr/>
          <p:nvPr/>
        </p:nvSpPr>
        <p:spPr>
          <a:xfrm>
            <a:off x="5577840" y="1078992"/>
            <a:ext cx="2468880" cy="1097280"/>
          </a:xfrm>
          <a:prstGeom prst="rect">
            <a:avLst/>
          </a:prstGeom>
          <a:solidFill>
            <a:srgbClr val="0D2B55"/>
          </a:solidFill>
          <a:ln w="12700">
            <a:solidFill>
              <a:srgbClr val="0D2B55"/>
            </a:solidFill>
            <a:prstDash val="solid"/>
          </a:ln>
        </p:spPr>
        <p:txBody>
          <a:bodyPr/>
          <a:lstStyle/>
          <a:p>
            <a:endParaRPr lang="ar-SA"/>
          </a:p>
        </p:txBody>
      </p:sp>
      <p:sp>
        <p:nvSpPr>
          <p:cNvPr id="13" name="Shape 11"/>
          <p:cNvSpPr/>
          <p:nvPr/>
        </p:nvSpPr>
        <p:spPr>
          <a:xfrm>
            <a:off x="5577840" y="1078992"/>
            <a:ext cx="2468880" cy="91440"/>
          </a:xfrm>
          <a:prstGeom prst="rect">
            <a:avLst/>
          </a:prstGeom>
          <a:solidFill>
            <a:srgbClr val="0FA3B1"/>
          </a:solidFill>
          <a:ln w="12700">
            <a:solidFill>
              <a:srgbClr val="0FA3B1"/>
            </a:solidFill>
            <a:prstDash val="solid"/>
          </a:ln>
        </p:spPr>
        <p:txBody>
          <a:bodyPr/>
          <a:lstStyle/>
          <a:p>
            <a:endParaRPr lang="ar-SA"/>
          </a:p>
        </p:txBody>
      </p:sp>
      <p:sp>
        <p:nvSpPr>
          <p:cNvPr id="14" name="Text 12"/>
          <p:cNvSpPr/>
          <p:nvPr/>
        </p:nvSpPr>
        <p:spPr>
          <a:xfrm>
            <a:off x="5577840" y="1188720"/>
            <a:ext cx="2468880" cy="658368"/>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0.711</a:t>
            </a:r>
            <a:endParaRPr lang="en-US" sz="3600" dirty="0"/>
          </a:p>
        </p:txBody>
      </p:sp>
      <p:sp>
        <p:nvSpPr>
          <p:cNvPr id="15" name="Text 13"/>
          <p:cNvSpPr/>
          <p:nvPr/>
        </p:nvSpPr>
        <p:spPr>
          <a:xfrm>
            <a:off x="5577840" y="1883664"/>
            <a:ext cx="2468880" cy="256032"/>
          </a:xfrm>
          <a:prstGeom prst="rect">
            <a:avLst/>
          </a:prstGeom>
          <a:noFill/>
          <a:ln/>
        </p:spPr>
        <p:txBody>
          <a:bodyPr wrap="square" rtlCol="0" anchor="ctr"/>
          <a:lstStyle/>
          <a:p>
            <a:pPr marL="0" indent="0" algn="ctr">
              <a:buNone/>
            </a:pPr>
            <a:r>
              <a:rPr lang="en-US" sz="1000" dirty="0">
                <a:solidFill>
                  <a:srgbClr val="0FA3B1"/>
                </a:solidFill>
                <a:latin typeface="Calibri" pitchFamily="34" charset="0"/>
                <a:ea typeface="Calibri" pitchFamily="34" charset="-122"/>
                <a:cs typeface="Calibri" pitchFamily="34" charset="-120"/>
              </a:rPr>
              <a:t>Macro F1-Score</a:t>
            </a:r>
            <a:endParaRPr lang="en-US" sz="1000" dirty="0"/>
          </a:p>
        </p:txBody>
      </p:sp>
      <p:sp>
        <p:nvSpPr>
          <p:cNvPr id="16" name="Shape 14"/>
          <p:cNvSpPr/>
          <p:nvPr/>
        </p:nvSpPr>
        <p:spPr>
          <a:xfrm>
            <a:off x="8183880" y="1078992"/>
            <a:ext cx="2468880" cy="1097280"/>
          </a:xfrm>
          <a:prstGeom prst="rect">
            <a:avLst/>
          </a:prstGeom>
          <a:solidFill>
            <a:srgbClr val="0D2B55"/>
          </a:solidFill>
          <a:ln w="12700">
            <a:solidFill>
              <a:srgbClr val="0D2B55"/>
            </a:solidFill>
            <a:prstDash val="solid"/>
          </a:ln>
        </p:spPr>
        <p:txBody>
          <a:bodyPr/>
          <a:lstStyle/>
          <a:p>
            <a:endParaRPr lang="ar-SA"/>
          </a:p>
        </p:txBody>
      </p:sp>
      <p:sp>
        <p:nvSpPr>
          <p:cNvPr id="17" name="Shape 15"/>
          <p:cNvSpPr/>
          <p:nvPr/>
        </p:nvSpPr>
        <p:spPr>
          <a:xfrm>
            <a:off x="8183880" y="1078992"/>
            <a:ext cx="2468880" cy="91440"/>
          </a:xfrm>
          <a:prstGeom prst="rect">
            <a:avLst/>
          </a:prstGeom>
          <a:solidFill>
            <a:srgbClr val="16A34A"/>
          </a:solidFill>
          <a:ln w="12700">
            <a:solidFill>
              <a:srgbClr val="16A34A"/>
            </a:solidFill>
            <a:prstDash val="solid"/>
          </a:ln>
        </p:spPr>
        <p:txBody>
          <a:bodyPr/>
          <a:lstStyle/>
          <a:p>
            <a:endParaRPr lang="ar-SA"/>
          </a:p>
        </p:txBody>
      </p:sp>
      <p:sp>
        <p:nvSpPr>
          <p:cNvPr id="18" name="Text 16"/>
          <p:cNvSpPr/>
          <p:nvPr/>
        </p:nvSpPr>
        <p:spPr>
          <a:xfrm>
            <a:off x="8183880" y="1188720"/>
            <a:ext cx="2468880" cy="658368"/>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0.044</a:t>
            </a:r>
            <a:endParaRPr lang="en-US" sz="3600" dirty="0"/>
          </a:p>
        </p:txBody>
      </p:sp>
      <p:sp>
        <p:nvSpPr>
          <p:cNvPr id="19" name="Text 17"/>
          <p:cNvSpPr/>
          <p:nvPr/>
        </p:nvSpPr>
        <p:spPr>
          <a:xfrm>
            <a:off x="8183880" y="1883664"/>
            <a:ext cx="2468880" cy="256032"/>
          </a:xfrm>
          <a:prstGeom prst="rect">
            <a:avLst/>
          </a:prstGeom>
          <a:noFill/>
          <a:ln/>
        </p:spPr>
        <p:txBody>
          <a:bodyPr wrap="square" rtlCol="0" anchor="ctr"/>
          <a:lstStyle/>
          <a:p>
            <a:pPr marL="0" indent="0" algn="ctr">
              <a:buNone/>
            </a:pPr>
            <a:r>
              <a:rPr lang="en-US" sz="1000" dirty="0">
                <a:solidFill>
                  <a:srgbClr val="0FA3B1"/>
                </a:solidFill>
                <a:latin typeface="Calibri" pitchFamily="34" charset="0"/>
                <a:ea typeface="Calibri" pitchFamily="34" charset="-122"/>
                <a:cs typeface="Calibri" pitchFamily="34" charset="-120"/>
              </a:rPr>
              <a:t>Expected Calibration Error</a:t>
            </a:r>
            <a:endParaRPr lang="en-US" sz="1000" dirty="0"/>
          </a:p>
        </p:txBody>
      </p:sp>
      <p:pic>
        <p:nvPicPr>
          <p:cNvPr id="22" name="Image 0" descr="/mnt/user-data/uploads/figure4.png"/>
          <p:cNvPicPr>
            <a:picLocks noChangeAspect="1"/>
          </p:cNvPicPr>
          <p:nvPr/>
        </p:nvPicPr>
        <p:blipFill>
          <a:blip r:embed="rId3"/>
          <a:srcRect/>
          <a:stretch/>
        </p:blipFill>
        <p:spPr>
          <a:xfrm>
            <a:off x="365760" y="2331720"/>
            <a:ext cx="5577840" cy="4160520"/>
          </a:xfrm>
          <a:prstGeom prst="rect">
            <a:avLst/>
          </a:prstGeom>
        </p:spPr>
      </p:pic>
      <p:sp>
        <p:nvSpPr>
          <p:cNvPr id="23" name="Text 20"/>
          <p:cNvSpPr/>
          <p:nvPr/>
        </p:nvSpPr>
        <p:spPr>
          <a:xfrm>
            <a:off x="6126480" y="2331720"/>
            <a:ext cx="5669280" cy="384048"/>
          </a:xfrm>
          <a:prstGeom prst="rect">
            <a:avLst/>
          </a:prstGeom>
          <a:noFill/>
          <a:ln/>
        </p:spPr>
        <p:txBody>
          <a:bodyPr wrap="square" rtlCol="0" anchor="ctr"/>
          <a:lstStyle/>
          <a:p>
            <a:pPr marL="0" indent="0">
              <a:buNone/>
            </a:pPr>
            <a:r>
              <a:rPr lang="en-US" sz="1400" b="1" dirty="0">
                <a:solidFill>
                  <a:srgbClr val="0D2B55"/>
                </a:solidFill>
                <a:latin typeface="Calibri" pitchFamily="34" charset="0"/>
                <a:ea typeface="Calibri" pitchFamily="34" charset="-122"/>
                <a:cs typeface="Calibri" pitchFamily="34" charset="-120"/>
              </a:rPr>
              <a:t>Per-Class Performance</a:t>
            </a:r>
            <a:endParaRPr lang="en-US" sz="1400" dirty="0"/>
          </a:p>
        </p:txBody>
      </p:sp>
      <p:sp>
        <p:nvSpPr>
          <p:cNvPr id="24" name="Shape 21"/>
          <p:cNvSpPr/>
          <p:nvPr/>
        </p:nvSpPr>
        <p:spPr>
          <a:xfrm>
            <a:off x="6126480" y="2788920"/>
            <a:ext cx="1828800" cy="457200"/>
          </a:xfrm>
          <a:prstGeom prst="rect">
            <a:avLst/>
          </a:prstGeom>
          <a:solidFill>
            <a:srgbClr val="0D2B55"/>
          </a:solidFill>
          <a:ln w="12700">
            <a:solidFill>
              <a:srgbClr val="0D2B55"/>
            </a:solidFill>
            <a:prstDash val="solid"/>
          </a:ln>
        </p:spPr>
        <p:txBody>
          <a:bodyPr/>
          <a:lstStyle/>
          <a:p>
            <a:endParaRPr lang="ar-SA"/>
          </a:p>
        </p:txBody>
      </p:sp>
      <p:sp>
        <p:nvSpPr>
          <p:cNvPr id="25" name="Text 22"/>
          <p:cNvSpPr/>
          <p:nvPr/>
        </p:nvSpPr>
        <p:spPr>
          <a:xfrm>
            <a:off x="6163056" y="2834640"/>
            <a:ext cx="1755648"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Class</a:t>
            </a:r>
            <a:endParaRPr lang="en-US" sz="1100" dirty="0"/>
          </a:p>
        </p:txBody>
      </p:sp>
      <p:sp>
        <p:nvSpPr>
          <p:cNvPr id="26" name="Shape 23"/>
          <p:cNvSpPr/>
          <p:nvPr/>
        </p:nvSpPr>
        <p:spPr>
          <a:xfrm>
            <a:off x="7955280" y="2788920"/>
            <a:ext cx="868680" cy="457200"/>
          </a:xfrm>
          <a:prstGeom prst="rect">
            <a:avLst/>
          </a:prstGeom>
          <a:solidFill>
            <a:srgbClr val="0D2B55"/>
          </a:solidFill>
          <a:ln w="12700">
            <a:solidFill>
              <a:srgbClr val="0D2B55"/>
            </a:solidFill>
            <a:prstDash val="solid"/>
          </a:ln>
        </p:spPr>
        <p:txBody>
          <a:bodyPr/>
          <a:lstStyle/>
          <a:p>
            <a:endParaRPr lang="ar-SA"/>
          </a:p>
        </p:txBody>
      </p:sp>
      <p:sp>
        <p:nvSpPr>
          <p:cNvPr id="27" name="Text 24"/>
          <p:cNvSpPr/>
          <p:nvPr/>
        </p:nvSpPr>
        <p:spPr>
          <a:xfrm>
            <a:off x="7991856" y="2834640"/>
            <a:ext cx="795528"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Support</a:t>
            </a:r>
            <a:endParaRPr lang="en-US" sz="1100" dirty="0"/>
          </a:p>
        </p:txBody>
      </p:sp>
      <p:sp>
        <p:nvSpPr>
          <p:cNvPr id="28" name="Shape 25"/>
          <p:cNvSpPr/>
          <p:nvPr/>
        </p:nvSpPr>
        <p:spPr>
          <a:xfrm>
            <a:off x="8823960" y="2788920"/>
            <a:ext cx="1005840" cy="457200"/>
          </a:xfrm>
          <a:prstGeom prst="rect">
            <a:avLst/>
          </a:prstGeom>
          <a:solidFill>
            <a:srgbClr val="0D2B55"/>
          </a:solidFill>
          <a:ln w="12700">
            <a:solidFill>
              <a:srgbClr val="0D2B55"/>
            </a:solidFill>
            <a:prstDash val="solid"/>
          </a:ln>
        </p:spPr>
        <p:txBody>
          <a:bodyPr/>
          <a:lstStyle/>
          <a:p>
            <a:endParaRPr lang="ar-SA"/>
          </a:p>
        </p:txBody>
      </p:sp>
      <p:sp>
        <p:nvSpPr>
          <p:cNvPr id="29" name="Text 26"/>
          <p:cNvSpPr/>
          <p:nvPr/>
        </p:nvSpPr>
        <p:spPr>
          <a:xfrm>
            <a:off x="8860536" y="2834640"/>
            <a:ext cx="932688"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Precision</a:t>
            </a:r>
            <a:endParaRPr lang="en-US" sz="1100" dirty="0"/>
          </a:p>
        </p:txBody>
      </p:sp>
      <p:sp>
        <p:nvSpPr>
          <p:cNvPr id="30" name="Shape 27"/>
          <p:cNvSpPr/>
          <p:nvPr/>
        </p:nvSpPr>
        <p:spPr>
          <a:xfrm>
            <a:off x="9829800" y="2788920"/>
            <a:ext cx="868680" cy="457200"/>
          </a:xfrm>
          <a:prstGeom prst="rect">
            <a:avLst/>
          </a:prstGeom>
          <a:solidFill>
            <a:srgbClr val="0D2B55"/>
          </a:solidFill>
          <a:ln w="12700">
            <a:solidFill>
              <a:srgbClr val="0D2B55"/>
            </a:solidFill>
            <a:prstDash val="solid"/>
          </a:ln>
        </p:spPr>
        <p:txBody>
          <a:bodyPr/>
          <a:lstStyle/>
          <a:p>
            <a:endParaRPr lang="ar-SA"/>
          </a:p>
        </p:txBody>
      </p:sp>
      <p:sp>
        <p:nvSpPr>
          <p:cNvPr id="31" name="Text 28"/>
          <p:cNvSpPr/>
          <p:nvPr/>
        </p:nvSpPr>
        <p:spPr>
          <a:xfrm>
            <a:off x="9866376" y="2834640"/>
            <a:ext cx="795528"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Recall</a:t>
            </a:r>
            <a:endParaRPr lang="en-US" sz="1100" dirty="0"/>
          </a:p>
        </p:txBody>
      </p:sp>
      <p:sp>
        <p:nvSpPr>
          <p:cNvPr id="32" name="Shape 29"/>
          <p:cNvSpPr/>
          <p:nvPr/>
        </p:nvSpPr>
        <p:spPr>
          <a:xfrm>
            <a:off x="10698480" y="2788920"/>
            <a:ext cx="868680" cy="457200"/>
          </a:xfrm>
          <a:prstGeom prst="rect">
            <a:avLst/>
          </a:prstGeom>
          <a:solidFill>
            <a:srgbClr val="0D2B55"/>
          </a:solidFill>
          <a:ln w="12700">
            <a:solidFill>
              <a:srgbClr val="0D2B55"/>
            </a:solidFill>
            <a:prstDash val="solid"/>
          </a:ln>
        </p:spPr>
        <p:txBody>
          <a:bodyPr/>
          <a:lstStyle/>
          <a:p>
            <a:endParaRPr lang="ar-SA"/>
          </a:p>
        </p:txBody>
      </p:sp>
      <p:sp>
        <p:nvSpPr>
          <p:cNvPr id="33" name="Text 30"/>
          <p:cNvSpPr/>
          <p:nvPr/>
        </p:nvSpPr>
        <p:spPr>
          <a:xfrm>
            <a:off x="10735056" y="2834640"/>
            <a:ext cx="795528"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F1</a:t>
            </a:r>
            <a:endParaRPr lang="en-US" sz="1100" dirty="0"/>
          </a:p>
        </p:txBody>
      </p:sp>
      <p:sp>
        <p:nvSpPr>
          <p:cNvPr id="34" name="Shape 31"/>
          <p:cNvSpPr/>
          <p:nvPr/>
        </p:nvSpPr>
        <p:spPr>
          <a:xfrm>
            <a:off x="6126480" y="3273552"/>
            <a:ext cx="1828800" cy="566928"/>
          </a:xfrm>
          <a:prstGeom prst="rect">
            <a:avLst/>
          </a:prstGeom>
          <a:solidFill>
            <a:srgbClr val="F0F8FF"/>
          </a:solidFill>
          <a:ln w="12700">
            <a:solidFill>
              <a:srgbClr val="F0F8FF"/>
            </a:solidFill>
            <a:prstDash val="solid"/>
          </a:ln>
        </p:spPr>
        <p:txBody>
          <a:bodyPr/>
          <a:lstStyle/>
          <a:p>
            <a:endParaRPr lang="ar-SA"/>
          </a:p>
        </p:txBody>
      </p:sp>
      <p:sp>
        <p:nvSpPr>
          <p:cNvPr id="35" name="Shape 32"/>
          <p:cNvSpPr/>
          <p:nvPr/>
        </p:nvSpPr>
        <p:spPr>
          <a:xfrm>
            <a:off x="6126480" y="3273552"/>
            <a:ext cx="1828800" cy="566928"/>
          </a:xfrm>
          <a:prstGeom prst="rect">
            <a:avLst/>
          </a:prstGeom>
          <a:solidFill>
            <a:srgbClr val="F0F8FF"/>
          </a:solidFill>
          <a:ln w="6350">
            <a:solidFill>
              <a:srgbClr val="CBD5E1"/>
            </a:solidFill>
            <a:prstDash val="solid"/>
          </a:ln>
        </p:spPr>
        <p:txBody>
          <a:bodyPr/>
          <a:lstStyle/>
          <a:p>
            <a:endParaRPr lang="ar-SA"/>
          </a:p>
        </p:txBody>
      </p:sp>
      <p:sp>
        <p:nvSpPr>
          <p:cNvPr id="36" name="Text 33"/>
          <p:cNvSpPr/>
          <p:nvPr/>
        </p:nvSpPr>
        <p:spPr>
          <a:xfrm>
            <a:off x="6163056" y="3319272"/>
            <a:ext cx="1755648" cy="475488"/>
          </a:xfrm>
          <a:prstGeom prst="rect">
            <a:avLst/>
          </a:prstGeom>
          <a:noFill/>
          <a:ln/>
        </p:spPr>
        <p:txBody>
          <a:bodyPr wrap="square" rtlCol="0" anchor="ctr"/>
          <a:lstStyle/>
          <a:p>
            <a:pPr marL="0" indent="0" algn="l">
              <a:buNone/>
            </a:pPr>
            <a:r>
              <a:rPr lang="en-US" sz="1100" dirty="0">
                <a:solidFill>
                  <a:srgbClr val="1E293B"/>
                </a:solidFill>
                <a:latin typeface="Calibri" pitchFamily="34" charset="0"/>
                <a:ea typeface="Calibri" pitchFamily="34" charset="-122"/>
                <a:cs typeface="Calibri" pitchFamily="34" charset="-120"/>
              </a:rPr>
              <a:t>No DR (0)</a:t>
            </a:r>
            <a:endParaRPr lang="en-US" sz="1100" dirty="0"/>
          </a:p>
        </p:txBody>
      </p:sp>
      <p:sp>
        <p:nvSpPr>
          <p:cNvPr id="37" name="Shape 34"/>
          <p:cNvSpPr/>
          <p:nvPr/>
        </p:nvSpPr>
        <p:spPr>
          <a:xfrm>
            <a:off x="7955280" y="3273552"/>
            <a:ext cx="868680" cy="566928"/>
          </a:xfrm>
          <a:prstGeom prst="rect">
            <a:avLst/>
          </a:prstGeom>
          <a:solidFill>
            <a:srgbClr val="F0F8FF"/>
          </a:solidFill>
          <a:ln w="12700">
            <a:solidFill>
              <a:srgbClr val="F0F8FF"/>
            </a:solidFill>
            <a:prstDash val="solid"/>
          </a:ln>
        </p:spPr>
        <p:txBody>
          <a:bodyPr/>
          <a:lstStyle/>
          <a:p>
            <a:endParaRPr lang="ar-SA"/>
          </a:p>
        </p:txBody>
      </p:sp>
      <p:sp>
        <p:nvSpPr>
          <p:cNvPr id="38" name="Shape 35"/>
          <p:cNvSpPr/>
          <p:nvPr/>
        </p:nvSpPr>
        <p:spPr>
          <a:xfrm>
            <a:off x="7955280" y="3273552"/>
            <a:ext cx="868680" cy="566928"/>
          </a:xfrm>
          <a:prstGeom prst="rect">
            <a:avLst/>
          </a:prstGeom>
          <a:solidFill>
            <a:srgbClr val="F0F8FF"/>
          </a:solidFill>
          <a:ln w="6350">
            <a:solidFill>
              <a:srgbClr val="CBD5E1"/>
            </a:solidFill>
            <a:prstDash val="solid"/>
          </a:ln>
        </p:spPr>
        <p:txBody>
          <a:bodyPr/>
          <a:lstStyle/>
          <a:p>
            <a:endParaRPr lang="ar-SA"/>
          </a:p>
        </p:txBody>
      </p:sp>
      <p:sp>
        <p:nvSpPr>
          <p:cNvPr id="39" name="Text 36"/>
          <p:cNvSpPr/>
          <p:nvPr/>
        </p:nvSpPr>
        <p:spPr>
          <a:xfrm>
            <a:off x="7991856" y="3319272"/>
            <a:ext cx="795528" cy="475488"/>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271</a:t>
            </a:r>
            <a:endParaRPr lang="en-US" sz="1100" dirty="0"/>
          </a:p>
        </p:txBody>
      </p:sp>
      <p:sp>
        <p:nvSpPr>
          <p:cNvPr id="40" name="Shape 37"/>
          <p:cNvSpPr/>
          <p:nvPr/>
        </p:nvSpPr>
        <p:spPr>
          <a:xfrm>
            <a:off x="8823960" y="3273552"/>
            <a:ext cx="1005840" cy="566928"/>
          </a:xfrm>
          <a:prstGeom prst="rect">
            <a:avLst/>
          </a:prstGeom>
          <a:solidFill>
            <a:srgbClr val="F0F8FF"/>
          </a:solidFill>
          <a:ln w="12700">
            <a:solidFill>
              <a:srgbClr val="F0F8FF"/>
            </a:solidFill>
            <a:prstDash val="solid"/>
          </a:ln>
        </p:spPr>
        <p:txBody>
          <a:bodyPr/>
          <a:lstStyle/>
          <a:p>
            <a:endParaRPr lang="ar-SA"/>
          </a:p>
        </p:txBody>
      </p:sp>
      <p:sp>
        <p:nvSpPr>
          <p:cNvPr id="41" name="Shape 38"/>
          <p:cNvSpPr/>
          <p:nvPr/>
        </p:nvSpPr>
        <p:spPr>
          <a:xfrm>
            <a:off x="8823960" y="3273552"/>
            <a:ext cx="1005840" cy="566928"/>
          </a:xfrm>
          <a:prstGeom prst="rect">
            <a:avLst/>
          </a:prstGeom>
          <a:solidFill>
            <a:srgbClr val="F0F8FF"/>
          </a:solidFill>
          <a:ln w="6350">
            <a:solidFill>
              <a:srgbClr val="CBD5E1"/>
            </a:solidFill>
            <a:prstDash val="solid"/>
          </a:ln>
        </p:spPr>
        <p:txBody>
          <a:bodyPr/>
          <a:lstStyle/>
          <a:p>
            <a:endParaRPr lang="ar-SA"/>
          </a:p>
        </p:txBody>
      </p:sp>
      <p:sp>
        <p:nvSpPr>
          <p:cNvPr id="42" name="Text 39"/>
          <p:cNvSpPr/>
          <p:nvPr/>
        </p:nvSpPr>
        <p:spPr>
          <a:xfrm>
            <a:off x="8860536" y="3319272"/>
            <a:ext cx="932688" cy="475488"/>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0.981</a:t>
            </a:r>
            <a:endParaRPr lang="en-US" sz="1100" dirty="0"/>
          </a:p>
        </p:txBody>
      </p:sp>
      <p:sp>
        <p:nvSpPr>
          <p:cNvPr id="43" name="Shape 40"/>
          <p:cNvSpPr/>
          <p:nvPr/>
        </p:nvSpPr>
        <p:spPr>
          <a:xfrm>
            <a:off x="9829800" y="3273552"/>
            <a:ext cx="868680" cy="566928"/>
          </a:xfrm>
          <a:prstGeom prst="rect">
            <a:avLst/>
          </a:prstGeom>
          <a:solidFill>
            <a:srgbClr val="F0F8FF"/>
          </a:solidFill>
          <a:ln w="12700">
            <a:solidFill>
              <a:srgbClr val="F0F8FF"/>
            </a:solidFill>
            <a:prstDash val="solid"/>
          </a:ln>
        </p:spPr>
        <p:txBody>
          <a:bodyPr/>
          <a:lstStyle/>
          <a:p>
            <a:endParaRPr lang="ar-SA"/>
          </a:p>
        </p:txBody>
      </p:sp>
      <p:sp>
        <p:nvSpPr>
          <p:cNvPr id="44" name="Shape 41"/>
          <p:cNvSpPr/>
          <p:nvPr/>
        </p:nvSpPr>
        <p:spPr>
          <a:xfrm>
            <a:off x="9829800" y="3273552"/>
            <a:ext cx="868680" cy="566928"/>
          </a:xfrm>
          <a:prstGeom prst="rect">
            <a:avLst/>
          </a:prstGeom>
          <a:solidFill>
            <a:srgbClr val="F0F8FF"/>
          </a:solidFill>
          <a:ln w="6350">
            <a:solidFill>
              <a:srgbClr val="CBD5E1"/>
            </a:solidFill>
            <a:prstDash val="solid"/>
          </a:ln>
        </p:spPr>
        <p:txBody>
          <a:bodyPr/>
          <a:lstStyle/>
          <a:p>
            <a:endParaRPr lang="ar-SA"/>
          </a:p>
        </p:txBody>
      </p:sp>
      <p:sp>
        <p:nvSpPr>
          <p:cNvPr id="45" name="Text 42"/>
          <p:cNvSpPr/>
          <p:nvPr/>
        </p:nvSpPr>
        <p:spPr>
          <a:xfrm>
            <a:off x="9866376" y="3319272"/>
            <a:ext cx="795528" cy="475488"/>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0.970</a:t>
            </a:r>
            <a:endParaRPr lang="en-US" sz="1100" dirty="0"/>
          </a:p>
        </p:txBody>
      </p:sp>
      <p:sp>
        <p:nvSpPr>
          <p:cNvPr id="46" name="Shape 43"/>
          <p:cNvSpPr/>
          <p:nvPr/>
        </p:nvSpPr>
        <p:spPr>
          <a:xfrm>
            <a:off x="10698480" y="3273552"/>
            <a:ext cx="868680" cy="566928"/>
          </a:xfrm>
          <a:prstGeom prst="rect">
            <a:avLst/>
          </a:prstGeom>
          <a:solidFill>
            <a:srgbClr val="F0F8FF"/>
          </a:solidFill>
          <a:ln w="12700">
            <a:solidFill>
              <a:srgbClr val="F0F8FF"/>
            </a:solidFill>
            <a:prstDash val="solid"/>
          </a:ln>
        </p:spPr>
        <p:txBody>
          <a:bodyPr/>
          <a:lstStyle/>
          <a:p>
            <a:endParaRPr lang="ar-SA"/>
          </a:p>
        </p:txBody>
      </p:sp>
      <p:sp>
        <p:nvSpPr>
          <p:cNvPr id="47" name="Shape 44"/>
          <p:cNvSpPr/>
          <p:nvPr/>
        </p:nvSpPr>
        <p:spPr>
          <a:xfrm>
            <a:off x="10698480" y="3273552"/>
            <a:ext cx="868680" cy="566928"/>
          </a:xfrm>
          <a:prstGeom prst="rect">
            <a:avLst/>
          </a:prstGeom>
          <a:solidFill>
            <a:srgbClr val="F0F8FF"/>
          </a:solidFill>
          <a:ln w="6350">
            <a:solidFill>
              <a:srgbClr val="CBD5E1"/>
            </a:solidFill>
            <a:prstDash val="solid"/>
          </a:ln>
        </p:spPr>
        <p:txBody>
          <a:bodyPr/>
          <a:lstStyle/>
          <a:p>
            <a:endParaRPr lang="ar-SA"/>
          </a:p>
        </p:txBody>
      </p:sp>
      <p:sp>
        <p:nvSpPr>
          <p:cNvPr id="48" name="Text 45"/>
          <p:cNvSpPr/>
          <p:nvPr/>
        </p:nvSpPr>
        <p:spPr>
          <a:xfrm>
            <a:off x="10735056" y="3319272"/>
            <a:ext cx="795528" cy="475488"/>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0.976</a:t>
            </a:r>
            <a:endParaRPr lang="en-US" sz="1100" dirty="0"/>
          </a:p>
        </p:txBody>
      </p:sp>
      <p:sp>
        <p:nvSpPr>
          <p:cNvPr id="49" name="Shape 46"/>
          <p:cNvSpPr/>
          <p:nvPr/>
        </p:nvSpPr>
        <p:spPr>
          <a:xfrm>
            <a:off x="6126480" y="3867912"/>
            <a:ext cx="1828800" cy="566928"/>
          </a:xfrm>
          <a:prstGeom prst="rect">
            <a:avLst/>
          </a:prstGeom>
          <a:solidFill>
            <a:srgbClr val="FFFFFF"/>
          </a:solidFill>
          <a:ln w="12700">
            <a:solidFill>
              <a:srgbClr val="FFFFFF"/>
            </a:solidFill>
            <a:prstDash val="solid"/>
          </a:ln>
        </p:spPr>
        <p:txBody>
          <a:bodyPr/>
          <a:lstStyle/>
          <a:p>
            <a:endParaRPr lang="ar-SA"/>
          </a:p>
        </p:txBody>
      </p:sp>
      <p:sp>
        <p:nvSpPr>
          <p:cNvPr id="50" name="Shape 47"/>
          <p:cNvSpPr/>
          <p:nvPr/>
        </p:nvSpPr>
        <p:spPr>
          <a:xfrm>
            <a:off x="6126480" y="3867912"/>
            <a:ext cx="1828800" cy="566928"/>
          </a:xfrm>
          <a:prstGeom prst="rect">
            <a:avLst/>
          </a:prstGeom>
          <a:solidFill>
            <a:srgbClr val="FFFFFF"/>
          </a:solidFill>
          <a:ln w="6350">
            <a:solidFill>
              <a:srgbClr val="CBD5E1"/>
            </a:solidFill>
            <a:prstDash val="solid"/>
          </a:ln>
        </p:spPr>
        <p:txBody>
          <a:bodyPr/>
          <a:lstStyle/>
          <a:p>
            <a:endParaRPr lang="ar-SA"/>
          </a:p>
        </p:txBody>
      </p:sp>
      <p:sp>
        <p:nvSpPr>
          <p:cNvPr id="51" name="Text 48"/>
          <p:cNvSpPr/>
          <p:nvPr/>
        </p:nvSpPr>
        <p:spPr>
          <a:xfrm>
            <a:off x="6163056" y="3913632"/>
            <a:ext cx="1755648" cy="475488"/>
          </a:xfrm>
          <a:prstGeom prst="rect">
            <a:avLst/>
          </a:prstGeom>
          <a:noFill/>
          <a:ln/>
        </p:spPr>
        <p:txBody>
          <a:bodyPr wrap="square" rtlCol="0" anchor="ctr"/>
          <a:lstStyle/>
          <a:p>
            <a:pPr marL="0" indent="0" algn="l">
              <a:buNone/>
            </a:pPr>
            <a:r>
              <a:rPr lang="en-US" sz="1100" dirty="0">
                <a:solidFill>
                  <a:srgbClr val="1E293B"/>
                </a:solidFill>
                <a:latin typeface="Calibri" pitchFamily="34" charset="0"/>
                <a:ea typeface="Calibri" pitchFamily="34" charset="-122"/>
                <a:cs typeface="Calibri" pitchFamily="34" charset="-120"/>
              </a:rPr>
              <a:t>Mild (1)</a:t>
            </a:r>
            <a:endParaRPr lang="en-US" sz="1100" dirty="0"/>
          </a:p>
        </p:txBody>
      </p:sp>
      <p:sp>
        <p:nvSpPr>
          <p:cNvPr id="52" name="Shape 49"/>
          <p:cNvSpPr/>
          <p:nvPr/>
        </p:nvSpPr>
        <p:spPr>
          <a:xfrm>
            <a:off x="7955280" y="3867912"/>
            <a:ext cx="868680" cy="566928"/>
          </a:xfrm>
          <a:prstGeom prst="rect">
            <a:avLst/>
          </a:prstGeom>
          <a:solidFill>
            <a:srgbClr val="FFFFFF"/>
          </a:solidFill>
          <a:ln w="12700">
            <a:solidFill>
              <a:srgbClr val="FFFFFF"/>
            </a:solidFill>
            <a:prstDash val="solid"/>
          </a:ln>
        </p:spPr>
        <p:txBody>
          <a:bodyPr/>
          <a:lstStyle/>
          <a:p>
            <a:endParaRPr lang="ar-SA"/>
          </a:p>
        </p:txBody>
      </p:sp>
      <p:sp>
        <p:nvSpPr>
          <p:cNvPr id="53" name="Shape 50"/>
          <p:cNvSpPr/>
          <p:nvPr/>
        </p:nvSpPr>
        <p:spPr>
          <a:xfrm>
            <a:off x="7955280" y="3867912"/>
            <a:ext cx="868680" cy="566928"/>
          </a:xfrm>
          <a:prstGeom prst="rect">
            <a:avLst/>
          </a:prstGeom>
          <a:solidFill>
            <a:srgbClr val="FFFFFF"/>
          </a:solidFill>
          <a:ln w="6350">
            <a:solidFill>
              <a:srgbClr val="CBD5E1"/>
            </a:solidFill>
            <a:prstDash val="solid"/>
          </a:ln>
        </p:spPr>
        <p:txBody>
          <a:bodyPr/>
          <a:lstStyle/>
          <a:p>
            <a:endParaRPr lang="ar-SA"/>
          </a:p>
        </p:txBody>
      </p:sp>
      <p:sp>
        <p:nvSpPr>
          <p:cNvPr id="54" name="Text 51"/>
          <p:cNvSpPr/>
          <p:nvPr/>
        </p:nvSpPr>
        <p:spPr>
          <a:xfrm>
            <a:off x="7991856" y="3913632"/>
            <a:ext cx="795528" cy="475488"/>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56</a:t>
            </a:r>
            <a:endParaRPr lang="en-US" sz="1100" dirty="0"/>
          </a:p>
        </p:txBody>
      </p:sp>
      <p:sp>
        <p:nvSpPr>
          <p:cNvPr id="55" name="Shape 52"/>
          <p:cNvSpPr/>
          <p:nvPr/>
        </p:nvSpPr>
        <p:spPr>
          <a:xfrm>
            <a:off x="8823960" y="3867912"/>
            <a:ext cx="1005840" cy="566928"/>
          </a:xfrm>
          <a:prstGeom prst="rect">
            <a:avLst/>
          </a:prstGeom>
          <a:solidFill>
            <a:srgbClr val="FFFFFF"/>
          </a:solidFill>
          <a:ln w="12700">
            <a:solidFill>
              <a:srgbClr val="FFFFFF"/>
            </a:solidFill>
            <a:prstDash val="solid"/>
          </a:ln>
        </p:spPr>
        <p:txBody>
          <a:bodyPr/>
          <a:lstStyle/>
          <a:p>
            <a:endParaRPr lang="ar-SA"/>
          </a:p>
        </p:txBody>
      </p:sp>
      <p:sp>
        <p:nvSpPr>
          <p:cNvPr id="56" name="Shape 53"/>
          <p:cNvSpPr/>
          <p:nvPr/>
        </p:nvSpPr>
        <p:spPr>
          <a:xfrm>
            <a:off x="8823960" y="3867912"/>
            <a:ext cx="1005840" cy="566928"/>
          </a:xfrm>
          <a:prstGeom prst="rect">
            <a:avLst/>
          </a:prstGeom>
          <a:solidFill>
            <a:srgbClr val="FFFFFF"/>
          </a:solidFill>
          <a:ln w="6350">
            <a:solidFill>
              <a:srgbClr val="CBD5E1"/>
            </a:solidFill>
            <a:prstDash val="solid"/>
          </a:ln>
        </p:spPr>
        <p:txBody>
          <a:bodyPr/>
          <a:lstStyle/>
          <a:p>
            <a:endParaRPr lang="ar-SA"/>
          </a:p>
        </p:txBody>
      </p:sp>
      <p:sp>
        <p:nvSpPr>
          <p:cNvPr id="57" name="Text 54"/>
          <p:cNvSpPr/>
          <p:nvPr/>
        </p:nvSpPr>
        <p:spPr>
          <a:xfrm>
            <a:off x="8860536" y="3913632"/>
            <a:ext cx="932688" cy="475488"/>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0.513</a:t>
            </a:r>
            <a:endParaRPr lang="en-US" sz="1100" dirty="0"/>
          </a:p>
        </p:txBody>
      </p:sp>
      <p:sp>
        <p:nvSpPr>
          <p:cNvPr id="58" name="Shape 55"/>
          <p:cNvSpPr/>
          <p:nvPr/>
        </p:nvSpPr>
        <p:spPr>
          <a:xfrm>
            <a:off x="9829800" y="3867912"/>
            <a:ext cx="868680" cy="566928"/>
          </a:xfrm>
          <a:prstGeom prst="rect">
            <a:avLst/>
          </a:prstGeom>
          <a:solidFill>
            <a:srgbClr val="FFFFFF"/>
          </a:solidFill>
          <a:ln w="12700">
            <a:solidFill>
              <a:srgbClr val="FFFFFF"/>
            </a:solidFill>
            <a:prstDash val="solid"/>
          </a:ln>
        </p:spPr>
        <p:txBody>
          <a:bodyPr/>
          <a:lstStyle/>
          <a:p>
            <a:endParaRPr lang="ar-SA"/>
          </a:p>
        </p:txBody>
      </p:sp>
      <p:sp>
        <p:nvSpPr>
          <p:cNvPr id="59" name="Shape 56"/>
          <p:cNvSpPr/>
          <p:nvPr/>
        </p:nvSpPr>
        <p:spPr>
          <a:xfrm>
            <a:off x="9829800" y="3867912"/>
            <a:ext cx="868680" cy="566928"/>
          </a:xfrm>
          <a:prstGeom prst="rect">
            <a:avLst/>
          </a:prstGeom>
          <a:solidFill>
            <a:srgbClr val="FFFFFF"/>
          </a:solidFill>
          <a:ln w="6350">
            <a:solidFill>
              <a:srgbClr val="CBD5E1"/>
            </a:solidFill>
            <a:prstDash val="solid"/>
          </a:ln>
        </p:spPr>
        <p:txBody>
          <a:bodyPr/>
          <a:lstStyle/>
          <a:p>
            <a:endParaRPr lang="ar-SA"/>
          </a:p>
        </p:txBody>
      </p:sp>
      <p:sp>
        <p:nvSpPr>
          <p:cNvPr id="60" name="Text 57"/>
          <p:cNvSpPr/>
          <p:nvPr/>
        </p:nvSpPr>
        <p:spPr>
          <a:xfrm>
            <a:off x="9866376" y="3913632"/>
            <a:ext cx="795528" cy="475488"/>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0.696</a:t>
            </a:r>
            <a:endParaRPr lang="en-US" sz="1100" dirty="0"/>
          </a:p>
        </p:txBody>
      </p:sp>
      <p:sp>
        <p:nvSpPr>
          <p:cNvPr id="61" name="Shape 58"/>
          <p:cNvSpPr/>
          <p:nvPr/>
        </p:nvSpPr>
        <p:spPr>
          <a:xfrm>
            <a:off x="10698480" y="3867912"/>
            <a:ext cx="868680" cy="566928"/>
          </a:xfrm>
          <a:prstGeom prst="rect">
            <a:avLst/>
          </a:prstGeom>
          <a:solidFill>
            <a:srgbClr val="FFFFFF"/>
          </a:solidFill>
          <a:ln w="12700">
            <a:solidFill>
              <a:srgbClr val="FFFFFF"/>
            </a:solidFill>
            <a:prstDash val="solid"/>
          </a:ln>
        </p:spPr>
        <p:txBody>
          <a:bodyPr/>
          <a:lstStyle/>
          <a:p>
            <a:endParaRPr lang="ar-SA"/>
          </a:p>
        </p:txBody>
      </p:sp>
      <p:sp>
        <p:nvSpPr>
          <p:cNvPr id="62" name="Shape 59"/>
          <p:cNvSpPr/>
          <p:nvPr/>
        </p:nvSpPr>
        <p:spPr>
          <a:xfrm>
            <a:off x="10698480" y="3867912"/>
            <a:ext cx="868680" cy="566928"/>
          </a:xfrm>
          <a:prstGeom prst="rect">
            <a:avLst/>
          </a:prstGeom>
          <a:solidFill>
            <a:srgbClr val="FFFFFF"/>
          </a:solidFill>
          <a:ln w="6350">
            <a:solidFill>
              <a:srgbClr val="CBD5E1"/>
            </a:solidFill>
            <a:prstDash val="solid"/>
          </a:ln>
        </p:spPr>
        <p:txBody>
          <a:bodyPr/>
          <a:lstStyle/>
          <a:p>
            <a:endParaRPr lang="ar-SA"/>
          </a:p>
        </p:txBody>
      </p:sp>
      <p:sp>
        <p:nvSpPr>
          <p:cNvPr id="63" name="Text 60"/>
          <p:cNvSpPr/>
          <p:nvPr/>
        </p:nvSpPr>
        <p:spPr>
          <a:xfrm>
            <a:off x="10735056" y="3913632"/>
            <a:ext cx="795528" cy="475488"/>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0.591</a:t>
            </a:r>
            <a:endParaRPr lang="en-US" sz="1100" dirty="0"/>
          </a:p>
        </p:txBody>
      </p:sp>
      <p:sp>
        <p:nvSpPr>
          <p:cNvPr id="64" name="Shape 61"/>
          <p:cNvSpPr/>
          <p:nvPr/>
        </p:nvSpPr>
        <p:spPr>
          <a:xfrm>
            <a:off x="6126480" y="4462272"/>
            <a:ext cx="1828800" cy="566928"/>
          </a:xfrm>
          <a:prstGeom prst="rect">
            <a:avLst/>
          </a:prstGeom>
          <a:solidFill>
            <a:srgbClr val="F0F8FF"/>
          </a:solidFill>
          <a:ln w="12700">
            <a:solidFill>
              <a:srgbClr val="F0F8FF"/>
            </a:solidFill>
            <a:prstDash val="solid"/>
          </a:ln>
        </p:spPr>
        <p:txBody>
          <a:bodyPr/>
          <a:lstStyle/>
          <a:p>
            <a:endParaRPr lang="ar-SA"/>
          </a:p>
        </p:txBody>
      </p:sp>
      <p:sp>
        <p:nvSpPr>
          <p:cNvPr id="65" name="Shape 62"/>
          <p:cNvSpPr/>
          <p:nvPr/>
        </p:nvSpPr>
        <p:spPr>
          <a:xfrm>
            <a:off x="6126480" y="4462272"/>
            <a:ext cx="1828800" cy="566928"/>
          </a:xfrm>
          <a:prstGeom prst="rect">
            <a:avLst/>
          </a:prstGeom>
          <a:solidFill>
            <a:srgbClr val="F0F8FF"/>
          </a:solidFill>
          <a:ln w="6350">
            <a:solidFill>
              <a:srgbClr val="CBD5E1"/>
            </a:solidFill>
            <a:prstDash val="solid"/>
          </a:ln>
        </p:spPr>
        <p:txBody>
          <a:bodyPr/>
          <a:lstStyle/>
          <a:p>
            <a:endParaRPr lang="ar-SA"/>
          </a:p>
        </p:txBody>
      </p:sp>
      <p:sp>
        <p:nvSpPr>
          <p:cNvPr id="66" name="Text 63"/>
          <p:cNvSpPr/>
          <p:nvPr/>
        </p:nvSpPr>
        <p:spPr>
          <a:xfrm>
            <a:off x="6163056" y="4507992"/>
            <a:ext cx="1755648" cy="475488"/>
          </a:xfrm>
          <a:prstGeom prst="rect">
            <a:avLst/>
          </a:prstGeom>
          <a:noFill/>
          <a:ln/>
        </p:spPr>
        <p:txBody>
          <a:bodyPr wrap="square" rtlCol="0" anchor="ctr"/>
          <a:lstStyle/>
          <a:p>
            <a:pPr marL="0" indent="0" algn="l">
              <a:buNone/>
            </a:pPr>
            <a:r>
              <a:rPr lang="en-US" sz="1100" dirty="0">
                <a:solidFill>
                  <a:srgbClr val="1E293B"/>
                </a:solidFill>
                <a:latin typeface="Calibri" pitchFamily="34" charset="0"/>
                <a:ea typeface="Calibri" pitchFamily="34" charset="-122"/>
                <a:cs typeface="Calibri" pitchFamily="34" charset="-120"/>
              </a:rPr>
              <a:t>Moderate (2)</a:t>
            </a:r>
            <a:endParaRPr lang="en-US" sz="1100" dirty="0"/>
          </a:p>
        </p:txBody>
      </p:sp>
      <p:sp>
        <p:nvSpPr>
          <p:cNvPr id="67" name="Shape 64"/>
          <p:cNvSpPr/>
          <p:nvPr/>
        </p:nvSpPr>
        <p:spPr>
          <a:xfrm>
            <a:off x="7955280" y="4462272"/>
            <a:ext cx="868680" cy="566928"/>
          </a:xfrm>
          <a:prstGeom prst="rect">
            <a:avLst/>
          </a:prstGeom>
          <a:solidFill>
            <a:srgbClr val="F0F8FF"/>
          </a:solidFill>
          <a:ln w="12700">
            <a:solidFill>
              <a:srgbClr val="F0F8FF"/>
            </a:solidFill>
            <a:prstDash val="solid"/>
          </a:ln>
        </p:spPr>
        <p:txBody>
          <a:bodyPr/>
          <a:lstStyle/>
          <a:p>
            <a:endParaRPr lang="ar-SA"/>
          </a:p>
        </p:txBody>
      </p:sp>
      <p:sp>
        <p:nvSpPr>
          <p:cNvPr id="68" name="Shape 65"/>
          <p:cNvSpPr/>
          <p:nvPr/>
        </p:nvSpPr>
        <p:spPr>
          <a:xfrm>
            <a:off x="7955280" y="4462272"/>
            <a:ext cx="868680" cy="566928"/>
          </a:xfrm>
          <a:prstGeom prst="rect">
            <a:avLst/>
          </a:prstGeom>
          <a:solidFill>
            <a:srgbClr val="F0F8FF"/>
          </a:solidFill>
          <a:ln w="6350">
            <a:solidFill>
              <a:srgbClr val="CBD5E1"/>
            </a:solidFill>
            <a:prstDash val="solid"/>
          </a:ln>
        </p:spPr>
        <p:txBody>
          <a:bodyPr/>
          <a:lstStyle/>
          <a:p>
            <a:endParaRPr lang="ar-SA"/>
          </a:p>
        </p:txBody>
      </p:sp>
      <p:sp>
        <p:nvSpPr>
          <p:cNvPr id="69" name="Text 66"/>
          <p:cNvSpPr/>
          <p:nvPr/>
        </p:nvSpPr>
        <p:spPr>
          <a:xfrm>
            <a:off x="7991856" y="4507992"/>
            <a:ext cx="795528" cy="475488"/>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150</a:t>
            </a:r>
            <a:endParaRPr lang="en-US" sz="1100" dirty="0"/>
          </a:p>
        </p:txBody>
      </p:sp>
      <p:sp>
        <p:nvSpPr>
          <p:cNvPr id="70" name="Shape 67"/>
          <p:cNvSpPr/>
          <p:nvPr/>
        </p:nvSpPr>
        <p:spPr>
          <a:xfrm>
            <a:off x="8823960" y="4462272"/>
            <a:ext cx="1005840" cy="566928"/>
          </a:xfrm>
          <a:prstGeom prst="rect">
            <a:avLst/>
          </a:prstGeom>
          <a:solidFill>
            <a:srgbClr val="F0F8FF"/>
          </a:solidFill>
          <a:ln w="12700">
            <a:solidFill>
              <a:srgbClr val="F0F8FF"/>
            </a:solidFill>
            <a:prstDash val="solid"/>
          </a:ln>
        </p:spPr>
        <p:txBody>
          <a:bodyPr/>
          <a:lstStyle/>
          <a:p>
            <a:endParaRPr lang="ar-SA"/>
          </a:p>
        </p:txBody>
      </p:sp>
      <p:sp>
        <p:nvSpPr>
          <p:cNvPr id="71" name="Shape 68"/>
          <p:cNvSpPr/>
          <p:nvPr/>
        </p:nvSpPr>
        <p:spPr>
          <a:xfrm>
            <a:off x="8823960" y="4462272"/>
            <a:ext cx="1005840" cy="566928"/>
          </a:xfrm>
          <a:prstGeom prst="rect">
            <a:avLst/>
          </a:prstGeom>
          <a:solidFill>
            <a:srgbClr val="F0F8FF"/>
          </a:solidFill>
          <a:ln w="6350">
            <a:solidFill>
              <a:srgbClr val="CBD5E1"/>
            </a:solidFill>
            <a:prstDash val="solid"/>
          </a:ln>
        </p:spPr>
        <p:txBody>
          <a:bodyPr/>
          <a:lstStyle/>
          <a:p>
            <a:endParaRPr lang="ar-SA"/>
          </a:p>
        </p:txBody>
      </p:sp>
      <p:sp>
        <p:nvSpPr>
          <p:cNvPr id="72" name="Text 69"/>
          <p:cNvSpPr/>
          <p:nvPr/>
        </p:nvSpPr>
        <p:spPr>
          <a:xfrm>
            <a:off x="8860536" y="4507992"/>
            <a:ext cx="932688" cy="475488"/>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0.805</a:t>
            </a:r>
            <a:endParaRPr lang="en-US" sz="1100" dirty="0"/>
          </a:p>
        </p:txBody>
      </p:sp>
      <p:sp>
        <p:nvSpPr>
          <p:cNvPr id="73" name="Shape 70"/>
          <p:cNvSpPr/>
          <p:nvPr/>
        </p:nvSpPr>
        <p:spPr>
          <a:xfrm>
            <a:off x="9829800" y="4462272"/>
            <a:ext cx="868680" cy="566928"/>
          </a:xfrm>
          <a:prstGeom prst="rect">
            <a:avLst/>
          </a:prstGeom>
          <a:solidFill>
            <a:srgbClr val="F0F8FF"/>
          </a:solidFill>
          <a:ln w="12700">
            <a:solidFill>
              <a:srgbClr val="F0F8FF"/>
            </a:solidFill>
            <a:prstDash val="solid"/>
          </a:ln>
        </p:spPr>
        <p:txBody>
          <a:bodyPr/>
          <a:lstStyle/>
          <a:p>
            <a:endParaRPr lang="ar-SA"/>
          </a:p>
        </p:txBody>
      </p:sp>
      <p:sp>
        <p:nvSpPr>
          <p:cNvPr id="74" name="Shape 71"/>
          <p:cNvSpPr/>
          <p:nvPr/>
        </p:nvSpPr>
        <p:spPr>
          <a:xfrm>
            <a:off x="9829800" y="4462272"/>
            <a:ext cx="868680" cy="566928"/>
          </a:xfrm>
          <a:prstGeom prst="rect">
            <a:avLst/>
          </a:prstGeom>
          <a:solidFill>
            <a:srgbClr val="F0F8FF"/>
          </a:solidFill>
          <a:ln w="6350">
            <a:solidFill>
              <a:srgbClr val="CBD5E1"/>
            </a:solidFill>
            <a:prstDash val="solid"/>
          </a:ln>
        </p:spPr>
        <p:txBody>
          <a:bodyPr/>
          <a:lstStyle/>
          <a:p>
            <a:endParaRPr lang="ar-SA"/>
          </a:p>
        </p:txBody>
      </p:sp>
      <p:sp>
        <p:nvSpPr>
          <p:cNvPr id="75" name="Text 72"/>
          <p:cNvSpPr/>
          <p:nvPr/>
        </p:nvSpPr>
        <p:spPr>
          <a:xfrm>
            <a:off x="9866376" y="4507992"/>
            <a:ext cx="795528" cy="475488"/>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0.687</a:t>
            </a:r>
            <a:endParaRPr lang="en-US" sz="1100" dirty="0"/>
          </a:p>
        </p:txBody>
      </p:sp>
      <p:sp>
        <p:nvSpPr>
          <p:cNvPr id="76" name="Shape 73"/>
          <p:cNvSpPr/>
          <p:nvPr/>
        </p:nvSpPr>
        <p:spPr>
          <a:xfrm>
            <a:off x="10698480" y="4462272"/>
            <a:ext cx="868680" cy="566928"/>
          </a:xfrm>
          <a:prstGeom prst="rect">
            <a:avLst/>
          </a:prstGeom>
          <a:solidFill>
            <a:srgbClr val="F0F8FF"/>
          </a:solidFill>
          <a:ln w="12700">
            <a:solidFill>
              <a:srgbClr val="F0F8FF"/>
            </a:solidFill>
            <a:prstDash val="solid"/>
          </a:ln>
        </p:spPr>
        <p:txBody>
          <a:bodyPr/>
          <a:lstStyle/>
          <a:p>
            <a:endParaRPr lang="ar-SA"/>
          </a:p>
        </p:txBody>
      </p:sp>
      <p:sp>
        <p:nvSpPr>
          <p:cNvPr id="77" name="Shape 74"/>
          <p:cNvSpPr/>
          <p:nvPr/>
        </p:nvSpPr>
        <p:spPr>
          <a:xfrm>
            <a:off x="10698480" y="4462272"/>
            <a:ext cx="868680" cy="566928"/>
          </a:xfrm>
          <a:prstGeom prst="rect">
            <a:avLst/>
          </a:prstGeom>
          <a:solidFill>
            <a:srgbClr val="F0F8FF"/>
          </a:solidFill>
          <a:ln w="6350">
            <a:solidFill>
              <a:srgbClr val="CBD5E1"/>
            </a:solidFill>
            <a:prstDash val="solid"/>
          </a:ln>
        </p:spPr>
        <p:txBody>
          <a:bodyPr/>
          <a:lstStyle/>
          <a:p>
            <a:endParaRPr lang="ar-SA"/>
          </a:p>
        </p:txBody>
      </p:sp>
      <p:sp>
        <p:nvSpPr>
          <p:cNvPr id="78" name="Text 75"/>
          <p:cNvSpPr/>
          <p:nvPr/>
        </p:nvSpPr>
        <p:spPr>
          <a:xfrm>
            <a:off x="10735056" y="4507992"/>
            <a:ext cx="795528" cy="475488"/>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0.741</a:t>
            </a:r>
            <a:endParaRPr lang="en-US" sz="1100" dirty="0"/>
          </a:p>
        </p:txBody>
      </p:sp>
      <p:sp>
        <p:nvSpPr>
          <p:cNvPr id="79" name="Shape 76"/>
          <p:cNvSpPr/>
          <p:nvPr/>
        </p:nvSpPr>
        <p:spPr>
          <a:xfrm>
            <a:off x="6126480" y="5056632"/>
            <a:ext cx="1828800" cy="566928"/>
          </a:xfrm>
          <a:prstGeom prst="rect">
            <a:avLst/>
          </a:prstGeom>
          <a:solidFill>
            <a:srgbClr val="FFFFFF"/>
          </a:solidFill>
          <a:ln w="12700">
            <a:solidFill>
              <a:srgbClr val="FFFFFF"/>
            </a:solidFill>
            <a:prstDash val="solid"/>
          </a:ln>
        </p:spPr>
        <p:txBody>
          <a:bodyPr/>
          <a:lstStyle/>
          <a:p>
            <a:endParaRPr lang="ar-SA"/>
          </a:p>
        </p:txBody>
      </p:sp>
      <p:sp>
        <p:nvSpPr>
          <p:cNvPr id="80" name="Shape 77"/>
          <p:cNvSpPr/>
          <p:nvPr/>
        </p:nvSpPr>
        <p:spPr>
          <a:xfrm>
            <a:off x="6126480" y="5056632"/>
            <a:ext cx="1828800" cy="566928"/>
          </a:xfrm>
          <a:prstGeom prst="rect">
            <a:avLst/>
          </a:prstGeom>
          <a:solidFill>
            <a:srgbClr val="FFFFFF"/>
          </a:solidFill>
          <a:ln w="6350">
            <a:solidFill>
              <a:srgbClr val="CBD5E1"/>
            </a:solidFill>
            <a:prstDash val="solid"/>
          </a:ln>
        </p:spPr>
        <p:txBody>
          <a:bodyPr/>
          <a:lstStyle/>
          <a:p>
            <a:endParaRPr lang="ar-SA"/>
          </a:p>
        </p:txBody>
      </p:sp>
      <p:sp>
        <p:nvSpPr>
          <p:cNvPr id="81" name="Text 78"/>
          <p:cNvSpPr/>
          <p:nvPr/>
        </p:nvSpPr>
        <p:spPr>
          <a:xfrm>
            <a:off x="6163056" y="5102352"/>
            <a:ext cx="1755648" cy="475488"/>
          </a:xfrm>
          <a:prstGeom prst="rect">
            <a:avLst/>
          </a:prstGeom>
          <a:noFill/>
          <a:ln/>
        </p:spPr>
        <p:txBody>
          <a:bodyPr wrap="square" rtlCol="0" anchor="ctr"/>
          <a:lstStyle/>
          <a:p>
            <a:pPr marL="0" indent="0" algn="l">
              <a:buNone/>
            </a:pPr>
            <a:r>
              <a:rPr lang="en-US" sz="1100" dirty="0">
                <a:solidFill>
                  <a:srgbClr val="1E293B"/>
                </a:solidFill>
                <a:latin typeface="Calibri" pitchFamily="34" charset="0"/>
                <a:ea typeface="Calibri" pitchFamily="34" charset="-122"/>
                <a:cs typeface="Calibri" pitchFamily="34" charset="-120"/>
              </a:rPr>
              <a:t>Severe (3)</a:t>
            </a:r>
            <a:endParaRPr lang="en-US" sz="1100" dirty="0"/>
          </a:p>
        </p:txBody>
      </p:sp>
      <p:sp>
        <p:nvSpPr>
          <p:cNvPr id="82" name="Shape 79"/>
          <p:cNvSpPr/>
          <p:nvPr/>
        </p:nvSpPr>
        <p:spPr>
          <a:xfrm>
            <a:off x="7955280" y="5056632"/>
            <a:ext cx="868680" cy="566928"/>
          </a:xfrm>
          <a:prstGeom prst="rect">
            <a:avLst/>
          </a:prstGeom>
          <a:solidFill>
            <a:srgbClr val="FFFFFF"/>
          </a:solidFill>
          <a:ln w="12700">
            <a:solidFill>
              <a:srgbClr val="FFFFFF"/>
            </a:solidFill>
            <a:prstDash val="solid"/>
          </a:ln>
        </p:spPr>
        <p:txBody>
          <a:bodyPr/>
          <a:lstStyle/>
          <a:p>
            <a:endParaRPr lang="ar-SA"/>
          </a:p>
        </p:txBody>
      </p:sp>
      <p:sp>
        <p:nvSpPr>
          <p:cNvPr id="83" name="Shape 80"/>
          <p:cNvSpPr/>
          <p:nvPr/>
        </p:nvSpPr>
        <p:spPr>
          <a:xfrm>
            <a:off x="7955280" y="5056632"/>
            <a:ext cx="868680" cy="566928"/>
          </a:xfrm>
          <a:prstGeom prst="rect">
            <a:avLst/>
          </a:prstGeom>
          <a:solidFill>
            <a:srgbClr val="FFFFFF"/>
          </a:solidFill>
          <a:ln w="6350">
            <a:solidFill>
              <a:srgbClr val="CBD5E1"/>
            </a:solidFill>
            <a:prstDash val="solid"/>
          </a:ln>
        </p:spPr>
        <p:txBody>
          <a:bodyPr/>
          <a:lstStyle/>
          <a:p>
            <a:endParaRPr lang="ar-SA"/>
          </a:p>
        </p:txBody>
      </p:sp>
      <p:sp>
        <p:nvSpPr>
          <p:cNvPr id="84" name="Text 81"/>
          <p:cNvSpPr/>
          <p:nvPr/>
        </p:nvSpPr>
        <p:spPr>
          <a:xfrm>
            <a:off x="7991856" y="5102352"/>
            <a:ext cx="795528" cy="475488"/>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29</a:t>
            </a:r>
            <a:endParaRPr lang="en-US" sz="1100" dirty="0"/>
          </a:p>
        </p:txBody>
      </p:sp>
      <p:sp>
        <p:nvSpPr>
          <p:cNvPr id="85" name="Shape 82"/>
          <p:cNvSpPr/>
          <p:nvPr/>
        </p:nvSpPr>
        <p:spPr>
          <a:xfrm>
            <a:off x="8823960" y="5056632"/>
            <a:ext cx="1005840" cy="566928"/>
          </a:xfrm>
          <a:prstGeom prst="rect">
            <a:avLst/>
          </a:prstGeom>
          <a:solidFill>
            <a:srgbClr val="FFFFFF"/>
          </a:solidFill>
          <a:ln w="12700">
            <a:solidFill>
              <a:srgbClr val="FFFFFF"/>
            </a:solidFill>
            <a:prstDash val="solid"/>
          </a:ln>
        </p:spPr>
        <p:txBody>
          <a:bodyPr/>
          <a:lstStyle/>
          <a:p>
            <a:endParaRPr lang="ar-SA"/>
          </a:p>
        </p:txBody>
      </p:sp>
      <p:sp>
        <p:nvSpPr>
          <p:cNvPr id="86" name="Shape 83"/>
          <p:cNvSpPr/>
          <p:nvPr/>
        </p:nvSpPr>
        <p:spPr>
          <a:xfrm>
            <a:off x="8823960" y="5056632"/>
            <a:ext cx="1005840" cy="566928"/>
          </a:xfrm>
          <a:prstGeom prst="rect">
            <a:avLst/>
          </a:prstGeom>
          <a:solidFill>
            <a:srgbClr val="FFFFFF"/>
          </a:solidFill>
          <a:ln w="6350">
            <a:solidFill>
              <a:srgbClr val="CBD5E1"/>
            </a:solidFill>
            <a:prstDash val="solid"/>
          </a:ln>
        </p:spPr>
        <p:txBody>
          <a:bodyPr/>
          <a:lstStyle/>
          <a:p>
            <a:endParaRPr lang="ar-SA"/>
          </a:p>
        </p:txBody>
      </p:sp>
      <p:sp>
        <p:nvSpPr>
          <p:cNvPr id="87" name="Text 84"/>
          <p:cNvSpPr/>
          <p:nvPr/>
        </p:nvSpPr>
        <p:spPr>
          <a:xfrm>
            <a:off x="8860536" y="5102352"/>
            <a:ext cx="932688" cy="475488"/>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0.511</a:t>
            </a:r>
            <a:endParaRPr lang="en-US" sz="1100" dirty="0"/>
          </a:p>
        </p:txBody>
      </p:sp>
      <p:sp>
        <p:nvSpPr>
          <p:cNvPr id="88" name="Shape 85"/>
          <p:cNvSpPr/>
          <p:nvPr/>
        </p:nvSpPr>
        <p:spPr>
          <a:xfrm>
            <a:off x="9829800" y="5056632"/>
            <a:ext cx="868680" cy="566928"/>
          </a:xfrm>
          <a:prstGeom prst="rect">
            <a:avLst/>
          </a:prstGeom>
          <a:solidFill>
            <a:srgbClr val="FFFFFF"/>
          </a:solidFill>
          <a:ln w="12700">
            <a:solidFill>
              <a:srgbClr val="FFFFFF"/>
            </a:solidFill>
            <a:prstDash val="solid"/>
          </a:ln>
        </p:spPr>
        <p:txBody>
          <a:bodyPr/>
          <a:lstStyle/>
          <a:p>
            <a:endParaRPr lang="ar-SA"/>
          </a:p>
        </p:txBody>
      </p:sp>
      <p:sp>
        <p:nvSpPr>
          <p:cNvPr id="89" name="Shape 86"/>
          <p:cNvSpPr/>
          <p:nvPr/>
        </p:nvSpPr>
        <p:spPr>
          <a:xfrm>
            <a:off x="9829800" y="5056632"/>
            <a:ext cx="868680" cy="566928"/>
          </a:xfrm>
          <a:prstGeom prst="rect">
            <a:avLst/>
          </a:prstGeom>
          <a:solidFill>
            <a:srgbClr val="FFFFFF"/>
          </a:solidFill>
          <a:ln w="6350">
            <a:solidFill>
              <a:srgbClr val="CBD5E1"/>
            </a:solidFill>
            <a:prstDash val="solid"/>
          </a:ln>
        </p:spPr>
        <p:txBody>
          <a:bodyPr/>
          <a:lstStyle/>
          <a:p>
            <a:endParaRPr lang="ar-SA"/>
          </a:p>
        </p:txBody>
      </p:sp>
      <p:sp>
        <p:nvSpPr>
          <p:cNvPr id="90" name="Text 87"/>
          <p:cNvSpPr/>
          <p:nvPr/>
        </p:nvSpPr>
        <p:spPr>
          <a:xfrm>
            <a:off x="9866376" y="5102352"/>
            <a:ext cx="795528" cy="475488"/>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0.828</a:t>
            </a:r>
            <a:endParaRPr lang="en-US" sz="1100" dirty="0"/>
          </a:p>
        </p:txBody>
      </p:sp>
      <p:sp>
        <p:nvSpPr>
          <p:cNvPr id="91" name="Shape 88"/>
          <p:cNvSpPr/>
          <p:nvPr/>
        </p:nvSpPr>
        <p:spPr>
          <a:xfrm>
            <a:off x="10698480" y="5056632"/>
            <a:ext cx="868680" cy="566928"/>
          </a:xfrm>
          <a:prstGeom prst="rect">
            <a:avLst/>
          </a:prstGeom>
          <a:solidFill>
            <a:srgbClr val="FFFFFF"/>
          </a:solidFill>
          <a:ln w="12700">
            <a:solidFill>
              <a:srgbClr val="FFFFFF"/>
            </a:solidFill>
            <a:prstDash val="solid"/>
          </a:ln>
        </p:spPr>
        <p:txBody>
          <a:bodyPr/>
          <a:lstStyle/>
          <a:p>
            <a:endParaRPr lang="ar-SA"/>
          </a:p>
        </p:txBody>
      </p:sp>
      <p:sp>
        <p:nvSpPr>
          <p:cNvPr id="92" name="Shape 89"/>
          <p:cNvSpPr/>
          <p:nvPr/>
        </p:nvSpPr>
        <p:spPr>
          <a:xfrm>
            <a:off x="10698480" y="5056632"/>
            <a:ext cx="868680" cy="566928"/>
          </a:xfrm>
          <a:prstGeom prst="rect">
            <a:avLst/>
          </a:prstGeom>
          <a:solidFill>
            <a:srgbClr val="FFFFFF"/>
          </a:solidFill>
          <a:ln w="6350">
            <a:solidFill>
              <a:srgbClr val="CBD5E1"/>
            </a:solidFill>
            <a:prstDash val="solid"/>
          </a:ln>
        </p:spPr>
        <p:txBody>
          <a:bodyPr/>
          <a:lstStyle/>
          <a:p>
            <a:endParaRPr lang="ar-SA"/>
          </a:p>
        </p:txBody>
      </p:sp>
      <p:sp>
        <p:nvSpPr>
          <p:cNvPr id="93" name="Text 90"/>
          <p:cNvSpPr/>
          <p:nvPr/>
        </p:nvSpPr>
        <p:spPr>
          <a:xfrm>
            <a:off x="10735056" y="5102352"/>
            <a:ext cx="795528" cy="475488"/>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0.632</a:t>
            </a:r>
            <a:endParaRPr lang="en-US" sz="1100" dirty="0"/>
          </a:p>
        </p:txBody>
      </p:sp>
      <p:sp>
        <p:nvSpPr>
          <p:cNvPr id="94" name="Shape 91"/>
          <p:cNvSpPr/>
          <p:nvPr/>
        </p:nvSpPr>
        <p:spPr>
          <a:xfrm>
            <a:off x="6126480" y="5650992"/>
            <a:ext cx="1828800" cy="566928"/>
          </a:xfrm>
          <a:prstGeom prst="rect">
            <a:avLst/>
          </a:prstGeom>
          <a:solidFill>
            <a:srgbClr val="F0F8FF"/>
          </a:solidFill>
          <a:ln w="12700">
            <a:solidFill>
              <a:srgbClr val="F0F8FF"/>
            </a:solidFill>
            <a:prstDash val="solid"/>
          </a:ln>
        </p:spPr>
        <p:txBody>
          <a:bodyPr/>
          <a:lstStyle/>
          <a:p>
            <a:endParaRPr lang="ar-SA"/>
          </a:p>
        </p:txBody>
      </p:sp>
      <p:sp>
        <p:nvSpPr>
          <p:cNvPr id="95" name="Shape 92"/>
          <p:cNvSpPr/>
          <p:nvPr/>
        </p:nvSpPr>
        <p:spPr>
          <a:xfrm>
            <a:off x="6126480" y="5650992"/>
            <a:ext cx="1828800" cy="566928"/>
          </a:xfrm>
          <a:prstGeom prst="rect">
            <a:avLst/>
          </a:prstGeom>
          <a:solidFill>
            <a:srgbClr val="F0F8FF"/>
          </a:solidFill>
          <a:ln w="6350">
            <a:solidFill>
              <a:srgbClr val="CBD5E1"/>
            </a:solidFill>
            <a:prstDash val="solid"/>
          </a:ln>
        </p:spPr>
        <p:txBody>
          <a:bodyPr/>
          <a:lstStyle/>
          <a:p>
            <a:endParaRPr lang="ar-SA"/>
          </a:p>
        </p:txBody>
      </p:sp>
      <p:sp>
        <p:nvSpPr>
          <p:cNvPr id="96" name="Text 93"/>
          <p:cNvSpPr/>
          <p:nvPr/>
        </p:nvSpPr>
        <p:spPr>
          <a:xfrm>
            <a:off x="6163056" y="5696712"/>
            <a:ext cx="1755648" cy="475488"/>
          </a:xfrm>
          <a:prstGeom prst="rect">
            <a:avLst/>
          </a:prstGeom>
          <a:noFill/>
          <a:ln/>
        </p:spPr>
        <p:txBody>
          <a:bodyPr wrap="square" rtlCol="0" anchor="ctr"/>
          <a:lstStyle/>
          <a:p>
            <a:pPr marL="0" indent="0" algn="l">
              <a:buNone/>
            </a:pPr>
            <a:r>
              <a:rPr lang="en-US" sz="1100" dirty="0">
                <a:solidFill>
                  <a:srgbClr val="1E293B"/>
                </a:solidFill>
                <a:latin typeface="Calibri" pitchFamily="34" charset="0"/>
                <a:ea typeface="Calibri" pitchFamily="34" charset="-122"/>
                <a:cs typeface="Calibri" pitchFamily="34" charset="-120"/>
              </a:rPr>
              <a:t>Prolif. (4)</a:t>
            </a:r>
            <a:endParaRPr lang="en-US" sz="1100" dirty="0"/>
          </a:p>
        </p:txBody>
      </p:sp>
      <p:sp>
        <p:nvSpPr>
          <p:cNvPr id="97" name="Shape 94"/>
          <p:cNvSpPr/>
          <p:nvPr/>
        </p:nvSpPr>
        <p:spPr>
          <a:xfrm>
            <a:off x="7955280" y="5650992"/>
            <a:ext cx="868680" cy="566928"/>
          </a:xfrm>
          <a:prstGeom prst="rect">
            <a:avLst/>
          </a:prstGeom>
          <a:solidFill>
            <a:srgbClr val="F0F8FF"/>
          </a:solidFill>
          <a:ln w="12700">
            <a:solidFill>
              <a:srgbClr val="F0F8FF"/>
            </a:solidFill>
            <a:prstDash val="solid"/>
          </a:ln>
        </p:spPr>
        <p:txBody>
          <a:bodyPr/>
          <a:lstStyle/>
          <a:p>
            <a:endParaRPr lang="ar-SA"/>
          </a:p>
        </p:txBody>
      </p:sp>
      <p:sp>
        <p:nvSpPr>
          <p:cNvPr id="98" name="Shape 95"/>
          <p:cNvSpPr/>
          <p:nvPr/>
        </p:nvSpPr>
        <p:spPr>
          <a:xfrm>
            <a:off x="7955280" y="5650992"/>
            <a:ext cx="868680" cy="566928"/>
          </a:xfrm>
          <a:prstGeom prst="rect">
            <a:avLst/>
          </a:prstGeom>
          <a:solidFill>
            <a:srgbClr val="F0F8FF"/>
          </a:solidFill>
          <a:ln w="6350">
            <a:solidFill>
              <a:srgbClr val="CBD5E1"/>
            </a:solidFill>
            <a:prstDash val="solid"/>
          </a:ln>
        </p:spPr>
        <p:txBody>
          <a:bodyPr/>
          <a:lstStyle/>
          <a:p>
            <a:endParaRPr lang="ar-SA"/>
          </a:p>
        </p:txBody>
      </p:sp>
      <p:sp>
        <p:nvSpPr>
          <p:cNvPr id="99" name="Text 96"/>
          <p:cNvSpPr/>
          <p:nvPr/>
        </p:nvSpPr>
        <p:spPr>
          <a:xfrm>
            <a:off x="7991856" y="5696712"/>
            <a:ext cx="795528" cy="475488"/>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44</a:t>
            </a:r>
            <a:endParaRPr lang="en-US" sz="1100" dirty="0"/>
          </a:p>
        </p:txBody>
      </p:sp>
      <p:sp>
        <p:nvSpPr>
          <p:cNvPr id="100" name="Shape 97"/>
          <p:cNvSpPr/>
          <p:nvPr/>
        </p:nvSpPr>
        <p:spPr>
          <a:xfrm>
            <a:off x="8823960" y="5650992"/>
            <a:ext cx="1005840" cy="566928"/>
          </a:xfrm>
          <a:prstGeom prst="rect">
            <a:avLst/>
          </a:prstGeom>
          <a:solidFill>
            <a:srgbClr val="F0F8FF"/>
          </a:solidFill>
          <a:ln w="12700">
            <a:solidFill>
              <a:srgbClr val="F0F8FF"/>
            </a:solidFill>
            <a:prstDash val="solid"/>
          </a:ln>
        </p:spPr>
        <p:txBody>
          <a:bodyPr/>
          <a:lstStyle/>
          <a:p>
            <a:endParaRPr lang="ar-SA"/>
          </a:p>
        </p:txBody>
      </p:sp>
      <p:sp>
        <p:nvSpPr>
          <p:cNvPr id="101" name="Shape 98"/>
          <p:cNvSpPr/>
          <p:nvPr/>
        </p:nvSpPr>
        <p:spPr>
          <a:xfrm>
            <a:off x="8823960" y="5650992"/>
            <a:ext cx="1005840" cy="566928"/>
          </a:xfrm>
          <a:prstGeom prst="rect">
            <a:avLst/>
          </a:prstGeom>
          <a:solidFill>
            <a:srgbClr val="F0F8FF"/>
          </a:solidFill>
          <a:ln w="6350">
            <a:solidFill>
              <a:srgbClr val="CBD5E1"/>
            </a:solidFill>
            <a:prstDash val="solid"/>
          </a:ln>
        </p:spPr>
        <p:txBody>
          <a:bodyPr/>
          <a:lstStyle/>
          <a:p>
            <a:endParaRPr lang="ar-SA"/>
          </a:p>
        </p:txBody>
      </p:sp>
      <p:sp>
        <p:nvSpPr>
          <p:cNvPr id="102" name="Text 99"/>
          <p:cNvSpPr/>
          <p:nvPr/>
        </p:nvSpPr>
        <p:spPr>
          <a:xfrm>
            <a:off x="8860536" y="5696712"/>
            <a:ext cx="932688" cy="475488"/>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0.742</a:t>
            </a:r>
            <a:endParaRPr lang="en-US" sz="1100" dirty="0"/>
          </a:p>
        </p:txBody>
      </p:sp>
      <p:sp>
        <p:nvSpPr>
          <p:cNvPr id="103" name="Shape 100"/>
          <p:cNvSpPr/>
          <p:nvPr/>
        </p:nvSpPr>
        <p:spPr>
          <a:xfrm>
            <a:off x="9829800" y="5650992"/>
            <a:ext cx="868680" cy="566928"/>
          </a:xfrm>
          <a:prstGeom prst="rect">
            <a:avLst/>
          </a:prstGeom>
          <a:solidFill>
            <a:srgbClr val="F0F8FF"/>
          </a:solidFill>
          <a:ln w="12700">
            <a:solidFill>
              <a:srgbClr val="F0F8FF"/>
            </a:solidFill>
            <a:prstDash val="solid"/>
          </a:ln>
        </p:spPr>
        <p:txBody>
          <a:bodyPr/>
          <a:lstStyle/>
          <a:p>
            <a:endParaRPr lang="ar-SA"/>
          </a:p>
        </p:txBody>
      </p:sp>
      <p:sp>
        <p:nvSpPr>
          <p:cNvPr id="104" name="Shape 101"/>
          <p:cNvSpPr/>
          <p:nvPr/>
        </p:nvSpPr>
        <p:spPr>
          <a:xfrm>
            <a:off x="9829800" y="5650992"/>
            <a:ext cx="868680" cy="566928"/>
          </a:xfrm>
          <a:prstGeom prst="rect">
            <a:avLst/>
          </a:prstGeom>
          <a:solidFill>
            <a:srgbClr val="F0F8FF"/>
          </a:solidFill>
          <a:ln w="6350">
            <a:solidFill>
              <a:srgbClr val="CBD5E1"/>
            </a:solidFill>
            <a:prstDash val="solid"/>
          </a:ln>
        </p:spPr>
        <p:txBody>
          <a:bodyPr/>
          <a:lstStyle/>
          <a:p>
            <a:endParaRPr lang="ar-SA"/>
          </a:p>
        </p:txBody>
      </p:sp>
      <p:sp>
        <p:nvSpPr>
          <p:cNvPr id="105" name="Text 102"/>
          <p:cNvSpPr/>
          <p:nvPr/>
        </p:nvSpPr>
        <p:spPr>
          <a:xfrm>
            <a:off x="9866376" y="5696712"/>
            <a:ext cx="795528" cy="475488"/>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0.523</a:t>
            </a:r>
            <a:endParaRPr lang="en-US" sz="1100" dirty="0"/>
          </a:p>
        </p:txBody>
      </p:sp>
      <p:sp>
        <p:nvSpPr>
          <p:cNvPr id="106" name="Shape 103"/>
          <p:cNvSpPr/>
          <p:nvPr/>
        </p:nvSpPr>
        <p:spPr>
          <a:xfrm>
            <a:off x="10698480" y="5650992"/>
            <a:ext cx="868680" cy="566928"/>
          </a:xfrm>
          <a:prstGeom prst="rect">
            <a:avLst/>
          </a:prstGeom>
          <a:solidFill>
            <a:srgbClr val="F0F8FF"/>
          </a:solidFill>
          <a:ln w="12700">
            <a:solidFill>
              <a:srgbClr val="F0F8FF"/>
            </a:solidFill>
            <a:prstDash val="solid"/>
          </a:ln>
        </p:spPr>
        <p:txBody>
          <a:bodyPr/>
          <a:lstStyle/>
          <a:p>
            <a:endParaRPr lang="ar-SA"/>
          </a:p>
        </p:txBody>
      </p:sp>
      <p:sp>
        <p:nvSpPr>
          <p:cNvPr id="107" name="Shape 104"/>
          <p:cNvSpPr/>
          <p:nvPr/>
        </p:nvSpPr>
        <p:spPr>
          <a:xfrm>
            <a:off x="10698480" y="5650992"/>
            <a:ext cx="868680" cy="566928"/>
          </a:xfrm>
          <a:prstGeom prst="rect">
            <a:avLst/>
          </a:prstGeom>
          <a:solidFill>
            <a:srgbClr val="F0F8FF"/>
          </a:solidFill>
          <a:ln w="6350">
            <a:solidFill>
              <a:srgbClr val="CBD5E1"/>
            </a:solidFill>
            <a:prstDash val="solid"/>
          </a:ln>
        </p:spPr>
        <p:txBody>
          <a:bodyPr/>
          <a:lstStyle/>
          <a:p>
            <a:endParaRPr lang="ar-SA"/>
          </a:p>
        </p:txBody>
      </p:sp>
      <p:sp>
        <p:nvSpPr>
          <p:cNvPr id="108" name="Text 105"/>
          <p:cNvSpPr/>
          <p:nvPr/>
        </p:nvSpPr>
        <p:spPr>
          <a:xfrm>
            <a:off x="10735056" y="5696712"/>
            <a:ext cx="795528" cy="475488"/>
          </a:xfrm>
          <a:prstGeom prst="rect">
            <a:avLst/>
          </a:prstGeom>
          <a:noFill/>
          <a:ln/>
        </p:spPr>
        <p:txBody>
          <a:bodyPr wrap="square"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0.613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0D2B55"/>
          </a:solidFill>
          <a:ln w="12700">
            <a:solidFill>
              <a:srgbClr val="0D2B55"/>
            </a:solidFill>
            <a:prstDash val="solid"/>
          </a:ln>
        </p:spPr>
        <p:txBody>
          <a:bodyPr/>
          <a:lstStyle/>
          <a:p>
            <a:endParaRPr lang="ar-SA"/>
          </a:p>
        </p:txBody>
      </p:sp>
      <p:sp>
        <p:nvSpPr>
          <p:cNvPr id="3" name="Text 1"/>
          <p:cNvSpPr/>
          <p:nvPr/>
        </p:nvSpPr>
        <p:spPr>
          <a:xfrm>
            <a:off x="457200" y="128016"/>
            <a:ext cx="11247120" cy="65836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Results &amp; Analysis: Confusion Matrix</a:t>
            </a:r>
            <a:endParaRPr lang="en-US" sz="2600" dirty="0"/>
          </a:p>
        </p:txBody>
      </p:sp>
      <p:sp>
        <p:nvSpPr>
          <p:cNvPr id="4" name="Text 2"/>
          <p:cNvSpPr/>
          <p:nvPr/>
        </p:nvSpPr>
        <p:spPr>
          <a:xfrm>
            <a:off x="365760" y="1024128"/>
            <a:ext cx="5577840" cy="365760"/>
          </a:xfrm>
          <a:prstGeom prst="rect">
            <a:avLst/>
          </a:prstGeom>
          <a:noFill/>
          <a:ln/>
        </p:spPr>
        <p:txBody>
          <a:bodyPr wrap="square" rtlCol="0" anchor="ctr"/>
          <a:lstStyle/>
          <a:p>
            <a:pPr marL="0" indent="0">
              <a:buNone/>
            </a:pPr>
            <a:r>
              <a:rPr lang="en-US" sz="1300" b="1" dirty="0">
                <a:solidFill>
                  <a:srgbClr val="0D2B55"/>
                </a:solidFill>
                <a:latin typeface="Calibri" pitchFamily="34" charset="0"/>
                <a:ea typeface="Calibri" pitchFamily="34" charset="-122"/>
                <a:cs typeface="Calibri" pitchFamily="34" charset="-120"/>
              </a:rPr>
              <a:t>Confusion Matrix (550 test images)</a:t>
            </a:r>
            <a:endParaRPr lang="en-US" sz="1300" dirty="0"/>
          </a:p>
        </p:txBody>
      </p:sp>
      <p:pic>
        <p:nvPicPr>
          <p:cNvPr id="5" name="Image 0" descr="/mnt/user-data/uploads/figure5.png"/>
          <p:cNvPicPr>
            <a:picLocks noChangeAspect="1"/>
          </p:cNvPicPr>
          <p:nvPr/>
        </p:nvPicPr>
        <p:blipFill>
          <a:blip r:embed="rId3"/>
          <a:srcRect/>
          <a:stretch/>
        </p:blipFill>
        <p:spPr>
          <a:xfrm>
            <a:off x="274320" y="1444752"/>
            <a:ext cx="6320934" cy="5166360"/>
          </a:xfrm>
          <a:prstGeom prst="rect">
            <a:avLst/>
          </a:prstGeom>
        </p:spPr>
      </p:pic>
      <p:sp>
        <p:nvSpPr>
          <p:cNvPr id="16" name="Shape 2">
            <a:extLst>
              <a:ext uri="{FF2B5EF4-FFF2-40B4-BE49-F238E27FC236}">
                <a16:creationId xmlns:a16="http://schemas.microsoft.com/office/drawing/2014/main" id="{E6A1416C-2711-A6AC-2AE2-675DFC33D657}"/>
              </a:ext>
            </a:extLst>
          </p:cNvPr>
          <p:cNvSpPr/>
          <p:nvPr/>
        </p:nvSpPr>
        <p:spPr>
          <a:xfrm>
            <a:off x="6778135" y="1444752"/>
            <a:ext cx="4926185" cy="5257577"/>
          </a:xfrm>
          <a:prstGeom prst="rect">
            <a:avLst/>
          </a:prstGeom>
          <a:solidFill>
            <a:srgbClr val="EBF5FB"/>
          </a:solidFill>
          <a:ln w="12700">
            <a:solidFill>
              <a:srgbClr val="CBD5E1"/>
            </a:solidFill>
            <a:prstDash val="solid"/>
          </a:ln>
        </p:spPr>
        <p:txBody>
          <a:bodyPr/>
          <a:lstStyle/>
          <a:p>
            <a:endParaRPr lang="ar-SA"/>
          </a:p>
        </p:txBody>
      </p:sp>
      <p:sp>
        <p:nvSpPr>
          <p:cNvPr id="17" name="Text 3">
            <a:extLst>
              <a:ext uri="{FF2B5EF4-FFF2-40B4-BE49-F238E27FC236}">
                <a16:creationId xmlns:a16="http://schemas.microsoft.com/office/drawing/2014/main" id="{B837F040-5DB5-952D-72EC-3C11517F749A}"/>
              </a:ext>
            </a:extLst>
          </p:cNvPr>
          <p:cNvSpPr/>
          <p:nvPr/>
        </p:nvSpPr>
        <p:spPr>
          <a:xfrm>
            <a:off x="6961015" y="1398808"/>
            <a:ext cx="3840480" cy="384049"/>
          </a:xfrm>
          <a:prstGeom prst="rect">
            <a:avLst/>
          </a:prstGeom>
          <a:noFill/>
          <a:ln/>
        </p:spPr>
        <p:txBody>
          <a:bodyPr wrap="square" rtlCol="0" anchor="ctr"/>
          <a:lstStyle/>
          <a:p>
            <a:pPr marL="0" indent="0">
              <a:buNone/>
            </a:pPr>
            <a:r>
              <a:rPr lang="en-US" sz="1400" b="1" dirty="0">
                <a:solidFill>
                  <a:srgbClr val="0D2B55"/>
                </a:solidFill>
                <a:latin typeface="Calibri" pitchFamily="34" charset="0"/>
                <a:ea typeface="Calibri" pitchFamily="34" charset="-122"/>
                <a:cs typeface="Calibri" pitchFamily="34" charset="-120"/>
              </a:rPr>
              <a:t>Key Observations</a:t>
            </a:r>
            <a:endParaRPr lang="en-US" sz="1400" dirty="0"/>
          </a:p>
        </p:txBody>
      </p:sp>
      <p:sp>
        <p:nvSpPr>
          <p:cNvPr id="18" name="Shape 4">
            <a:extLst>
              <a:ext uri="{FF2B5EF4-FFF2-40B4-BE49-F238E27FC236}">
                <a16:creationId xmlns:a16="http://schemas.microsoft.com/office/drawing/2014/main" id="{FC95DB08-16FE-5303-8920-82F44D4F0F5C}"/>
              </a:ext>
            </a:extLst>
          </p:cNvPr>
          <p:cNvSpPr/>
          <p:nvPr/>
        </p:nvSpPr>
        <p:spPr>
          <a:xfrm>
            <a:off x="6869575" y="1920016"/>
            <a:ext cx="201168" cy="960120"/>
          </a:xfrm>
          <a:prstGeom prst="rect">
            <a:avLst/>
          </a:prstGeom>
          <a:solidFill>
            <a:srgbClr val="028090"/>
          </a:solidFill>
          <a:ln w="12700">
            <a:solidFill>
              <a:srgbClr val="028090"/>
            </a:solidFill>
            <a:prstDash val="solid"/>
          </a:ln>
        </p:spPr>
        <p:txBody>
          <a:bodyPr/>
          <a:lstStyle/>
          <a:p>
            <a:endParaRPr lang="ar-SA"/>
          </a:p>
        </p:txBody>
      </p:sp>
      <p:sp>
        <p:nvSpPr>
          <p:cNvPr id="19" name="Text 5">
            <a:extLst>
              <a:ext uri="{FF2B5EF4-FFF2-40B4-BE49-F238E27FC236}">
                <a16:creationId xmlns:a16="http://schemas.microsoft.com/office/drawing/2014/main" id="{779C9C7F-5DC7-4FDC-7783-FEBE87CE7F5D}"/>
              </a:ext>
            </a:extLst>
          </p:cNvPr>
          <p:cNvSpPr/>
          <p:nvPr/>
        </p:nvSpPr>
        <p:spPr>
          <a:xfrm>
            <a:off x="7125607" y="1956592"/>
            <a:ext cx="3749040" cy="365760"/>
          </a:xfrm>
          <a:prstGeom prst="rect">
            <a:avLst/>
          </a:prstGeom>
          <a:noFill/>
          <a:ln/>
        </p:spPr>
        <p:txBody>
          <a:bodyPr wrap="square" rtlCol="0" anchor="ctr"/>
          <a:lstStyle/>
          <a:p>
            <a:pPr marL="0" indent="0">
              <a:buNone/>
            </a:pPr>
            <a:r>
              <a:rPr lang="en-US" sz="1100" b="1" dirty="0">
                <a:solidFill>
                  <a:srgbClr val="0D2B55"/>
                </a:solidFill>
                <a:latin typeface="Calibri" pitchFamily="34" charset="0"/>
                <a:ea typeface="Calibri" pitchFamily="34" charset="-122"/>
                <a:cs typeface="Calibri" pitchFamily="34" charset="-120"/>
              </a:rPr>
              <a:t>No DR (Grade 0)</a:t>
            </a:r>
            <a:endParaRPr lang="en-US" sz="1100" dirty="0"/>
          </a:p>
        </p:txBody>
      </p:sp>
      <p:sp>
        <p:nvSpPr>
          <p:cNvPr id="20" name="Text 6">
            <a:extLst>
              <a:ext uri="{FF2B5EF4-FFF2-40B4-BE49-F238E27FC236}">
                <a16:creationId xmlns:a16="http://schemas.microsoft.com/office/drawing/2014/main" id="{9AFD91FB-9F7B-DBF9-EE17-E8604A82402A}"/>
              </a:ext>
            </a:extLst>
          </p:cNvPr>
          <p:cNvSpPr/>
          <p:nvPr/>
        </p:nvSpPr>
        <p:spPr>
          <a:xfrm>
            <a:off x="7125607" y="2340640"/>
            <a:ext cx="3749040" cy="50292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263/271 correct (97%). The dominant class is also the most accurately classified — healthy retina is distinctive.</a:t>
            </a:r>
            <a:endParaRPr lang="en-US" sz="1050" dirty="0"/>
          </a:p>
        </p:txBody>
      </p:sp>
      <p:sp>
        <p:nvSpPr>
          <p:cNvPr id="21" name="Shape 7">
            <a:extLst>
              <a:ext uri="{FF2B5EF4-FFF2-40B4-BE49-F238E27FC236}">
                <a16:creationId xmlns:a16="http://schemas.microsoft.com/office/drawing/2014/main" id="{8CFD2100-1727-21F4-A868-95E364C34714}"/>
              </a:ext>
            </a:extLst>
          </p:cNvPr>
          <p:cNvSpPr/>
          <p:nvPr/>
        </p:nvSpPr>
        <p:spPr>
          <a:xfrm>
            <a:off x="6869575" y="3108736"/>
            <a:ext cx="201168" cy="960120"/>
          </a:xfrm>
          <a:prstGeom prst="rect">
            <a:avLst/>
          </a:prstGeom>
          <a:solidFill>
            <a:srgbClr val="F4A261"/>
          </a:solidFill>
          <a:ln w="12700">
            <a:solidFill>
              <a:srgbClr val="F4A261"/>
            </a:solidFill>
            <a:prstDash val="solid"/>
          </a:ln>
        </p:spPr>
        <p:txBody>
          <a:bodyPr/>
          <a:lstStyle/>
          <a:p>
            <a:endParaRPr lang="ar-SA"/>
          </a:p>
        </p:txBody>
      </p:sp>
      <p:sp>
        <p:nvSpPr>
          <p:cNvPr id="22" name="Text 8">
            <a:extLst>
              <a:ext uri="{FF2B5EF4-FFF2-40B4-BE49-F238E27FC236}">
                <a16:creationId xmlns:a16="http://schemas.microsoft.com/office/drawing/2014/main" id="{3281D59A-5C7C-C0FE-9502-F58BB25159D3}"/>
              </a:ext>
            </a:extLst>
          </p:cNvPr>
          <p:cNvSpPr/>
          <p:nvPr/>
        </p:nvSpPr>
        <p:spPr>
          <a:xfrm>
            <a:off x="7125607" y="3145312"/>
            <a:ext cx="3749040" cy="365760"/>
          </a:xfrm>
          <a:prstGeom prst="rect">
            <a:avLst/>
          </a:prstGeom>
          <a:noFill/>
          <a:ln/>
        </p:spPr>
        <p:txBody>
          <a:bodyPr wrap="square" rtlCol="0" anchor="ctr"/>
          <a:lstStyle/>
          <a:p>
            <a:pPr marL="0" indent="0">
              <a:buNone/>
            </a:pPr>
            <a:r>
              <a:rPr lang="en-US" sz="1100" b="1" dirty="0">
                <a:solidFill>
                  <a:srgbClr val="0D2B55"/>
                </a:solidFill>
                <a:latin typeface="Calibri" pitchFamily="34" charset="0"/>
                <a:ea typeface="Calibri" pitchFamily="34" charset="-122"/>
                <a:cs typeface="Calibri" pitchFamily="34" charset="-120"/>
              </a:rPr>
              <a:t>Mild (Grade 1)</a:t>
            </a:r>
            <a:endParaRPr lang="en-US" sz="1100" dirty="0"/>
          </a:p>
        </p:txBody>
      </p:sp>
      <p:sp>
        <p:nvSpPr>
          <p:cNvPr id="23" name="Text 9">
            <a:extLst>
              <a:ext uri="{FF2B5EF4-FFF2-40B4-BE49-F238E27FC236}">
                <a16:creationId xmlns:a16="http://schemas.microsoft.com/office/drawing/2014/main" id="{621120CB-4D5A-5ED7-5F21-C008EC5AF966}"/>
              </a:ext>
            </a:extLst>
          </p:cNvPr>
          <p:cNvSpPr/>
          <p:nvPr/>
        </p:nvSpPr>
        <p:spPr>
          <a:xfrm>
            <a:off x="7125607" y="3529360"/>
            <a:ext cx="3749040" cy="50292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Only 39/56 correct (70%). Most errors go to Moderate — Mild lesions are subtle and visually similar to adjacent grades.</a:t>
            </a:r>
            <a:endParaRPr lang="en-US" sz="1050" dirty="0"/>
          </a:p>
        </p:txBody>
      </p:sp>
      <p:sp>
        <p:nvSpPr>
          <p:cNvPr id="24" name="Shape 10">
            <a:extLst>
              <a:ext uri="{FF2B5EF4-FFF2-40B4-BE49-F238E27FC236}">
                <a16:creationId xmlns:a16="http://schemas.microsoft.com/office/drawing/2014/main" id="{E9CF3725-C516-30B9-5836-A1EAB09EA48F}"/>
              </a:ext>
            </a:extLst>
          </p:cNvPr>
          <p:cNvSpPr/>
          <p:nvPr/>
        </p:nvSpPr>
        <p:spPr>
          <a:xfrm>
            <a:off x="6869575" y="4297456"/>
            <a:ext cx="201168" cy="960120"/>
          </a:xfrm>
          <a:prstGeom prst="rect">
            <a:avLst/>
          </a:prstGeom>
          <a:solidFill>
            <a:srgbClr val="0D2B55"/>
          </a:solidFill>
          <a:ln w="12700">
            <a:solidFill>
              <a:srgbClr val="0D2B55"/>
            </a:solidFill>
            <a:prstDash val="solid"/>
          </a:ln>
        </p:spPr>
        <p:txBody>
          <a:bodyPr/>
          <a:lstStyle/>
          <a:p>
            <a:endParaRPr lang="ar-SA"/>
          </a:p>
        </p:txBody>
      </p:sp>
      <p:sp>
        <p:nvSpPr>
          <p:cNvPr id="25" name="Text 11">
            <a:extLst>
              <a:ext uri="{FF2B5EF4-FFF2-40B4-BE49-F238E27FC236}">
                <a16:creationId xmlns:a16="http://schemas.microsoft.com/office/drawing/2014/main" id="{4D96C803-E6A5-274F-EDF7-4D0B31C5EEF7}"/>
              </a:ext>
            </a:extLst>
          </p:cNvPr>
          <p:cNvSpPr/>
          <p:nvPr/>
        </p:nvSpPr>
        <p:spPr>
          <a:xfrm>
            <a:off x="7125607" y="4334032"/>
            <a:ext cx="3749040" cy="365760"/>
          </a:xfrm>
          <a:prstGeom prst="rect">
            <a:avLst/>
          </a:prstGeom>
          <a:noFill/>
          <a:ln/>
        </p:spPr>
        <p:txBody>
          <a:bodyPr wrap="square" rtlCol="0" anchor="ctr"/>
          <a:lstStyle/>
          <a:p>
            <a:pPr marL="0" indent="0">
              <a:buNone/>
            </a:pPr>
            <a:r>
              <a:rPr lang="en-US" sz="1100" b="1" dirty="0">
                <a:solidFill>
                  <a:srgbClr val="0D2B55"/>
                </a:solidFill>
                <a:latin typeface="Calibri" pitchFamily="34" charset="0"/>
                <a:ea typeface="Calibri" pitchFamily="34" charset="-122"/>
                <a:cs typeface="Calibri" pitchFamily="34" charset="-120"/>
              </a:rPr>
              <a:t>Moderate (Grade 2)</a:t>
            </a:r>
            <a:endParaRPr lang="en-US" sz="1100" dirty="0"/>
          </a:p>
        </p:txBody>
      </p:sp>
      <p:sp>
        <p:nvSpPr>
          <p:cNvPr id="26" name="Text 12">
            <a:extLst>
              <a:ext uri="{FF2B5EF4-FFF2-40B4-BE49-F238E27FC236}">
                <a16:creationId xmlns:a16="http://schemas.microsoft.com/office/drawing/2014/main" id="{91F578F1-E910-CA9A-182E-5016B696102F}"/>
              </a:ext>
            </a:extLst>
          </p:cNvPr>
          <p:cNvSpPr/>
          <p:nvPr/>
        </p:nvSpPr>
        <p:spPr>
          <a:xfrm>
            <a:off x="7125607" y="4718080"/>
            <a:ext cx="3749040" cy="50292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103/150 correct (69%). Split between Mild (26 misclassified) and Severe (13 misclassified) — ordinal near-miss pattern.</a:t>
            </a:r>
            <a:endParaRPr lang="en-US" sz="1050" dirty="0"/>
          </a:p>
        </p:txBody>
      </p:sp>
      <p:sp>
        <p:nvSpPr>
          <p:cNvPr id="27" name="Shape 13">
            <a:extLst>
              <a:ext uri="{FF2B5EF4-FFF2-40B4-BE49-F238E27FC236}">
                <a16:creationId xmlns:a16="http://schemas.microsoft.com/office/drawing/2014/main" id="{CE9F1A21-84B9-1BD7-58F7-0143FBF9F3B0}"/>
              </a:ext>
            </a:extLst>
          </p:cNvPr>
          <p:cNvSpPr/>
          <p:nvPr/>
        </p:nvSpPr>
        <p:spPr>
          <a:xfrm>
            <a:off x="6869575" y="5486176"/>
            <a:ext cx="201168" cy="960120"/>
          </a:xfrm>
          <a:prstGeom prst="rect">
            <a:avLst/>
          </a:prstGeom>
          <a:solidFill>
            <a:srgbClr val="E84855"/>
          </a:solidFill>
          <a:ln w="12700">
            <a:solidFill>
              <a:srgbClr val="E84855"/>
            </a:solidFill>
            <a:prstDash val="solid"/>
          </a:ln>
        </p:spPr>
        <p:txBody>
          <a:bodyPr/>
          <a:lstStyle/>
          <a:p>
            <a:endParaRPr lang="ar-SA"/>
          </a:p>
        </p:txBody>
      </p:sp>
      <p:sp>
        <p:nvSpPr>
          <p:cNvPr id="28" name="Text 14">
            <a:extLst>
              <a:ext uri="{FF2B5EF4-FFF2-40B4-BE49-F238E27FC236}">
                <a16:creationId xmlns:a16="http://schemas.microsoft.com/office/drawing/2014/main" id="{BB3E74C1-DF18-D75E-F5EB-8A4D43FA282B}"/>
              </a:ext>
            </a:extLst>
          </p:cNvPr>
          <p:cNvSpPr/>
          <p:nvPr/>
        </p:nvSpPr>
        <p:spPr>
          <a:xfrm>
            <a:off x="7125607" y="5522752"/>
            <a:ext cx="3749040" cy="365760"/>
          </a:xfrm>
          <a:prstGeom prst="rect">
            <a:avLst/>
          </a:prstGeom>
          <a:noFill/>
          <a:ln/>
        </p:spPr>
        <p:txBody>
          <a:bodyPr wrap="square" rtlCol="0" anchor="ctr"/>
          <a:lstStyle/>
          <a:p>
            <a:pPr marL="0" indent="0">
              <a:buNone/>
            </a:pPr>
            <a:r>
              <a:rPr lang="en-US" sz="1100" b="1" dirty="0">
                <a:solidFill>
                  <a:srgbClr val="0D2B55"/>
                </a:solidFill>
                <a:latin typeface="Calibri" pitchFamily="34" charset="0"/>
                <a:ea typeface="Calibri" pitchFamily="34" charset="-122"/>
                <a:cs typeface="Calibri" pitchFamily="34" charset="-120"/>
              </a:rPr>
              <a:t>Severe (Grade 3)</a:t>
            </a:r>
            <a:endParaRPr lang="en-US" sz="1100" dirty="0"/>
          </a:p>
        </p:txBody>
      </p:sp>
      <p:sp>
        <p:nvSpPr>
          <p:cNvPr id="29" name="Text 15">
            <a:extLst>
              <a:ext uri="{FF2B5EF4-FFF2-40B4-BE49-F238E27FC236}">
                <a16:creationId xmlns:a16="http://schemas.microsoft.com/office/drawing/2014/main" id="{CF635337-20B8-1A2B-D1C0-71A694F73B47}"/>
              </a:ext>
            </a:extLst>
          </p:cNvPr>
          <p:cNvSpPr/>
          <p:nvPr/>
        </p:nvSpPr>
        <p:spPr>
          <a:xfrm>
            <a:off x="7125607" y="5906800"/>
            <a:ext cx="3749040" cy="50292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24/29 correct (83% recall), but precision only 51% — model over-predicts Severe when uncertain between adjacent grades.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6FB"/>
        </a:solidFill>
        <a:effectLst/>
      </p:bgPr>
    </p:bg>
    <p:spTree>
      <p:nvGrpSpPr>
        <p:cNvPr id="1" name="">
          <a:extLst>
            <a:ext uri="{FF2B5EF4-FFF2-40B4-BE49-F238E27FC236}">
              <a16:creationId xmlns:a16="http://schemas.microsoft.com/office/drawing/2014/main" id="{B967FD7F-8F92-A8F2-DF07-18DC6BBA9DD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82B9364-1F4B-04FF-BDB2-D1598882FB07}"/>
              </a:ext>
            </a:extLst>
          </p:cNvPr>
          <p:cNvSpPr/>
          <p:nvPr/>
        </p:nvSpPr>
        <p:spPr>
          <a:xfrm>
            <a:off x="0" y="0"/>
            <a:ext cx="12161520" cy="914400"/>
          </a:xfrm>
          <a:prstGeom prst="rect">
            <a:avLst/>
          </a:prstGeom>
          <a:solidFill>
            <a:srgbClr val="0D2B55"/>
          </a:solidFill>
          <a:ln w="12700">
            <a:solidFill>
              <a:srgbClr val="0D2B55"/>
            </a:solidFill>
            <a:prstDash val="solid"/>
          </a:ln>
        </p:spPr>
        <p:txBody>
          <a:bodyPr/>
          <a:lstStyle/>
          <a:p>
            <a:endParaRPr lang="ar-SA"/>
          </a:p>
        </p:txBody>
      </p:sp>
      <p:sp>
        <p:nvSpPr>
          <p:cNvPr id="3" name="Text 1">
            <a:extLst>
              <a:ext uri="{FF2B5EF4-FFF2-40B4-BE49-F238E27FC236}">
                <a16:creationId xmlns:a16="http://schemas.microsoft.com/office/drawing/2014/main" id="{D68AAA33-5EF9-8FA1-2BE3-2127A971131E}"/>
              </a:ext>
            </a:extLst>
          </p:cNvPr>
          <p:cNvSpPr/>
          <p:nvPr/>
        </p:nvSpPr>
        <p:spPr>
          <a:xfrm>
            <a:off x="457200" y="128016"/>
            <a:ext cx="11247120" cy="65836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Results &amp; Analysis: XAI Pass Rate</a:t>
            </a:r>
            <a:endParaRPr lang="en-US" sz="2600" dirty="0"/>
          </a:p>
        </p:txBody>
      </p:sp>
      <p:sp>
        <p:nvSpPr>
          <p:cNvPr id="15" name="TextBox 14">
            <a:extLst>
              <a:ext uri="{FF2B5EF4-FFF2-40B4-BE49-F238E27FC236}">
                <a16:creationId xmlns:a16="http://schemas.microsoft.com/office/drawing/2014/main" id="{5ED27034-C562-294B-03EA-5990339A7858}"/>
              </a:ext>
            </a:extLst>
          </p:cNvPr>
          <p:cNvSpPr txBox="1"/>
          <p:nvPr/>
        </p:nvSpPr>
        <p:spPr>
          <a:xfrm>
            <a:off x="396240" y="6178555"/>
            <a:ext cx="6115778" cy="261610"/>
          </a:xfrm>
          <a:prstGeom prst="rect">
            <a:avLst/>
          </a:prstGeom>
          <a:noFill/>
          <a:ln/>
        </p:spPr>
        <p:txBody>
          <a:bodyPr wrap="square" rtlCol="0" anchor="ctr"/>
          <a:lstStyle>
            <a:lvl1pPr indent="0" algn="ctr">
              <a:buNone/>
              <a:defRPr sz="1100" b="1">
                <a:solidFill>
                  <a:srgbClr val="16A34A"/>
                </a:solidFill>
                <a:latin typeface="Calibri" pitchFamily="34" charset="0"/>
                <a:ea typeface="Calibri" pitchFamily="34" charset="-122"/>
                <a:cs typeface="Calibri" pitchFamily="34" charset="-120"/>
              </a:defRPr>
            </a:lvl1pPr>
          </a:lstStyle>
          <a:p>
            <a:r>
              <a:rPr lang="en-US" dirty="0"/>
              <a:t>These pass rates are based on defined thresholds. Continuous metrics remain the primary evaluation.</a:t>
            </a:r>
            <a:endParaRPr lang="ar-SA" dirty="0"/>
          </a:p>
        </p:txBody>
      </p:sp>
      <p:sp>
        <p:nvSpPr>
          <p:cNvPr id="44" name="Text 0">
            <a:extLst>
              <a:ext uri="{FF2B5EF4-FFF2-40B4-BE49-F238E27FC236}">
                <a16:creationId xmlns:a16="http://schemas.microsoft.com/office/drawing/2014/main" id="{BA2B23CE-8967-2FDF-2E54-9B316E9E856B}"/>
              </a:ext>
            </a:extLst>
          </p:cNvPr>
          <p:cNvSpPr/>
          <p:nvPr/>
        </p:nvSpPr>
        <p:spPr>
          <a:xfrm>
            <a:off x="411480" y="164592"/>
            <a:ext cx="11338560" cy="594360"/>
          </a:xfrm>
          <a:prstGeom prst="rect">
            <a:avLst/>
          </a:prstGeom>
          <a:noFill/>
          <a:ln/>
        </p:spPr>
        <p:txBody>
          <a:bodyPr wrap="square" rtlCol="0" anchor="ctr"/>
          <a:lstStyle/>
          <a:p>
            <a:pPr marL="0" indent="0">
              <a:buNone/>
            </a:pPr>
            <a:endParaRPr lang="en-US" sz="2800" dirty="0"/>
          </a:p>
        </p:txBody>
      </p:sp>
      <p:sp>
        <p:nvSpPr>
          <p:cNvPr id="46" name="Text 2">
            <a:extLst>
              <a:ext uri="{FF2B5EF4-FFF2-40B4-BE49-F238E27FC236}">
                <a16:creationId xmlns:a16="http://schemas.microsoft.com/office/drawing/2014/main" id="{ADC38561-6609-04EB-D772-00E3A04C5BA0}"/>
              </a:ext>
            </a:extLst>
          </p:cNvPr>
          <p:cNvSpPr/>
          <p:nvPr/>
        </p:nvSpPr>
        <p:spPr>
          <a:xfrm>
            <a:off x="411480" y="850392"/>
            <a:ext cx="11338560" cy="36576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Operational pass rule: Border Ratio ≤ 0.25  AND  Δ_k20 &gt; 0.10    (on masked attribution maps, N=120 balanced test targets)</a:t>
            </a:r>
            <a:endParaRPr lang="en-US" sz="1300" dirty="0"/>
          </a:p>
        </p:txBody>
      </p:sp>
      <p:pic>
        <p:nvPicPr>
          <p:cNvPr id="47" name="Image 0" descr="/mnt/user-data/uploads/figure6.png">
            <a:extLst>
              <a:ext uri="{FF2B5EF4-FFF2-40B4-BE49-F238E27FC236}">
                <a16:creationId xmlns:a16="http://schemas.microsoft.com/office/drawing/2014/main" id="{768233FA-9294-C66B-385A-F57E68FA1F33}"/>
              </a:ext>
            </a:extLst>
          </p:cNvPr>
          <p:cNvPicPr>
            <a:picLocks noChangeAspect="1"/>
          </p:cNvPicPr>
          <p:nvPr/>
        </p:nvPicPr>
        <p:blipFill>
          <a:blip r:embed="rId3"/>
          <a:srcRect/>
          <a:stretch/>
        </p:blipFill>
        <p:spPr>
          <a:xfrm>
            <a:off x="411480" y="1234440"/>
            <a:ext cx="5943600" cy="4864493"/>
          </a:xfrm>
          <a:prstGeom prst="rect">
            <a:avLst/>
          </a:prstGeom>
        </p:spPr>
      </p:pic>
      <p:sp>
        <p:nvSpPr>
          <p:cNvPr id="48" name="Shape 3">
            <a:extLst>
              <a:ext uri="{FF2B5EF4-FFF2-40B4-BE49-F238E27FC236}">
                <a16:creationId xmlns:a16="http://schemas.microsoft.com/office/drawing/2014/main" id="{099E5663-5554-CEC7-21E4-3FFC4E608D1D}"/>
              </a:ext>
            </a:extLst>
          </p:cNvPr>
          <p:cNvSpPr/>
          <p:nvPr/>
        </p:nvSpPr>
        <p:spPr>
          <a:xfrm>
            <a:off x="6583680" y="1234440"/>
            <a:ext cx="5303520" cy="2011680"/>
          </a:xfrm>
          <a:prstGeom prst="rect">
            <a:avLst/>
          </a:prstGeom>
          <a:solidFill>
            <a:srgbClr val="0D2B55"/>
          </a:solidFill>
          <a:ln w="12700">
            <a:solidFill>
              <a:srgbClr val="0D2B55"/>
            </a:solidFill>
            <a:prstDash val="solid"/>
          </a:ln>
        </p:spPr>
        <p:txBody>
          <a:bodyPr/>
          <a:lstStyle/>
          <a:p>
            <a:endParaRPr lang="ar-SA"/>
          </a:p>
        </p:txBody>
      </p:sp>
      <p:sp>
        <p:nvSpPr>
          <p:cNvPr id="49" name="Text 4">
            <a:extLst>
              <a:ext uri="{FF2B5EF4-FFF2-40B4-BE49-F238E27FC236}">
                <a16:creationId xmlns:a16="http://schemas.microsoft.com/office/drawing/2014/main" id="{A088666E-EDE3-265F-6BA0-F68BB95F0273}"/>
              </a:ext>
            </a:extLst>
          </p:cNvPr>
          <p:cNvSpPr/>
          <p:nvPr/>
        </p:nvSpPr>
        <p:spPr>
          <a:xfrm>
            <a:off x="6675120" y="1325880"/>
            <a:ext cx="5120640" cy="41148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Grad-CAM</a:t>
            </a:r>
            <a:endParaRPr lang="en-US" sz="1800" dirty="0"/>
          </a:p>
        </p:txBody>
      </p:sp>
      <p:sp>
        <p:nvSpPr>
          <p:cNvPr id="50" name="Text 5">
            <a:extLst>
              <a:ext uri="{FF2B5EF4-FFF2-40B4-BE49-F238E27FC236}">
                <a16:creationId xmlns:a16="http://schemas.microsoft.com/office/drawing/2014/main" id="{150B9EDC-BCA1-0302-E6EC-EC3E9B43699D}"/>
              </a:ext>
            </a:extLst>
          </p:cNvPr>
          <p:cNvSpPr/>
          <p:nvPr/>
        </p:nvSpPr>
        <p:spPr>
          <a:xfrm>
            <a:off x="6675120" y="1737360"/>
            <a:ext cx="5120640" cy="658368"/>
          </a:xfrm>
          <a:prstGeom prst="rect">
            <a:avLst/>
          </a:prstGeom>
          <a:noFill/>
          <a:ln/>
        </p:spPr>
        <p:txBody>
          <a:bodyPr wrap="square" rtlCol="0" anchor="ctr"/>
          <a:lstStyle/>
          <a:p>
            <a:pPr marL="0" indent="0" algn="ctr">
              <a:buNone/>
            </a:pPr>
            <a:r>
              <a:rPr lang="en-US" sz="4200" b="1" dirty="0">
                <a:solidFill>
                  <a:srgbClr val="F4A261"/>
                </a:solidFill>
                <a:latin typeface="Calibri" pitchFamily="34" charset="0"/>
                <a:ea typeface="Calibri" pitchFamily="34" charset="-122"/>
                <a:cs typeface="Calibri" pitchFamily="34" charset="-120"/>
              </a:rPr>
              <a:t>55.8%</a:t>
            </a:r>
            <a:endParaRPr lang="en-US" sz="4200" dirty="0"/>
          </a:p>
        </p:txBody>
      </p:sp>
      <p:sp>
        <p:nvSpPr>
          <p:cNvPr id="51" name="Text 6">
            <a:extLst>
              <a:ext uri="{FF2B5EF4-FFF2-40B4-BE49-F238E27FC236}">
                <a16:creationId xmlns:a16="http://schemas.microsoft.com/office/drawing/2014/main" id="{012BF292-C1EE-C5FB-2572-445DDEE873AD}"/>
              </a:ext>
            </a:extLst>
          </p:cNvPr>
          <p:cNvSpPr/>
          <p:nvPr/>
        </p:nvSpPr>
        <p:spPr>
          <a:xfrm>
            <a:off x="6675120" y="2377440"/>
            <a:ext cx="5120640" cy="320040"/>
          </a:xfrm>
          <a:prstGeom prst="rect">
            <a:avLst/>
          </a:prstGeom>
          <a:noFill/>
          <a:ln/>
        </p:spPr>
        <p:txBody>
          <a:bodyPr wrap="square" rtlCol="0" anchor="ctr"/>
          <a:lstStyle/>
          <a:p>
            <a:pPr marL="0" indent="0" algn="ctr">
              <a:buNone/>
            </a:pPr>
            <a:r>
              <a:rPr lang="en-US" sz="1100" dirty="0">
                <a:solidFill>
                  <a:srgbClr val="0FA3B1"/>
                </a:solidFill>
                <a:latin typeface="Calibri" pitchFamily="34" charset="0"/>
                <a:ea typeface="Calibri" pitchFamily="34" charset="-122"/>
                <a:cs typeface="Calibri" pitchFamily="34" charset="-120"/>
              </a:rPr>
              <a:t>95% CI: [47.5%, 64.2%]</a:t>
            </a:r>
            <a:endParaRPr lang="en-US" sz="1100" dirty="0"/>
          </a:p>
        </p:txBody>
      </p:sp>
      <p:sp>
        <p:nvSpPr>
          <p:cNvPr id="52" name="Shape 7">
            <a:extLst>
              <a:ext uri="{FF2B5EF4-FFF2-40B4-BE49-F238E27FC236}">
                <a16:creationId xmlns:a16="http://schemas.microsoft.com/office/drawing/2014/main" id="{71D7FAD6-E705-0AAA-73F3-E142491592DB}"/>
              </a:ext>
            </a:extLst>
          </p:cNvPr>
          <p:cNvSpPr/>
          <p:nvPr/>
        </p:nvSpPr>
        <p:spPr>
          <a:xfrm>
            <a:off x="6583680" y="3383280"/>
            <a:ext cx="5303520" cy="2011680"/>
          </a:xfrm>
          <a:prstGeom prst="rect">
            <a:avLst/>
          </a:prstGeom>
          <a:solidFill>
            <a:srgbClr val="1B6CA8"/>
          </a:solidFill>
          <a:ln w="12700">
            <a:solidFill>
              <a:srgbClr val="1B6CA8"/>
            </a:solidFill>
            <a:prstDash val="solid"/>
          </a:ln>
        </p:spPr>
        <p:txBody>
          <a:bodyPr/>
          <a:lstStyle/>
          <a:p>
            <a:endParaRPr lang="ar-SA"/>
          </a:p>
        </p:txBody>
      </p:sp>
      <p:sp>
        <p:nvSpPr>
          <p:cNvPr id="53" name="Text 8">
            <a:extLst>
              <a:ext uri="{FF2B5EF4-FFF2-40B4-BE49-F238E27FC236}">
                <a16:creationId xmlns:a16="http://schemas.microsoft.com/office/drawing/2014/main" id="{92C1B28C-D91A-94AE-4F1A-51864D163028}"/>
              </a:ext>
            </a:extLst>
          </p:cNvPr>
          <p:cNvSpPr/>
          <p:nvPr/>
        </p:nvSpPr>
        <p:spPr>
          <a:xfrm>
            <a:off x="6675120" y="3474720"/>
            <a:ext cx="5120640" cy="41148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SHAP</a:t>
            </a:r>
            <a:endParaRPr lang="en-US" sz="1800" dirty="0"/>
          </a:p>
        </p:txBody>
      </p:sp>
      <p:sp>
        <p:nvSpPr>
          <p:cNvPr id="54" name="Text 9">
            <a:extLst>
              <a:ext uri="{FF2B5EF4-FFF2-40B4-BE49-F238E27FC236}">
                <a16:creationId xmlns:a16="http://schemas.microsoft.com/office/drawing/2014/main" id="{A59A9A57-AF37-92A2-B1AE-6678047D9A49}"/>
              </a:ext>
            </a:extLst>
          </p:cNvPr>
          <p:cNvSpPr/>
          <p:nvPr/>
        </p:nvSpPr>
        <p:spPr>
          <a:xfrm>
            <a:off x="6675120" y="3886200"/>
            <a:ext cx="5120640" cy="658368"/>
          </a:xfrm>
          <a:prstGeom prst="rect">
            <a:avLst/>
          </a:prstGeom>
          <a:noFill/>
          <a:ln/>
        </p:spPr>
        <p:txBody>
          <a:bodyPr wrap="square" rtlCol="0" anchor="ctr"/>
          <a:lstStyle/>
          <a:p>
            <a:pPr marL="0" indent="0" algn="ctr">
              <a:buNone/>
            </a:pPr>
            <a:r>
              <a:rPr lang="en-US" sz="4200" b="1" dirty="0">
                <a:solidFill>
                  <a:srgbClr val="F4A261"/>
                </a:solidFill>
                <a:latin typeface="Calibri" pitchFamily="34" charset="0"/>
                <a:ea typeface="Calibri" pitchFamily="34" charset="-122"/>
                <a:cs typeface="Calibri" pitchFamily="34" charset="-120"/>
              </a:rPr>
              <a:t>39.2%</a:t>
            </a:r>
            <a:endParaRPr lang="en-US" sz="4200" dirty="0"/>
          </a:p>
        </p:txBody>
      </p:sp>
      <p:sp>
        <p:nvSpPr>
          <p:cNvPr id="55" name="Text 10">
            <a:extLst>
              <a:ext uri="{FF2B5EF4-FFF2-40B4-BE49-F238E27FC236}">
                <a16:creationId xmlns:a16="http://schemas.microsoft.com/office/drawing/2014/main" id="{83D34C1F-FEDD-E4B6-A487-325407DF1F51}"/>
              </a:ext>
            </a:extLst>
          </p:cNvPr>
          <p:cNvSpPr/>
          <p:nvPr/>
        </p:nvSpPr>
        <p:spPr>
          <a:xfrm>
            <a:off x="6675120" y="4526280"/>
            <a:ext cx="5120640" cy="320040"/>
          </a:xfrm>
          <a:prstGeom prst="rect">
            <a:avLst/>
          </a:prstGeom>
          <a:noFill/>
          <a:ln/>
        </p:spPr>
        <p:txBody>
          <a:bodyPr wrap="square" rtlCol="0" anchor="ctr"/>
          <a:lstStyle/>
          <a:p>
            <a:pPr marL="0" indent="0" algn="ctr">
              <a:buNone/>
            </a:pPr>
            <a:r>
              <a:rPr lang="en-US" sz="1100" dirty="0">
                <a:solidFill>
                  <a:srgbClr val="0FA3B1"/>
                </a:solidFill>
                <a:latin typeface="Calibri" pitchFamily="34" charset="0"/>
                <a:ea typeface="Calibri" pitchFamily="34" charset="-122"/>
                <a:cs typeface="Calibri" pitchFamily="34" charset="-120"/>
              </a:rPr>
              <a:t>95% CI: [30.8%, 47.5%]</a:t>
            </a:r>
            <a:endParaRPr lang="en-US" sz="1100" dirty="0"/>
          </a:p>
        </p:txBody>
      </p:sp>
      <p:sp>
        <p:nvSpPr>
          <p:cNvPr id="56" name="Shape 11">
            <a:extLst>
              <a:ext uri="{FF2B5EF4-FFF2-40B4-BE49-F238E27FC236}">
                <a16:creationId xmlns:a16="http://schemas.microsoft.com/office/drawing/2014/main" id="{BCB1AFDC-7434-2A11-495B-DA1127D25C6B}"/>
              </a:ext>
            </a:extLst>
          </p:cNvPr>
          <p:cNvSpPr/>
          <p:nvPr/>
        </p:nvSpPr>
        <p:spPr>
          <a:xfrm>
            <a:off x="6583680" y="5532120"/>
            <a:ext cx="5303520" cy="777240"/>
          </a:xfrm>
          <a:prstGeom prst="rect">
            <a:avLst/>
          </a:prstGeom>
          <a:solidFill>
            <a:srgbClr val="16A34A"/>
          </a:solidFill>
          <a:ln w="12700">
            <a:solidFill>
              <a:srgbClr val="16A34A"/>
            </a:solidFill>
            <a:prstDash val="solid"/>
          </a:ln>
        </p:spPr>
        <p:txBody>
          <a:bodyPr/>
          <a:lstStyle/>
          <a:p>
            <a:endParaRPr lang="ar-SA"/>
          </a:p>
        </p:txBody>
      </p:sp>
      <p:sp>
        <p:nvSpPr>
          <p:cNvPr id="57" name="Text 12">
            <a:extLst>
              <a:ext uri="{FF2B5EF4-FFF2-40B4-BE49-F238E27FC236}">
                <a16:creationId xmlns:a16="http://schemas.microsoft.com/office/drawing/2014/main" id="{DF0FE107-AAB5-4B15-2F27-2DF96CA812FD}"/>
              </a:ext>
            </a:extLst>
          </p:cNvPr>
          <p:cNvSpPr/>
          <p:nvPr/>
        </p:nvSpPr>
        <p:spPr>
          <a:xfrm>
            <a:off x="6675120" y="5669280"/>
            <a:ext cx="5120640" cy="6400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McNemar exact p = 0.012  →  Statistically significant difference</a:t>
            </a:r>
            <a:endParaRPr lang="en-US" sz="1250" dirty="0"/>
          </a:p>
        </p:txBody>
      </p:sp>
    </p:spTree>
    <p:extLst>
      <p:ext uri="{BB962C8B-B14F-4D97-AF65-F5344CB8AC3E}">
        <p14:creationId xmlns:p14="http://schemas.microsoft.com/office/powerpoint/2010/main" val="4148062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0D2B55"/>
          </a:solidFill>
          <a:ln w="12700">
            <a:solidFill>
              <a:srgbClr val="0D2B55"/>
            </a:solidFill>
            <a:prstDash val="solid"/>
          </a:ln>
        </p:spPr>
        <p:txBody>
          <a:bodyPr/>
          <a:lstStyle/>
          <a:p>
            <a:endParaRPr lang="ar-SA"/>
          </a:p>
        </p:txBody>
      </p:sp>
      <p:sp>
        <p:nvSpPr>
          <p:cNvPr id="3" name="Text 1"/>
          <p:cNvSpPr/>
          <p:nvPr/>
        </p:nvSpPr>
        <p:spPr>
          <a:xfrm>
            <a:off x="457200" y="128016"/>
            <a:ext cx="11247120" cy="65836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Results &amp; Analysis: Continuous XAI Metric Comparison</a:t>
            </a:r>
            <a:endParaRPr lang="en-US" sz="2600" dirty="0"/>
          </a:p>
        </p:txBody>
      </p:sp>
      <p:sp>
        <p:nvSpPr>
          <p:cNvPr id="4" name="Text 2"/>
          <p:cNvSpPr/>
          <p:nvPr/>
        </p:nvSpPr>
        <p:spPr>
          <a:xfrm>
            <a:off x="365760" y="1024128"/>
            <a:ext cx="11430000" cy="347472"/>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Paired Wilcoxon signed-rank tests on N=120 masked attribution maps (24 per class). All 6 metrics: p &lt; 10⁻³.</a:t>
            </a:r>
            <a:endParaRPr lang="en-US" sz="1300" dirty="0"/>
          </a:p>
        </p:txBody>
      </p:sp>
      <p:sp>
        <p:nvSpPr>
          <p:cNvPr id="5" name="Shape 3"/>
          <p:cNvSpPr/>
          <p:nvPr/>
        </p:nvSpPr>
        <p:spPr>
          <a:xfrm>
            <a:off x="365760" y="1481328"/>
            <a:ext cx="2194560" cy="457200"/>
          </a:xfrm>
          <a:prstGeom prst="rect">
            <a:avLst/>
          </a:prstGeom>
          <a:solidFill>
            <a:srgbClr val="0D2B55"/>
          </a:solidFill>
          <a:ln w="12700">
            <a:solidFill>
              <a:srgbClr val="0D2B55"/>
            </a:solidFill>
            <a:prstDash val="solid"/>
          </a:ln>
        </p:spPr>
        <p:txBody>
          <a:bodyPr/>
          <a:lstStyle/>
          <a:p>
            <a:endParaRPr lang="ar-SA"/>
          </a:p>
        </p:txBody>
      </p:sp>
      <p:sp>
        <p:nvSpPr>
          <p:cNvPr id="6" name="Text 4"/>
          <p:cNvSpPr/>
          <p:nvPr/>
        </p:nvSpPr>
        <p:spPr>
          <a:xfrm>
            <a:off x="411480" y="1527048"/>
            <a:ext cx="2103120" cy="3657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Metric</a:t>
            </a:r>
            <a:endParaRPr lang="en-US" sz="1150" dirty="0"/>
          </a:p>
        </p:txBody>
      </p:sp>
      <p:sp>
        <p:nvSpPr>
          <p:cNvPr id="7" name="Shape 5"/>
          <p:cNvSpPr/>
          <p:nvPr/>
        </p:nvSpPr>
        <p:spPr>
          <a:xfrm>
            <a:off x="2560320" y="1481328"/>
            <a:ext cx="1691640" cy="457200"/>
          </a:xfrm>
          <a:prstGeom prst="rect">
            <a:avLst/>
          </a:prstGeom>
          <a:solidFill>
            <a:srgbClr val="0D2B55"/>
          </a:solidFill>
          <a:ln w="12700">
            <a:solidFill>
              <a:srgbClr val="0D2B55"/>
            </a:solidFill>
            <a:prstDash val="solid"/>
          </a:ln>
        </p:spPr>
        <p:txBody>
          <a:bodyPr/>
          <a:lstStyle/>
          <a:p>
            <a:endParaRPr lang="ar-SA"/>
          </a:p>
        </p:txBody>
      </p:sp>
      <p:sp>
        <p:nvSpPr>
          <p:cNvPr id="8" name="Text 6"/>
          <p:cNvSpPr/>
          <p:nvPr/>
        </p:nvSpPr>
        <p:spPr>
          <a:xfrm>
            <a:off x="2606040" y="1527048"/>
            <a:ext cx="1600200" cy="3657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Grad-CAM (mean)</a:t>
            </a:r>
            <a:endParaRPr lang="en-US" sz="1150" dirty="0"/>
          </a:p>
        </p:txBody>
      </p:sp>
      <p:sp>
        <p:nvSpPr>
          <p:cNvPr id="9" name="Shape 7"/>
          <p:cNvSpPr/>
          <p:nvPr/>
        </p:nvSpPr>
        <p:spPr>
          <a:xfrm>
            <a:off x="4251960" y="1481328"/>
            <a:ext cx="1554480" cy="457200"/>
          </a:xfrm>
          <a:prstGeom prst="rect">
            <a:avLst/>
          </a:prstGeom>
          <a:solidFill>
            <a:srgbClr val="0D2B55"/>
          </a:solidFill>
          <a:ln w="12700">
            <a:solidFill>
              <a:srgbClr val="0D2B55"/>
            </a:solidFill>
            <a:prstDash val="solid"/>
          </a:ln>
        </p:spPr>
        <p:txBody>
          <a:bodyPr/>
          <a:lstStyle/>
          <a:p>
            <a:endParaRPr lang="ar-SA"/>
          </a:p>
        </p:txBody>
      </p:sp>
      <p:sp>
        <p:nvSpPr>
          <p:cNvPr id="10" name="Text 8"/>
          <p:cNvSpPr/>
          <p:nvPr/>
        </p:nvSpPr>
        <p:spPr>
          <a:xfrm>
            <a:off x="4297680" y="1527048"/>
            <a:ext cx="1463040" cy="3657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SHAP (mean)</a:t>
            </a:r>
            <a:endParaRPr lang="en-US" sz="1150" dirty="0"/>
          </a:p>
        </p:txBody>
      </p:sp>
      <p:sp>
        <p:nvSpPr>
          <p:cNvPr id="11" name="Shape 9"/>
          <p:cNvSpPr/>
          <p:nvPr/>
        </p:nvSpPr>
        <p:spPr>
          <a:xfrm>
            <a:off x="5806440" y="1481328"/>
            <a:ext cx="1234440" cy="457200"/>
          </a:xfrm>
          <a:prstGeom prst="rect">
            <a:avLst/>
          </a:prstGeom>
          <a:solidFill>
            <a:srgbClr val="0D2B55"/>
          </a:solidFill>
          <a:ln w="12700">
            <a:solidFill>
              <a:srgbClr val="0D2B55"/>
            </a:solidFill>
            <a:prstDash val="solid"/>
          </a:ln>
        </p:spPr>
        <p:txBody>
          <a:bodyPr/>
          <a:lstStyle/>
          <a:p>
            <a:endParaRPr lang="ar-SA"/>
          </a:p>
        </p:txBody>
      </p:sp>
      <p:sp>
        <p:nvSpPr>
          <p:cNvPr id="12" name="Text 10"/>
          <p:cNvSpPr/>
          <p:nvPr/>
        </p:nvSpPr>
        <p:spPr>
          <a:xfrm>
            <a:off x="5852160" y="1527048"/>
            <a:ext cx="1143000" cy="3657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Paired Δ</a:t>
            </a:r>
            <a:endParaRPr lang="en-US" sz="1150" dirty="0"/>
          </a:p>
        </p:txBody>
      </p:sp>
      <p:sp>
        <p:nvSpPr>
          <p:cNvPr id="13" name="Shape 11"/>
          <p:cNvSpPr/>
          <p:nvPr/>
        </p:nvSpPr>
        <p:spPr>
          <a:xfrm>
            <a:off x="7040880" y="1481328"/>
            <a:ext cx="1417320" cy="457200"/>
          </a:xfrm>
          <a:prstGeom prst="rect">
            <a:avLst/>
          </a:prstGeom>
          <a:solidFill>
            <a:srgbClr val="0D2B55"/>
          </a:solidFill>
          <a:ln w="12700">
            <a:solidFill>
              <a:srgbClr val="0D2B55"/>
            </a:solidFill>
            <a:prstDash val="solid"/>
          </a:ln>
        </p:spPr>
        <p:txBody>
          <a:bodyPr/>
          <a:lstStyle/>
          <a:p>
            <a:endParaRPr lang="ar-SA"/>
          </a:p>
        </p:txBody>
      </p:sp>
      <p:sp>
        <p:nvSpPr>
          <p:cNvPr id="14" name="Text 12"/>
          <p:cNvSpPr/>
          <p:nvPr/>
        </p:nvSpPr>
        <p:spPr>
          <a:xfrm>
            <a:off x="7086600" y="1527048"/>
            <a:ext cx="1325880" cy="3657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Wilcoxon p</a:t>
            </a:r>
            <a:endParaRPr lang="en-US" sz="1150" dirty="0"/>
          </a:p>
        </p:txBody>
      </p:sp>
      <p:sp>
        <p:nvSpPr>
          <p:cNvPr id="15" name="Shape 13"/>
          <p:cNvSpPr/>
          <p:nvPr/>
        </p:nvSpPr>
        <p:spPr>
          <a:xfrm>
            <a:off x="8458200" y="1481328"/>
            <a:ext cx="1097280" cy="457200"/>
          </a:xfrm>
          <a:prstGeom prst="rect">
            <a:avLst/>
          </a:prstGeom>
          <a:solidFill>
            <a:srgbClr val="0D2B55"/>
          </a:solidFill>
          <a:ln w="12700">
            <a:solidFill>
              <a:srgbClr val="0D2B55"/>
            </a:solidFill>
            <a:prstDash val="solid"/>
          </a:ln>
        </p:spPr>
        <p:txBody>
          <a:bodyPr/>
          <a:lstStyle/>
          <a:p>
            <a:endParaRPr lang="ar-SA"/>
          </a:p>
        </p:txBody>
      </p:sp>
      <p:sp>
        <p:nvSpPr>
          <p:cNvPr id="16" name="Text 14"/>
          <p:cNvSpPr/>
          <p:nvPr/>
        </p:nvSpPr>
        <p:spPr>
          <a:xfrm>
            <a:off x="8503920" y="1527048"/>
            <a:ext cx="1005840" cy="3657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d_z</a:t>
            </a:r>
            <a:endParaRPr lang="en-US" sz="1150" dirty="0"/>
          </a:p>
        </p:txBody>
      </p:sp>
      <p:sp>
        <p:nvSpPr>
          <p:cNvPr id="17" name="Shape 15"/>
          <p:cNvSpPr/>
          <p:nvPr/>
        </p:nvSpPr>
        <p:spPr>
          <a:xfrm>
            <a:off x="9555480" y="1481328"/>
            <a:ext cx="1645920" cy="457200"/>
          </a:xfrm>
          <a:prstGeom prst="rect">
            <a:avLst/>
          </a:prstGeom>
          <a:solidFill>
            <a:srgbClr val="0D2B55"/>
          </a:solidFill>
          <a:ln w="12700">
            <a:solidFill>
              <a:srgbClr val="0D2B55"/>
            </a:solidFill>
            <a:prstDash val="solid"/>
          </a:ln>
        </p:spPr>
        <p:txBody>
          <a:bodyPr/>
          <a:lstStyle/>
          <a:p>
            <a:endParaRPr lang="ar-SA"/>
          </a:p>
        </p:txBody>
      </p:sp>
      <p:sp>
        <p:nvSpPr>
          <p:cNvPr id="18" name="Text 16"/>
          <p:cNvSpPr/>
          <p:nvPr/>
        </p:nvSpPr>
        <p:spPr>
          <a:xfrm>
            <a:off x="9601200" y="1527048"/>
            <a:ext cx="1554480" cy="3657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Winner</a:t>
            </a:r>
            <a:endParaRPr lang="en-US" sz="1150" dirty="0"/>
          </a:p>
        </p:txBody>
      </p:sp>
      <p:sp>
        <p:nvSpPr>
          <p:cNvPr id="19" name="Shape 17"/>
          <p:cNvSpPr/>
          <p:nvPr/>
        </p:nvSpPr>
        <p:spPr>
          <a:xfrm>
            <a:off x="365760" y="1965960"/>
            <a:ext cx="2194560" cy="621792"/>
          </a:xfrm>
          <a:prstGeom prst="rect">
            <a:avLst/>
          </a:prstGeom>
          <a:solidFill>
            <a:srgbClr val="F0F8FF"/>
          </a:solidFill>
          <a:ln w="6350">
            <a:solidFill>
              <a:srgbClr val="CBD5E1"/>
            </a:solidFill>
            <a:prstDash val="solid"/>
          </a:ln>
        </p:spPr>
        <p:txBody>
          <a:bodyPr/>
          <a:lstStyle/>
          <a:p>
            <a:endParaRPr lang="ar-SA"/>
          </a:p>
        </p:txBody>
      </p:sp>
      <p:sp>
        <p:nvSpPr>
          <p:cNvPr id="20" name="Text 18"/>
          <p:cNvSpPr/>
          <p:nvPr/>
        </p:nvSpPr>
        <p:spPr>
          <a:xfrm>
            <a:off x="411480" y="2011680"/>
            <a:ext cx="2103120" cy="530352"/>
          </a:xfrm>
          <a:prstGeom prst="rect">
            <a:avLst/>
          </a:prstGeom>
          <a:noFill/>
          <a:ln/>
        </p:spPr>
        <p:txBody>
          <a:bodyPr wrap="square" rtlCol="0" anchor="ctr"/>
          <a:lstStyle/>
          <a:p>
            <a:pPr marL="0" indent="0" algn="l">
              <a:buNone/>
            </a:pPr>
            <a:r>
              <a:rPr lang="en-US" sz="1150" dirty="0">
                <a:solidFill>
                  <a:srgbClr val="1E293B"/>
                </a:solidFill>
                <a:latin typeface="Calibri" pitchFamily="34" charset="0"/>
                <a:ea typeface="Calibri" pitchFamily="34" charset="-122"/>
                <a:cs typeface="Calibri" pitchFamily="34" charset="-120"/>
              </a:rPr>
              <a:t>Border Ratio ↓</a:t>
            </a:r>
            <a:endParaRPr lang="en-US" sz="1150" dirty="0"/>
          </a:p>
        </p:txBody>
      </p:sp>
      <p:sp>
        <p:nvSpPr>
          <p:cNvPr id="21" name="Shape 19"/>
          <p:cNvSpPr/>
          <p:nvPr/>
        </p:nvSpPr>
        <p:spPr>
          <a:xfrm>
            <a:off x="2560320" y="1965960"/>
            <a:ext cx="1691640" cy="621792"/>
          </a:xfrm>
          <a:prstGeom prst="rect">
            <a:avLst/>
          </a:prstGeom>
          <a:solidFill>
            <a:srgbClr val="F0F8FF"/>
          </a:solidFill>
          <a:ln w="6350">
            <a:solidFill>
              <a:srgbClr val="CBD5E1"/>
            </a:solidFill>
            <a:prstDash val="solid"/>
          </a:ln>
        </p:spPr>
        <p:txBody>
          <a:bodyPr/>
          <a:lstStyle/>
          <a:p>
            <a:endParaRPr lang="ar-SA"/>
          </a:p>
        </p:txBody>
      </p:sp>
      <p:sp>
        <p:nvSpPr>
          <p:cNvPr id="22" name="Text 20"/>
          <p:cNvSpPr/>
          <p:nvPr/>
        </p:nvSpPr>
        <p:spPr>
          <a:xfrm>
            <a:off x="2606040" y="2011680"/>
            <a:ext cx="160020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0.206</a:t>
            </a:r>
            <a:endParaRPr lang="en-US" sz="1150" dirty="0"/>
          </a:p>
        </p:txBody>
      </p:sp>
      <p:sp>
        <p:nvSpPr>
          <p:cNvPr id="23" name="Shape 21"/>
          <p:cNvSpPr/>
          <p:nvPr/>
        </p:nvSpPr>
        <p:spPr>
          <a:xfrm>
            <a:off x="4251960" y="1965960"/>
            <a:ext cx="1554480" cy="621792"/>
          </a:xfrm>
          <a:prstGeom prst="rect">
            <a:avLst/>
          </a:prstGeom>
          <a:solidFill>
            <a:srgbClr val="F0F8FF"/>
          </a:solidFill>
          <a:ln w="6350">
            <a:solidFill>
              <a:srgbClr val="CBD5E1"/>
            </a:solidFill>
            <a:prstDash val="solid"/>
          </a:ln>
        </p:spPr>
        <p:txBody>
          <a:bodyPr/>
          <a:lstStyle/>
          <a:p>
            <a:endParaRPr lang="ar-SA"/>
          </a:p>
        </p:txBody>
      </p:sp>
      <p:sp>
        <p:nvSpPr>
          <p:cNvPr id="24" name="Text 22"/>
          <p:cNvSpPr/>
          <p:nvPr/>
        </p:nvSpPr>
        <p:spPr>
          <a:xfrm>
            <a:off x="4297680" y="2011680"/>
            <a:ext cx="146304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0.234</a:t>
            </a:r>
            <a:endParaRPr lang="en-US" sz="1150" dirty="0"/>
          </a:p>
        </p:txBody>
      </p:sp>
      <p:sp>
        <p:nvSpPr>
          <p:cNvPr id="25" name="Shape 23"/>
          <p:cNvSpPr/>
          <p:nvPr/>
        </p:nvSpPr>
        <p:spPr>
          <a:xfrm>
            <a:off x="5806440" y="1965960"/>
            <a:ext cx="1234440" cy="621792"/>
          </a:xfrm>
          <a:prstGeom prst="rect">
            <a:avLst/>
          </a:prstGeom>
          <a:solidFill>
            <a:srgbClr val="F0F8FF"/>
          </a:solidFill>
          <a:ln w="6350">
            <a:solidFill>
              <a:srgbClr val="CBD5E1"/>
            </a:solidFill>
            <a:prstDash val="solid"/>
          </a:ln>
        </p:spPr>
        <p:txBody>
          <a:bodyPr/>
          <a:lstStyle/>
          <a:p>
            <a:endParaRPr lang="ar-SA"/>
          </a:p>
        </p:txBody>
      </p:sp>
      <p:sp>
        <p:nvSpPr>
          <p:cNvPr id="26" name="Text 24"/>
          <p:cNvSpPr/>
          <p:nvPr/>
        </p:nvSpPr>
        <p:spPr>
          <a:xfrm>
            <a:off x="5852160" y="2011680"/>
            <a:ext cx="114300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−0.028</a:t>
            </a:r>
            <a:endParaRPr lang="en-US" sz="1150" dirty="0"/>
          </a:p>
        </p:txBody>
      </p:sp>
      <p:sp>
        <p:nvSpPr>
          <p:cNvPr id="27" name="Shape 25"/>
          <p:cNvSpPr/>
          <p:nvPr/>
        </p:nvSpPr>
        <p:spPr>
          <a:xfrm>
            <a:off x="7040880" y="1965960"/>
            <a:ext cx="1417320" cy="621792"/>
          </a:xfrm>
          <a:prstGeom prst="rect">
            <a:avLst/>
          </a:prstGeom>
          <a:solidFill>
            <a:srgbClr val="F0F8FF"/>
          </a:solidFill>
          <a:ln w="6350">
            <a:solidFill>
              <a:srgbClr val="CBD5E1"/>
            </a:solidFill>
            <a:prstDash val="solid"/>
          </a:ln>
        </p:spPr>
        <p:txBody>
          <a:bodyPr/>
          <a:lstStyle/>
          <a:p>
            <a:endParaRPr lang="ar-SA"/>
          </a:p>
        </p:txBody>
      </p:sp>
      <p:sp>
        <p:nvSpPr>
          <p:cNvPr id="28" name="Text 26"/>
          <p:cNvSpPr/>
          <p:nvPr/>
        </p:nvSpPr>
        <p:spPr>
          <a:xfrm>
            <a:off x="7086600" y="2011680"/>
            <a:ext cx="132588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9.6×10⁻⁵</a:t>
            </a:r>
            <a:endParaRPr lang="en-US" sz="1150" dirty="0"/>
          </a:p>
        </p:txBody>
      </p:sp>
      <p:sp>
        <p:nvSpPr>
          <p:cNvPr id="29" name="Shape 27"/>
          <p:cNvSpPr/>
          <p:nvPr/>
        </p:nvSpPr>
        <p:spPr>
          <a:xfrm>
            <a:off x="8458200" y="1965960"/>
            <a:ext cx="1097280" cy="621792"/>
          </a:xfrm>
          <a:prstGeom prst="rect">
            <a:avLst/>
          </a:prstGeom>
          <a:solidFill>
            <a:srgbClr val="F0F8FF"/>
          </a:solidFill>
          <a:ln w="6350">
            <a:solidFill>
              <a:srgbClr val="CBD5E1"/>
            </a:solidFill>
            <a:prstDash val="solid"/>
          </a:ln>
        </p:spPr>
        <p:txBody>
          <a:bodyPr/>
          <a:lstStyle/>
          <a:p>
            <a:endParaRPr lang="ar-SA"/>
          </a:p>
        </p:txBody>
      </p:sp>
      <p:sp>
        <p:nvSpPr>
          <p:cNvPr id="30" name="Text 28"/>
          <p:cNvSpPr/>
          <p:nvPr/>
        </p:nvSpPr>
        <p:spPr>
          <a:xfrm>
            <a:off x="8503920" y="2011680"/>
            <a:ext cx="100584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0.32</a:t>
            </a:r>
            <a:endParaRPr lang="en-US" sz="1150" dirty="0"/>
          </a:p>
        </p:txBody>
      </p:sp>
      <p:sp>
        <p:nvSpPr>
          <p:cNvPr id="31" name="Shape 29"/>
          <p:cNvSpPr/>
          <p:nvPr/>
        </p:nvSpPr>
        <p:spPr>
          <a:xfrm>
            <a:off x="9555480" y="1965960"/>
            <a:ext cx="1645920" cy="621792"/>
          </a:xfrm>
          <a:prstGeom prst="rect">
            <a:avLst/>
          </a:prstGeom>
          <a:solidFill>
            <a:srgbClr val="E8F5E9"/>
          </a:solidFill>
          <a:ln w="6350">
            <a:solidFill>
              <a:srgbClr val="CBD5E1"/>
            </a:solidFill>
            <a:prstDash val="solid"/>
          </a:ln>
        </p:spPr>
        <p:txBody>
          <a:bodyPr/>
          <a:lstStyle/>
          <a:p>
            <a:endParaRPr lang="ar-SA"/>
          </a:p>
        </p:txBody>
      </p:sp>
      <p:sp>
        <p:nvSpPr>
          <p:cNvPr id="32" name="Text 30"/>
          <p:cNvSpPr/>
          <p:nvPr/>
        </p:nvSpPr>
        <p:spPr>
          <a:xfrm>
            <a:off x="9601200" y="2011680"/>
            <a:ext cx="1554480" cy="530352"/>
          </a:xfrm>
          <a:prstGeom prst="rect">
            <a:avLst/>
          </a:prstGeom>
          <a:noFill/>
          <a:ln/>
        </p:spPr>
        <p:txBody>
          <a:bodyPr wrap="square" rtlCol="0" anchor="ctr"/>
          <a:lstStyle/>
          <a:p>
            <a:pPr marL="0" indent="0" algn="ctr">
              <a:buNone/>
            </a:pPr>
            <a:r>
              <a:rPr lang="en-US" sz="1150" b="1" dirty="0">
                <a:solidFill>
                  <a:srgbClr val="16A34A"/>
                </a:solidFill>
                <a:latin typeface="Calibri" pitchFamily="34" charset="0"/>
                <a:ea typeface="Calibri" pitchFamily="34" charset="-122"/>
                <a:cs typeface="Calibri" pitchFamily="34" charset="-120"/>
              </a:rPr>
              <a:t>Grad-CAM</a:t>
            </a:r>
            <a:endParaRPr lang="en-US" sz="1150" dirty="0"/>
          </a:p>
        </p:txBody>
      </p:sp>
      <p:sp>
        <p:nvSpPr>
          <p:cNvPr id="33" name="Shape 31"/>
          <p:cNvSpPr/>
          <p:nvPr/>
        </p:nvSpPr>
        <p:spPr>
          <a:xfrm>
            <a:off x="365760" y="2633472"/>
            <a:ext cx="2194560" cy="621792"/>
          </a:xfrm>
          <a:prstGeom prst="rect">
            <a:avLst/>
          </a:prstGeom>
          <a:solidFill>
            <a:srgbClr val="FFFFFF"/>
          </a:solidFill>
          <a:ln w="6350">
            <a:solidFill>
              <a:srgbClr val="CBD5E1"/>
            </a:solidFill>
            <a:prstDash val="solid"/>
          </a:ln>
        </p:spPr>
        <p:txBody>
          <a:bodyPr/>
          <a:lstStyle/>
          <a:p>
            <a:endParaRPr lang="ar-SA"/>
          </a:p>
        </p:txBody>
      </p:sp>
      <p:sp>
        <p:nvSpPr>
          <p:cNvPr id="34" name="Text 32"/>
          <p:cNvSpPr/>
          <p:nvPr/>
        </p:nvSpPr>
        <p:spPr>
          <a:xfrm>
            <a:off x="411480" y="2679192"/>
            <a:ext cx="2103120" cy="530352"/>
          </a:xfrm>
          <a:prstGeom prst="rect">
            <a:avLst/>
          </a:prstGeom>
          <a:noFill/>
          <a:ln/>
        </p:spPr>
        <p:txBody>
          <a:bodyPr wrap="square" rtlCol="0" anchor="ctr"/>
          <a:lstStyle/>
          <a:p>
            <a:pPr marL="0" indent="0" algn="l">
              <a:buNone/>
            </a:pPr>
            <a:r>
              <a:rPr lang="en-US" sz="1150" dirty="0">
                <a:solidFill>
                  <a:srgbClr val="1E293B"/>
                </a:solidFill>
                <a:latin typeface="Calibri" pitchFamily="34" charset="0"/>
                <a:ea typeface="Calibri" pitchFamily="34" charset="-122"/>
                <a:cs typeface="Calibri" pitchFamily="34" charset="-120"/>
              </a:rPr>
              <a:t>Retina Ratio ↑</a:t>
            </a:r>
            <a:endParaRPr lang="en-US" sz="1150" dirty="0"/>
          </a:p>
        </p:txBody>
      </p:sp>
      <p:sp>
        <p:nvSpPr>
          <p:cNvPr id="35" name="Shape 33"/>
          <p:cNvSpPr/>
          <p:nvPr/>
        </p:nvSpPr>
        <p:spPr>
          <a:xfrm>
            <a:off x="2560320" y="2633472"/>
            <a:ext cx="1691640" cy="621792"/>
          </a:xfrm>
          <a:prstGeom prst="rect">
            <a:avLst/>
          </a:prstGeom>
          <a:solidFill>
            <a:srgbClr val="FFFFFF"/>
          </a:solidFill>
          <a:ln w="6350">
            <a:solidFill>
              <a:srgbClr val="CBD5E1"/>
            </a:solidFill>
            <a:prstDash val="solid"/>
          </a:ln>
        </p:spPr>
        <p:txBody>
          <a:bodyPr/>
          <a:lstStyle/>
          <a:p>
            <a:endParaRPr lang="ar-SA"/>
          </a:p>
        </p:txBody>
      </p:sp>
      <p:sp>
        <p:nvSpPr>
          <p:cNvPr id="36" name="Text 34"/>
          <p:cNvSpPr/>
          <p:nvPr/>
        </p:nvSpPr>
        <p:spPr>
          <a:xfrm>
            <a:off x="2606040" y="2679192"/>
            <a:ext cx="160020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0.816</a:t>
            </a:r>
            <a:endParaRPr lang="en-US" sz="1150" dirty="0"/>
          </a:p>
        </p:txBody>
      </p:sp>
      <p:sp>
        <p:nvSpPr>
          <p:cNvPr id="37" name="Shape 35"/>
          <p:cNvSpPr/>
          <p:nvPr/>
        </p:nvSpPr>
        <p:spPr>
          <a:xfrm>
            <a:off x="4251960" y="2633472"/>
            <a:ext cx="1554480" cy="621792"/>
          </a:xfrm>
          <a:prstGeom prst="rect">
            <a:avLst/>
          </a:prstGeom>
          <a:solidFill>
            <a:srgbClr val="FFFFFF"/>
          </a:solidFill>
          <a:ln w="6350">
            <a:solidFill>
              <a:srgbClr val="CBD5E1"/>
            </a:solidFill>
            <a:prstDash val="solid"/>
          </a:ln>
        </p:spPr>
        <p:txBody>
          <a:bodyPr/>
          <a:lstStyle/>
          <a:p>
            <a:endParaRPr lang="ar-SA"/>
          </a:p>
        </p:txBody>
      </p:sp>
      <p:sp>
        <p:nvSpPr>
          <p:cNvPr id="38" name="Text 36"/>
          <p:cNvSpPr/>
          <p:nvPr/>
        </p:nvSpPr>
        <p:spPr>
          <a:xfrm>
            <a:off x="4297680" y="2679192"/>
            <a:ext cx="146304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0.791</a:t>
            </a:r>
            <a:endParaRPr lang="en-US" sz="1150" dirty="0"/>
          </a:p>
        </p:txBody>
      </p:sp>
      <p:sp>
        <p:nvSpPr>
          <p:cNvPr id="39" name="Shape 37"/>
          <p:cNvSpPr/>
          <p:nvPr/>
        </p:nvSpPr>
        <p:spPr>
          <a:xfrm>
            <a:off x="5806440" y="2633472"/>
            <a:ext cx="1234440" cy="621792"/>
          </a:xfrm>
          <a:prstGeom prst="rect">
            <a:avLst/>
          </a:prstGeom>
          <a:solidFill>
            <a:srgbClr val="FFFFFF"/>
          </a:solidFill>
          <a:ln w="6350">
            <a:solidFill>
              <a:srgbClr val="CBD5E1"/>
            </a:solidFill>
            <a:prstDash val="solid"/>
          </a:ln>
        </p:spPr>
        <p:txBody>
          <a:bodyPr/>
          <a:lstStyle/>
          <a:p>
            <a:endParaRPr lang="ar-SA"/>
          </a:p>
        </p:txBody>
      </p:sp>
      <p:sp>
        <p:nvSpPr>
          <p:cNvPr id="40" name="Text 38"/>
          <p:cNvSpPr/>
          <p:nvPr/>
        </p:nvSpPr>
        <p:spPr>
          <a:xfrm>
            <a:off x="5852160" y="2679192"/>
            <a:ext cx="114300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+0.025</a:t>
            </a:r>
            <a:endParaRPr lang="en-US" sz="1150" dirty="0"/>
          </a:p>
        </p:txBody>
      </p:sp>
      <p:sp>
        <p:nvSpPr>
          <p:cNvPr id="41" name="Shape 39"/>
          <p:cNvSpPr/>
          <p:nvPr/>
        </p:nvSpPr>
        <p:spPr>
          <a:xfrm>
            <a:off x="7040880" y="2633472"/>
            <a:ext cx="1417320" cy="621792"/>
          </a:xfrm>
          <a:prstGeom prst="rect">
            <a:avLst/>
          </a:prstGeom>
          <a:solidFill>
            <a:srgbClr val="FFFFFF"/>
          </a:solidFill>
          <a:ln w="6350">
            <a:solidFill>
              <a:srgbClr val="CBD5E1"/>
            </a:solidFill>
            <a:prstDash val="solid"/>
          </a:ln>
        </p:spPr>
        <p:txBody>
          <a:bodyPr/>
          <a:lstStyle/>
          <a:p>
            <a:endParaRPr lang="ar-SA"/>
          </a:p>
        </p:txBody>
      </p:sp>
      <p:sp>
        <p:nvSpPr>
          <p:cNvPr id="42" name="Text 40"/>
          <p:cNvSpPr/>
          <p:nvPr/>
        </p:nvSpPr>
        <p:spPr>
          <a:xfrm>
            <a:off x="7086600" y="2679192"/>
            <a:ext cx="132588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6.6×10⁻⁴</a:t>
            </a:r>
            <a:endParaRPr lang="en-US" sz="1150" dirty="0"/>
          </a:p>
        </p:txBody>
      </p:sp>
      <p:sp>
        <p:nvSpPr>
          <p:cNvPr id="43" name="Shape 41"/>
          <p:cNvSpPr/>
          <p:nvPr/>
        </p:nvSpPr>
        <p:spPr>
          <a:xfrm>
            <a:off x="8458200" y="2633472"/>
            <a:ext cx="1097280" cy="621792"/>
          </a:xfrm>
          <a:prstGeom prst="rect">
            <a:avLst/>
          </a:prstGeom>
          <a:solidFill>
            <a:srgbClr val="FFFFFF"/>
          </a:solidFill>
          <a:ln w="6350">
            <a:solidFill>
              <a:srgbClr val="CBD5E1"/>
            </a:solidFill>
            <a:prstDash val="solid"/>
          </a:ln>
        </p:spPr>
        <p:txBody>
          <a:bodyPr/>
          <a:lstStyle/>
          <a:p>
            <a:endParaRPr lang="ar-SA"/>
          </a:p>
        </p:txBody>
      </p:sp>
      <p:sp>
        <p:nvSpPr>
          <p:cNvPr id="44" name="Text 42"/>
          <p:cNvSpPr/>
          <p:nvPr/>
        </p:nvSpPr>
        <p:spPr>
          <a:xfrm>
            <a:off x="8503920" y="2679192"/>
            <a:ext cx="100584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0.27</a:t>
            </a:r>
            <a:endParaRPr lang="en-US" sz="1150" dirty="0"/>
          </a:p>
        </p:txBody>
      </p:sp>
      <p:sp>
        <p:nvSpPr>
          <p:cNvPr id="45" name="Shape 43"/>
          <p:cNvSpPr/>
          <p:nvPr/>
        </p:nvSpPr>
        <p:spPr>
          <a:xfrm>
            <a:off x="9555480" y="2633472"/>
            <a:ext cx="1645920" cy="621792"/>
          </a:xfrm>
          <a:prstGeom prst="rect">
            <a:avLst/>
          </a:prstGeom>
          <a:solidFill>
            <a:srgbClr val="E8F5E9"/>
          </a:solidFill>
          <a:ln w="6350">
            <a:solidFill>
              <a:srgbClr val="CBD5E1"/>
            </a:solidFill>
            <a:prstDash val="solid"/>
          </a:ln>
        </p:spPr>
        <p:txBody>
          <a:bodyPr/>
          <a:lstStyle/>
          <a:p>
            <a:endParaRPr lang="ar-SA"/>
          </a:p>
        </p:txBody>
      </p:sp>
      <p:sp>
        <p:nvSpPr>
          <p:cNvPr id="46" name="Text 44"/>
          <p:cNvSpPr/>
          <p:nvPr/>
        </p:nvSpPr>
        <p:spPr>
          <a:xfrm>
            <a:off x="9601200" y="2679192"/>
            <a:ext cx="1554480" cy="530352"/>
          </a:xfrm>
          <a:prstGeom prst="rect">
            <a:avLst/>
          </a:prstGeom>
          <a:noFill/>
          <a:ln/>
        </p:spPr>
        <p:txBody>
          <a:bodyPr wrap="square" rtlCol="0" anchor="ctr"/>
          <a:lstStyle/>
          <a:p>
            <a:pPr marL="0" indent="0" algn="ctr">
              <a:buNone/>
            </a:pPr>
            <a:r>
              <a:rPr lang="en-US" sz="1150" b="1" dirty="0">
                <a:solidFill>
                  <a:srgbClr val="16A34A"/>
                </a:solidFill>
                <a:latin typeface="Calibri" pitchFamily="34" charset="0"/>
                <a:ea typeface="Calibri" pitchFamily="34" charset="-122"/>
                <a:cs typeface="Calibri" pitchFamily="34" charset="-120"/>
              </a:rPr>
              <a:t>Grad-CAM</a:t>
            </a:r>
            <a:endParaRPr lang="en-US" sz="1150" dirty="0"/>
          </a:p>
        </p:txBody>
      </p:sp>
      <p:sp>
        <p:nvSpPr>
          <p:cNvPr id="47" name="Shape 45"/>
          <p:cNvSpPr/>
          <p:nvPr/>
        </p:nvSpPr>
        <p:spPr>
          <a:xfrm>
            <a:off x="365760" y="3300984"/>
            <a:ext cx="2194560" cy="621792"/>
          </a:xfrm>
          <a:prstGeom prst="rect">
            <a:avLst/>
          </a:prstGeom>
          <a:solidFill>
            <a:srgbClr val="F0F8FF"/>
          </a:solidFill>
          <a:ln w="6350">
            <a:solidFill>
              <a:srgbClr val="CBD5E1"/>
            </a:solidFill>
            <a:prstDash val="solid"/>
          </a:ln>
        </p:spPr>
        <p:txBody>
          <a:bodyPr/>
          <a:lstStyle/>
          <a:p>
            <a:endParaRPr lang="ar-SA"/>
          </a:p>
        </p:txBody>
      </p:sp>
      <p:sp>
        <p:nvSpPr>
          <p:cNvPr id="48" name="Text 46"/>
          <p:cNvSpPr/>
          <p:nvPr/>
        </p:nvSpPr>
        <p:spPr>
          <a:xfrm>
            <a:off x="411480" y="3346704"/>
            <a:ext cx="2103120" cy="530352"/>
          </a:xfrm>
          <a:prstGeom prst="rect">
            <a:avLst/>
          </a:prstGeom>
          <a:noFill/>
          <a:ln/>
        </p:spPr>
        <p:txBody>
          <a:bodyPr wrap="square" rtlCol="0" anchor="ctr"/>
          <a:lstStyle/>
          <a:p>
            <a:pPr marL="0" indent="0" algn="l">
              <a:buNone/>
            </a:pPr>
            <a:r>
              <a:rPr lang="en-US" sz="1150" dirty="0">
                <a:solidFill>
                  <a:srgbClr val="1E293B"/>
                </a:solidFill>
                <a:latin typeface="Calibri" pitchFamily="34" charset="0"/>
                <a:ea typeface="Calibri" pitchFamily="34" charset="-122"/>
                <a:cs typeface="Calibri" pitchFamily="34" charset="-120"/>
              </a:rPr>
              <a:t>Δ_k10 ↑</a:t>
            </a:r>
            <a:endParaRPr lang="en-US" sz="1150" dirty="0"/>
          </a:p>
        </p:txBody>
      </p:sp>
      <p:sp>
        <p:nvSpPr>
          <p:cNvPr id="49" name="Shape 47"/>
          <p:cNvSpPr/>
          <p:nvPr/>
        </p:nvSpPr>
        <p:spPr>
          <a:xfrm>
            <a:off x="2560320" y="3300984"/>
            <a:ext cx="1691640" cy="621792"/>
          </a:xfrm>
          <a:prstGeom prst="rect">
            <a:avLst/>
          </a:prstGeom>
          <a:solidFill>
            <a:srgbClr val="F0F8FF"/>
          </a:solidFill>
          <a:ln w="6350">
            <a:solidFill>
              <a:srgbClr val="CBD5E1"/>
            </a:solidFill>
            <a:prstDash val="solid"/>
          </a:ln>
        </p:spPr>
        <p:txBody>
          <a:bodyPr/>
          <a:lstStyle/>
          <a:p>
            <a:endParaRPr lang="ar-SA"/>
          </a:p>
        </p:txBody>
      </p:sp>
      <p:sp>
        <p:nvSpPr>
          <p:cNvPr id="50" name="Text 48"/>
          <p:cNvSpPr/>
          <p:nvPr/>
        </p:nvSpPr>
        <p:spPr>
          <a:xfrm>
            <a:off x="2606040" y="3346704"/>
            <a:ext cx="160020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0.195</a:t>
            </a:r>
            <a:endParaRPr lang="en-US" sz="1150" dirty="0"/>
          </a:p>
        </p:txBody>
      </p:sp>
      <p:sp>
        <p:nvSpPr>
          <p:cNvPr id="51" name="Shape 49"/>
          <p:cNvSpPr/>
          <p:nvPr/>
        </p:nvSpPr>
        <p:spPr>
          <a:xfrm>
            <a:off x="4251960" y="3300984"/>
            <a:ext cx="1554480" cy="621792"/>
          </a:xfrm>
          <a:prstGeom prst="rect">
            <a:avLst/>
          </a:prstGeom>
          <a:solidFill>
            <a:srgbClr val="F0F8FF"/>
          </a:solidFill>
          <a:ln w="6350">
            <a:solidFill>
              <a:srgbClr val="CBD5E1"/>
            </a:solidFill>
            <a:prstDash val="solid"/>
          </a:ln>
        </p:spPr>
        <p:txBody>
          <a:bodyPr/>
          <a:lstStyle/>
          <a:p>
            <a:endParaRPr lang="ar-SA"/>
          </a:p>
        </p:txBody>
      </p:sp>
      <p:sp>
        <p:nvSpPr>
          <p:cNvPr id="52" name="Text 50"/>
          <p:cNvSpPr/>
          <p:nvPr/>
        </p:nvSpPr>
        <p:spPr>
          <a:xfrm>
            <a:off x="4297680" y="3346704"/>
            <a:ext cx="146304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0.089</a:t>
            </a:r>
            <a:endParaRPr lang="en-US" sz="1150" dirty="0"/>
          </a:p>
        </p:txBody>
      </p:sp>
      <p:sp>
        <p:nvSpPr>
          <p:cNvPr id="53" name="Shape 51"/>
          <p:cNvSpPr/>
          <p:nvPr/>
        </p:nvSpPr>
        <p:spPr>
          <a:xfrm>
            <a:off x="5806440" y="3300984"/>
            <a:ext cx="1234440" cy="621792"/>
          </a:xfrm>
          <a:prstGeom prst="rect">
            <a:avLst/>
          </a:prstGeom>
          <a:solidFill>
            <a:srgbClr val="F0F8FF"/>
          </a:solidFill>
          <a:ln w="6350">
            <a:solidFill>
              <a:srgbClr val="CBD5E1"/>
            </a:solidFill>
            <a:prstDash val="solid"/>
          </a:ln>
        </p:spPr>
        <p:txBody>
          <a:bodyPr/>
          <a:lstStyle/>
          <a:p>
            <a:endParaRPr lang="ar-SA"/>
          </a:p>
        </p:txBody>
      </p:sp>
      <p:sp>
        <p:nvSpPr>
          <p:cNvPr id="54" name="Text 52"/>
          <p:cNvSpPr/>
          <p:nvPr/>
        </p:nvSpPr>
        <p:spPr>
          <a:xfrm>
            <a:off x="5852160" y="3346704"/>
            <a:ext cx="114300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+0.107</a:t>
            </a:r>
            <a:endParaRPr lang="en-US" sz="1150" dirty="0"/>
          </a:p>
        </p:txBody>
      </p:sp>
      <p:sp>
        <p:nvSpPr>
          <p:cNvPr id="55" name="Shape 53"/>
          <p:cNvSpPr/>
          <p:nvPr/>
        </p:nvSpPr>
        <p:spPr>
          <a:xfrm>
            <a:off x="7040880" y="3300984"/>
            <a:ext cx="1417320" cy="621792"/>
          </a:xfrm>
          <a:prstGeom prst="rect">
            <a:avLst/>
          </a:prstGeom>
          <a:solidFill>
            <a:srgbClr val="F0F8FF"/>
          </a:solidFill>
          <a:ln w="6350">
            <a:solidFill>
              <a:srgbClr val="CBD5E1"/>
            </a:solidFill>
            <a:prstDash val="solid"/>
          </a:ln>
        </p:spPr>
        <p:txBody>
          <a:bodyPr/>
          <a:lstStyle/>
          <a:p>
            <a:endParaRPr lang="ar-SA"/>
          </a:p>
        </p:txBody>
      </p:sp>
      <p:sp>
        <p:nvSpPr>
          <p:cNvPr id="56" name="Text 54"/>
          <p:cNvSpPr/>
          <p:nvPr/>
        </p:nvSpPr>
        <p:spPr>
          <a:xfrm>
            <a:off x="7086600" y="3346704"/>
            <a:ext cx="132588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2.1×10⁻⁶</a:t>
            </a:r>
            <a:endParaRPr lang="en-US" sz="1150" dirty="0"/>
          </a:p>
        </p:txBody>
      </p:sp>
      <p:sp>
        <p:nvSpPr>
          <p:cNvPr id="57" name="Shape 55"/>
          <p:cNvSpPr/>
          <p:nvPr/>
        </p:nvSpPr>
        <p:spPr>
          <a:xfrm>
            <a:off x="8458200" y="3300984"/>
            <a:ext cx="1097280" cy="621792"/>
          </a:xfrm>
          <a:prstGeom prst="rect">
            <a:avLst/>
          </a:prstGeom>
          <a:solidFill>
            <a:srgbClr val="F0F8FF"/>
          </a:solidFill>
          <a:ln w="6350">
            <a:solidFill>
              <a:srgbClr val="CBD5E1"/>
            </a:solidFill>
            <a:prstDash val="solid"/>
          </a:ln>
        </p:spPr>
        <p:txBody>
          <a:bodyPr/>
          <a:lstStyle/>
          <a:p>
            <a:endParaRPr lang="ar-SA"/>
          </a:p>
        </p:txBody>
      </p:sp>
      <p:sp>
        <p:nvSpPr>
          <p:cNvPr id="58" name="Text 56"/>
          <p:cNvSpPr/>
          <p:nvPr/>
        </p:nvSpPr>
        <p:spPr>
          <a:xfrm>
            <a:off x="8503920" y="3346704"/>
            <a:ext cx="100584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0.46</a:t>
            </a:r>
            <a:endParaRPr lang="en-US" sz="1150" dirty="0"/>
          </a:p>
        </p:txBody>
      </p:sp>
      <p:sp>
        <p:nvSpPr>
          <p:cNvPr id="59" name="Shape 57"/>
          <p:cNvSpPr/>
          <p:nvPr/>
        </p:nvSpPr>
        <p:spPr>
          <a:xfrm>
            <a:off x="9555480" y="3300984"/>
            <a:ext cx="1645920" cy="621792"/>
          </a:xfrm>
          <a:prstGeom prst="rect">
            <a:avLst/>
          </a:prstGeom>
          <a:solidFill>
            <a:srgbClr val="E8F5E9"/>
          </a:solidFill>
          <a:ln w="6350">
            <a:solidFill>
              <a:srgbClr val="CBD5E1"/>
            </a:solidFill>
            <a:prstDash val="solid"/>
          </a:ln>
        </p:spPr>
        <p:txBody>
          <a:bodyPr/>
          <a:lstStyle/>
          <a:p>
            <a:endParaRPr lang="ar-SA"/>
          </a:p>
        </p:txBody>
      </p:sp>
      <p:sp>
        <p:nvSpPr>
          <p:cNvPr id="60" name="Text 58"/>
          <p:cNvSpPr/>
          <p:nvPr/>
        </p:nvSpPr>
        <p:spPr>
          <a:xfrm>
            <a:off x="9601200" y="3346704"/>
            <a:ext cx="1554480" cy="530352"/>
          </a:xfrm>
          <a:prstGeom prst="rect">
            <a:avLst/>
          </a:prstGeom>
          <a:noFill/>
          <a:ln/>
        </p:spPr>
        <p:txBody>
          <a:bodyPr wrap="square" rtlCol="0" anchor="ctr"/>
          <a:lstStyle/>
          <a:p>
            <a:pPr marL="0" indent="0" algn="ctr">
              <a:buNone/>
            </a:pPr>
            <a:r>
              <a:rPr lang="en-US" sz="1150" b="1" dirty="0">
                <a:solidFill>
                  <a:srgbClr val="16A34A"/>
                </a:solidFill>
                <a:latin typeface="Calibri" pitchFamily="34" charset="0"/>
                <a:ea typeface="Calibri" pitchFamily="34" charset="-122"/>
                <a:cs typeface="Calibri" pitchFamily="34" charset="-120"/>
              </a:rPr>
              <a:t>Grad-CAM</a:t>
            </a:r>
            <a:endParaRPr lang="en-US" sz="1150" dirty="0"/>
          </a:p>
        </p:txBody>
      </p:sp>
      <p:sp>
        <p:nvSpPr>
          <p:cNvPr id="61" name="Shape 59"/>
          <p:cNvSpPr/>
          <p:nvPr/>
        </p:nvSpPr>
        <p:spPr>
          <a:xfrm>
            <a:off x="365760" y="3968496"/>
            <a:ext cx="2194560" cy="621792"/>
          </a:xfrm>
          <a:prstGeom prst="rect">
            <a:avLst/>
          </a:prstGeom>
          <a:solidFill>
            <a:srgbClr val="FFFFFF"/>
          </a:solidFill>
          <a:ln w="6350">
            <a:solidFill>
              <a:srgbClr val="CBD5E1"/>
            </a:solidFill>
            <a:prstDash val="solid"/>
          </a:ln>
        </p:spPr>
        <p:txBody>
          <a:bodyPr/>
          <a:lstStyle/>
          <a:p>
            <a:endParaRPr lang="ar-SA"/>
          </a:p>
        </p:txBody>
      </p:sp>
      <p:sp>
        <p:nvSpPr>
          <p:cNvPr id="62" name="Text 60"/>
          <p:cNvSpPr/>
          <p:nvPr/>
        </p:nvSpPr>
        <p:spPr>
          <a:xfrm>
            <a:off x="411480" y="4014216"/>
            <a:ext cx="2103120" cy="530352"/>
          </a:xfrm>
          <a:prstGeom prst="rect">
            <a:avLst/>
          </a:prstGeom>
          <a:noFill/>
          <a:ln/>
        </p:spPr>
        <p:txBody>
          <a:bodyPr wrap="square" rtlCol="0" anchor="ctr"/>
          <a:lstStyle/>
          <a:p>
            <a:pPr marL="0" indent="0" algn="l">
              <a:buNone/>
            </a:pPr>
            <a:r>
              <a:rPr lang="en-US" sz="1150" dirty="0">
                <a:solidFill>
                  <a:srgbClr val="1E293B"/>
                </a:solidFill>
                <a:latin typeface="Calibri" pitchFamily="34" charset="0"/>
                <a:ea typeface="Calibri" pitchFamily="34" charset="-122"/>
                <a:cs typeface="Calibri" pitchFamily="34" charset="-120"/>
              </a:rPr>
              <a:t>Δ_k20 ↑</a:t>
            </a:r>
            <a:endParaRPr lang="en-US" sz="1150" dirty="0"/>
          </a:p>
        </p:txBody>
      </p:sp>
      <p:sp>
        <p:nvSpPr>
          <p:cNvPr id="63" name="Shape 61"/>
          <p:cNvSpPr/>
          <p:nvPr/>
        </p:nvSpPr>
        <p:spPr>
          <a:xfrm>
            <a:off x="2560320" y="3968496"/>
            <a:ext cx="1691640" cy="621792"/>
          </a:xfrm>
          <a:prstGeom prst="rect">
            <a:avLst/>
          </a:prstGeom>
          <a:solidFill>
            <a:srgbClr val="FFFFFF"/>
          </a:solidFill>
          <a:ln w="6350">
            <a:solidFill>
              <a:srgbClr val="CBD5E1"/>
            </a:solidFill>
            <a:prstDash val="solid"/>
          </a:ln>
        </p:spPr>
        <p:txBody>
          <a:bodyPr/>
          <a:lstStyle/>
          <a:p>
            <a:endParaRPr lang="ar-SA"/>
          </a:p>
        </p:txBody>
      </p:sp>
      <p:sp>
        <p:nvSpPr>
          <p:cNvPr id="64" name="Text 62"/>
          <p:cNvSpPr/>
          <p:nvPr/>
        </p:nvSpPr>
        <p:spPr>
          <a:xfrm>
            <a:off x="2606040" y="4014216"/>
            <a:ext cx="160020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0.328</a:t>
            </a:r>
            <a:endParaRPr lang="en-US" sz="1150" dirty="0"/>
          </a:p>
        </p:txBody>
      </p:sp>
      <p:sp>
        <p:nvSpPr>
          <p:cNvPr id="65" name="Shape 63"/>
          <p:cNvSpPr/>
          <p:nvPr/>
        </p:nvSpPr>
        <p:spPr>
          <a:xfrm>
            <a:off x="4251960" y="3968496"/>
            <a:ext cx="1554480" cy="621792"/>
          </a:xfrm>
          <a:prstGeom prst="rect">
            <a:avLst/>
          </a:prstGeom>
          <a:solidFill>
            <a:srgbClr val="FFFFFF"/>
          </a:solidFill>
          <a:ln w="6350">
            <a:solidFill>
              <a:srgbClr val="CBD5E1"/>
            </a:solidFill>
            <a:prstDash val="solid"/>
          </a:ln>
        </p:spPr>
        <p:txBody>
          <a:bodyPr/>
          <a:lstStyle/>
          <a:p>
            <a:endParaRPr lang="ar-SA"/>
          </a:p>
        </p:txBody>
      </p:sp>
      <p:sp>
        <p:nvSpPr>
          <p:cNvPr id="66" name="Text 64"/>
          <p:cNvSpPr/>
          <p:nvPr/>
        </p:nvSpPr>
        <p:spPr>
          <a:xfrm>
            <a:off x="4297680" y="4014216"/>
            <a:ext cx="146304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0.187</a:t>
            </a:r>
            <a:endParaRPr lang="en-US" sz="1150" dirty="0"/>
          </a:p>
        </p:txBody>
      </p:sp>
      <p:sp>
        <p:nvSpPr>
          <p:cNvPr id="67" name="Shape 65"/>
          <p:cNvSpPr/>
          <p:nvPr/>
        </p:nvSpPr>
        <p:spPr>
          <a:xfrm>
            <a:off x="5806440" y="3968496"/>
            <a:ext cx="1234440" cy="621792"/>
          </a:xfrm>
          <a:prstGeom prst="rect">
            <a:avLst/>
          </a:prstGeom>
          <a:solidFill>
            <a:srgbClr val="FFFFFF"/>
          </a:solidFill>
          <a:ln w="6350">
            <a:solidFill>
              <a:srgbClr val="CBD5E1"/>
            </a:solidFill>
            <a:prstDash val="solid"/>
          </a:ln>
        </p:spPr>
        <p:txBody>
          <a:bodyPr/>
          <a:lstStyle/>
          <a:p>
            <a:endParaRPr lang="ar-SA"/>
          </a:p>
        </p:txBody>
      </p:sp>
      <p:sp>
        <p:nvSpPr>
          <p:cNvPr id="68" name="Text 66"/>
          <p:cNvSpPr/>
          <p:nvPr/>
        </p:nvSpPr>
        <p:spPr>
          <a:xfrm>
            <a:off x="5852160" y="4014216"/>
            <a:ext cx="114300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+0.141</a:t>
            </a:r>
            <a:endParaRPr lang="en-US" sz="1150" dirty="0"/>
          </a:p>
        </p:txBody>
      </p:sp>
      <p:sp>
        <p:nvSpPr>
          <p:cNvPr id="69" name="Shape 67"/>
          <p:cNvSpPr/>
          <p:nvPr/>
        </p:nvSpPr>
        <p:spPr>
          <a:xfrm>
            <a:off x="7040880" y="3968496"/>
            <a:ext cx="1417320" cy="621792"/>
          </a:xfrm>
          <a:prstGeom prst="rect">
            <a:avLst/>
          </a:prstGeom>
          <a:solidFill>
            <a:srgbClr val="FFFFFF"/>
          </a:solidFill>
          <a:ln w="6350">
            <a:solidFill>
              <a:srgbClr val="CBD5E1"/>
            </a:solidFill>
            <a:prstDash val="solid"/>
          </a:ln>
        </p:spPr>
        <p:txBody>
          <a:bodyPr/>
          <a:lstStyle/>
          <a:p>
            <a:endParaRPr lang="ar-SA"/>
          </a:p>
        </p:txBody>
      </p:sp>
      <p:sp>
        <p:nvSpPr>
          <p:cNvPr id="70" name="Text 68"/>
          <p:cNvSpPr/>
          <p:nvPr/>
        </p:nvSpPr>
        <p:spPr>
          <a:xfrm>
            <a:off x="7086600" y="4014216"/>
            <a:ext cx="132588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5.3×10⁻⁸</a:t>
            </a:r>
            <a:endParaRPr lang="en-US" sz="1150" dirty="0"/>
          </a:p>
        </p:txBody>
      </p:sp>
      <p:sp>
        <p:nvSpPr>
          <p:cNvPr id="71" name="Shape 69"/>
          <p:cNvSpPr/>
          <p:nvPr/>
        </p:nvSpPr>
        <p:spPr>
          <a:xfrm>
            <a:off x="8458200" y="3968496"/>
            <a:ext cx="1097280" cy="621792"/>
          </a:xfrm>
          <a:prstGeom prst="rect">
            <a:avLst/>
          </a:prstGeom>
          <a:solidFill>
            <a:srgbClr val="FFFFFF"/>
          </a:solidFill>
          <a:ln w="6350">
            <a:solidFill>
              <a:srgbClr val="CBD5E1"/>
            </a:solidFill>
            <a:prstDash val="solid"/>
          </a:ln>
        </p:spPr>
        <p:txBody>
          <a:bodyPr/>
          <a:lstStyle/>
          <a:p>
            <a:endParaRPr lang="ar-SA"/>
          </a:p>
        </p:txBody>
      </p:sp>
      <p:sp>
        <p:nvSpPr>
          <p:cNvPr id="72" name="Text 70"/>
          <p:cNvSpPr/>
          <p:nvPr/>
        </p:nvSpPr>
        <p:spPr>
          <a:xfrm>
            <a:off x="8503920" y="4014216"/>
            <a:ext cx="100584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0.54</a:t>
            </a:r>
            <a:endParaRPr lang="en-US" sz="1150" dirty="0"/>
          </a:p>
        </p:txBody>
      </p:sp>
      <p:sp>
        <p:nvSpPr>
          <p:cNvPr id="73" name="Shape 71"/>
          <p:cNvSpPr/>
          <p:nvPr/>
        </p:nvSpPr>
        <p:spPr>
          <a:xfrm>
            <a:off x="9555480" y="3968496"/>
            <a:ext cx="1645920" cy="621792"/>
          </a:xfrm>
          <a:prstGeom prst="rect">
            <a:avLst/>
          </a:prstGeom>
          <a:solidFill>
            <a:srgbClr val="E8F5E9"/>
          </a:solidFill>
          <a:ln w="6350">
            <a:solidFill>
              <a:srgbClr val="CBD5E1"/>
            </a:solidFill>
            <a:prstDash val="solid"/>
          </a:ln>
        </p:spPr>
        <p:txBody>
          <a:bodyPr/>
          <a:lstStyle/>
          <a:p>
            <a:endParaRPr lang="ar-SA"/>
          </a:p>
        </p:txBody>
      </p:sp>
      <p:sp>
        <p:nvSpPr>
          <p:cNvPr id="74" name="Text 72"/>
          <p:cNvSpPr/>
          <p:nvPr/>
        </p:nvSpPr>
        <p:spPr>
          <a:xfrm>
            <a:off x="9601200" y="4014216"/>
            <a:ext cx="1554480" cy="530352"/>
          </a:xfrm>
          <a:prstGeom prst="rect">
            <a:avLst/>
          </a:prstGeom>
          <a:noFill/>
          <a:ln/>
        </p:spPr>
        <p:txBody>
          <a:bodyPr wrap="square" rtlCol="0" anchor="ctr"/>
          <a:lstStyle/>
          <a:p>
            <a:pPr marL="0" indent="0" algn="ctr">
              <a:buNone/>
            </a:pPr>
            <a:r>
              <a:rPr lang="en-US" sz="1150" b="1" dirty="0">
                <a:solidFill>
                  <a:srgbClr val="16A34A"/>
                </a:solidFill>
                <a:latin typeface="Calibri" pitchFamily="34" charset="0"/>
                <a:ea typeface="Calibri" pitchFamily="34" charset="-122"/>
                <a:cs typeface="Calibri" pitchFamily="34" charset="-120"/>
              </a:rPr>
              <a:t>Grad-CAM</a:t>
            </a:r>
            <a:endParaRPr lang="en-US" sz="1150" dirty="0"/>
          </a:p>
        </p:txBody>
      </p:sp>
      <p:sp>
        <p:nvSpPr>
          <p:cNvPr id="75" name="Shape 73"/>
          <p:cNvSpPr/>
          <p:nvPr/>
        </p:nvSpPr>
        <p:spPr>
          <a:xfrm>
            <a:off x="365760" y="4636008"/>
            <a:ext cx="2194560" cy="621792"/>
          </a:xfrm>
          <a:prstGeom prst="rect">
            <a:avLst/>
          </a:prstGeom>
          <a:solidFill>
            <a:srgbClr val="F0F8FF"/>
          </a:solidFill>
          <a:ln w="6350">
            <a:solidFill>
              <a:srgbClr val="CBD5E1"/>
            </a:solidFill>
            <a:prstDash val="solid"/>
          </a:ln>
        </p:spPr>
        <p:txBody>
          <a:bodyPr/>
          <a:lstStyle/>
          <a:p>
            <a:endParaRPr lang="ar-SA"/>
          </a:p>
        </p:txBody>
      </p:sp>
      <p:sp>
        <p:nvSpPr>
          <p:cNvPr id="76" name="Text 74"/>
          <p:cNvSpPr/>
          <p:nvPr/>
        </p:nvSpPr>
        <p:spPr>
          <a:xfrm>
            <a:off x="411480" y="4681728"/>
            <a:ext cx="2103120" cy="530352"/>
          </a:xfrm>
          <a:prstGeom prst="rect">
            <a:avLst/>
          </a:prstGeom>
          <a:noFill/>
          <a:ln/>
        </p:spPr>
        <p:txBody>
          <a:bodyPr wrap="square" rtlCol="0" anchor="ctr"/>
          <a:lstStyle/>
          <a:p>
            <a:pPr marL="0" indent="0" algn="l">
              <a:buNone/>
            </a:pPr>
            <a:r>
              <a:rPr lang="en-US" sz="1150" dirty="0">
                <a:solidFill>
                  <a:srgbClr val="1E293B"/>
                </a:solidFill>
                <a:latin typeface="Calibri" pitchFamily="34" charset="0"/>
                <a:ea typeface="Calibri" pitchFamily="34" charset="-122"/>
                <a:cs typeface="Calibri" pitchFamily="34" charset="-120"/>
              </a:rPr>
              <a:t>Δ_k30 ↑</a:t>
            </a:r>
            <a:endParaRPr lang="en-US" sz="1150" dirty="0"/>
          </a:p>
        </p:txBody>
      </p:sp>
      <p:sp>
        <p:nvSpPr>
          <p:cNvPr id="77" name="Shape 75"/>
          <p:cNvSpPr/>
          <p:nvPr/>
        </p:nvSpPr>
        <p:spPr>
          <a:xfrm>
            <a:off x="2560320" y="4636008"/>
            <a:ext cx="1691640" cy="621792"/>
          </a:xfrm>
          <a:prstGeom prst="rect">
            <a:avLst/>
          </a:prstGeom>
          <a:solidFill>
            <a:srgbClr val="F0F8FF"/>
          </a:solidFill>
          <a:ln w="6350">
            <a:solidFill>
              <a:srgbClr val="CBD5E1"/>
            </a:solidFill>
            <a:prstDash val="solid"/>
          </a:ln>
        </p:spPr>
        <p:txBody>
          <a:bodyPr/>
          <a:lstStyle/>
          <a:p>
            <a:endParaRPr lang="ar-SA"/>
          </a:p>
        </p:txBody>
      </p:sp>
      <p:sp>
        <p:nvSpPr>
          <p:cNvPr id="78" name="Text 76"/>
          <p:cNvSpPr/>
          <p:nvPr/>
        </p:nvSpPr>
        <p:spPr>
          <a:xfrm>
            <a:off x="2606040" y="4681728"/>
            <a:ext cx="160020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0.339</a:t>
            </a:r>
            <a:endParaRPr lang="en-US" sz="1150" dirty="0"/>
          </a:p>
        </p:txBody>
      </p:sp>
      <p:sp>
        <p:nvSpPr>
          <p:cNvPr id="79" name="Shape 77"/>
          <p:cNvSpPr/>
          <p:nvPr/>
        </p:nvSpPr>
        <p:spPr>
          <a:xfrm>
            <a:off x="4251960" y="4636008"/>
            <a:ext cx="1554480" cy="621792"/>
          </a:xfrm>
          <a:prstGeom prst="rect">
            <a:avLst/>
          </a:prstGeom>
          <a:solidFill>
            <a:srgbClr val="F0F8FF"/>
          </a:solidFill>
          <a:ln w="6350">
            <a:solidFill>
              <a:srgbClr val="CBD5E1"/>
            </a:solidFill>
            <a:prstDash val="solid"/>
          </a:ln>
        </p:spPr>
        <p:txBody>
          <a:bodyPr/>
          <a:lstStyle/>
          <a:p>
            <a:endParaRPr lang="ar-SA"/>
          </a:p>
        </p:txBody>
      </p:sp>
      <p:sp>
        <p:nvSpPr>
          <p:cNvPr id="80" name="Text 78"/>
          <p:cNvSpPr/>
          <p:nvPr/>
        </p:nvSpPr>
        <p:spPr>
          <a:xfrm>
            <a:off x="4297680" y="4681728"/>
            <a:ext cx="146304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0.215</a:t>
            </a:r>
            <a:endParaRPr lang="en-US" sz="1150" dirty="0"/>
          </a:p>
        </p:txBody>
      </p:sp>
      <p:sp>
        <p:nvSpPr>
          <p:cNvPr id="81" name="Shape 79"/>
          <p:cNvSpPr/>
          <p:nvPr/>
        </p:nvSpPr>
        <p:spPr>
          <a:xfrm>
            <a:off x="5806440" y="4636008"/>
            <a:ext cx="1234440" cy="621792"/>
          </a:xfrm>
          <a:prstGeom prst="rect">
            <a:avLst/>
          </a:prstGeom>
          <a:solidFill>
            <a:srgbClr val="F0F8FF"/>
          </a:solidFill>
          <a:ln w="6350">
            <a:solidFill>
              <a:srgbClr val="CBD5E1"/>
            </a:solidFill>
            <a:prstDash val="solid"/>
          </a:ln>
        </p:spPr>
        <p:txBody>
          <a:bodyPr/>
          <a:lstStyle/>
          <a:p>
            <a:endParaRPr lang="ar-SA"/>
          </a:p>
        </p:txBody>
      </p:sp>
      <p:sp>
        <p:nvSpPr>
          <p:cNvPr id="82" name="Text 80"/>
          <p:cNvSpPr/>
          <p:nvPr/>
        </p:nvSpPr>
        <p:spPr>
          <a:xfrm>
            <a:off x="5852160" y="4681728"/>
            <a:ext cx="114300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+0.124</a:t>
            </a:r>
            <a:endParaRPr lang="en-US" sz="1150" dirty="0"/>
          </a:p>
        </p:txBody>
      </p:sp>
      <p:sp>
        <p:nvSpPr>
          <p:cNvPr id="83" name="Shape 81"/>
          <p:cNvSpPr/>
          <p:nvPr/>
        </p:nvSpPr>
        <p:spPr>
          <a:xfrm>
            <a:off x="7040880" y="4636008"/>
            <a:ext cx="1417320" cy="621792"/>
          </a:xfrm>
          <a:prstGeom prst="rect">
            <a:avLst/>
          </a:prstGeom>
          <a:solidFill>
            <a:srgbClr val="F0F8FF"/>
          </a:solidFill>
          <a:ln w="6350">
            <a:solidFill>
              <a:srgbClr val="CBD5E1"/>
            </a:solidFill>
            <a:prstDash val="solid"/>
          </a:ln>
        </p:spPr>
        <p:txBody>
          <a:bodyPr/>
          <a:lstStyle/>
          <a:p>
            <a:endParaRPr lang="ar-SA"/>
          </a:p>
        </p:txBody>
      </p:sp>
      <p:sp>
        <p:nvSpPr>
          <p:cNvPr id="84" name="Text 82"/>
          <p:cNvSpPr/>
          <p:nvPr/>
        </p:nvSpPr>
        <p:spPr>
          <a:xfrm>
            <a:off x="7086600" y="4681728"/>
            <a:ext cx="132588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5.6×10⁻⁹</a:t>
            </a:r>
            <a:endParaRPr lang="en-US" sz="1150" dirty="0"/>
          </a:p>
        </p:txBody>
      </p:sp>
      <p:sp>
        <p:nvSpPr>
          <p:cNvPr id="85" name="Shape 83"/>
          <p:cNvSpPr/>
          <p:nvPr/>
        </p:nvSpPr>
        <p:spPr>
          <a:xfrm>
            <a:off x="8458200" y="4636008"/>
            <a:ext cx="1097280" cy="621792"/>
          </a:xfrm>
          <a:prstGeom prst="rect">
            <a:avLst/>
          </a:prstGeom>
          <a:solidFill>
            <a:srgbClr val="F0F8FF"/>
          </a:solidFill>
          <a:ln w="6350">
            <a:solidFill>
              <a:srgbClr val="CBD5E1"/>
            </a:solidFill>
            <a:prstDash val="solid"/>
          </a:ln>
        </p:spPr>
        <p:txBody>
          <a:bodyPr/>
          <a:lstStyle/>
          <a:p>
            <a:endParaRPr lang="ar-SA"/>
          </a:p>
        </p:txBody>
      </p:sp>
      <p:sp>
        <p:nvSpPr>
          <p:cNvPr id="86" name="Text 84"/>
          <p:cNvSpPr/>
          <p:nvPr/>
        </p:nvSpPr>
        <p:spPr>
          <a:xfrm>
            <a:off x="8503920" y="4681728"/>
            <a:ext cx="100584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0.58</a:t>
            </a:r>
            <a:endParaRPr lang="en-US" sz="1150" dirty="0"/>
          </a:p>
        </p:txBody>
      </p:sp>
      <p:sp>
        <p:nvSpPr>
          <p:cNvPr id="87" name="Shape 85"/>
          <p:cNvSpPr/>
          <p:nvPr/>
        </p:nvSpPr>
        <p:spPr>
          <a:xfrm>
            <a:off x="9555480" y="4636008"/>
            <a:ext cx="1645920" cy="621792"/>
          </a:xfrm>
          <a:prstGeom prst="rect">
            <a:avLst/>
          </a:prstGeom>
          <a:solidFill>
            <a:srgbClr val="E8F5E9"/>
          </a:solidFill>
          <a:ln w="6350">
            <a:solidFill>
              <a:srgbClr val="CBD5E1"/>
            </a:solidFill>
            <a:prstDash val="solid"/>
          </a:ln>
        </p:spPr>
        <p:txBody>
          <a:bodyPr/>
          <a:lstStyle/>
          <a:p>
            <a:endParaRPr lang="ar-SA"/>
          </a:p>
        </p:txBody>
      </p:sp>
      <p:sp>
        <p:nvSpPr>
          <p:cNvPr id="88" name="Text 86"/>
          <p:cNvSpPr/>
          <p:nvPr/>
        </p:nvSpPr>
        <p:spPr>
          <a:xfrm>
            <a:off x="9601200" y="4681728"/>
            <a:ext cx="1554480" cy="530352"/>
          </a:xfrm>
          <a:prstGeom prst="rect">
            <a:avLst/>
          </a:prstGeom>
          <a:noFill/>
          <a:ln/>
        </p:spPr>
        <p:txBody>
          <a:bodyPr wrap="square" rtlCol="0" anchor="ctr"/>
          <a:lstStyle/>
          <a:p>
            <a:pPr marL="0" indent="0" algn="ctr">
              <a:buNone/>
            </a:pPr>
            <a:r>
              <a:rPr lang="en-US" sz="1150" b="1" dirty="0">
                <a:solidFill>
                  <a:srgbClr val="16A34A"/>
                </a:solidFill>
                <a:latin typeface="Calibri" pitchFamily="34" charset="0"/>
                <a:ea typeface="Calibri" pitchFamily="34" charset="-122"/>
                <a:cs typeface="Calibri" pitchFamily="34" charset="-120"/>
              </a:rPr>
              <a:t>Grad-CAM</a:t>
            </a:r>
            <a:endParaRPr lang="en-US" sz="1150" dirty="0"/>
          </a:p>
        </p:txBody>
      </p:sp>
      <p:sp>
        <p:nvSpPr>
          <p:cNvPr id="89" name="Shape 87"/>
          <p:cNvSpPr/>
          <p:nvPr/>
        </p:nvSpPr>
        <p:spPr>
          <a:xfrm>
            <a:off x="365760" y="5303520"/>
            <a:ext cx="2194560" cy="621792"/>
          </a:xfrm>
          <a:prstGeom prst="rect">
            <a:avLst/>
          </a:prstGeom>
          <a:solidFill>
            <a:srgbClr val="FFFFFF"/>
          </a:solidFill>
          <a:ln w="6350">
            <a:solidFill>
              <a:srgbClr val="CBD5E1"/>
            </a:solidFill>
            <a:prstDash val="solid"/>
          </a:ln>
        </p:spPr>
        <p:txBody>
          <a:bodyPr/>
          <a:lstStyle/>
          <a:p>
            <a:endParaRPr lang="ar-SA"/>
          </a:p>
        </p:txBody>
      </p:sp>
      <p:sp>
        <p:nvSpPr>
          <p:cNvPr id="90" name="Text 88"/>
          <p:cNvSpPr/>
          <p:nvPr/>
        </p:nvSpPr>
        <p:spPr>
          <a:xfrm>
            <a:off x="411480" y="5349240"/>
            <a:ext cx="2103120" cy="530352"/>
          </a:xfrm>
          <a:prstGeom prst="rect">
            <a:avLst/>
          </a:prstGeom>
          <a:noFill/>
          <a:ln/>
        </p:spPr>
        <p:txBody>
          <a:bodyPr wrap="square" rtlCol="0" anchor="ctr"/>
          <a:lstStyle/>
          <a:p>
            <a:pPr marL="0" indent="0" algn="l">
              <a:buNone/>
            </a:pPr>
            <a:r>
              <a:rPr lang="en-US" sz="1150" dirty="0">
                <a:solidFill>
                  <a:srgbClr val="1E293B"/>
                </a:solidFill>
                <a:latin typeface="Calibri" pitchFamily="34" charset="0"/>
                <a:ea typeface="Calibri" pitchFamily="34" charset="-122"/>
                <a:cs typeface="Calibri" pitchFamily="34" charset="-120"/>
              </a:rPr>
              <a:t>AOPC ↑</a:t>
            </a:r>
            <a:endParaRPr lang="en-US" sz="1150" dirty="0"/>
          </a:p>
        </p:txBody>
      </p:sp>
      <p:sp>
        <p:nvSpPr>
          <p:cNvPr id="91" name="Shape 89"/>
          <p:cNvSpPr/>
          <p:nvPr/>
        </p:nvSpPr>
        <p:spPr>
          <a:xfrm>
            <a:off x="2560320" y="5303520"/>
            <a:ext cx="1691640" cy="621792"/>
          </a:xfrm>
          <a:prstGeom prst="rect">
            <a:avLst/>
          </a:prstGeom>
          <a:solidFill>
            <a:srgbClr val="FFFFFF"/>
          </a:solidFill>
          <a:ln w="6350">
            <a:solidFill>
              <a:srgbClr val="CBD5E1"/>
            </a:solidFill>
            <a:prstDash val="solid"/>
          </a:ln>
        </p:spPr>
        <p:txBody>
          <a:bodyPr/>
          <a:lstStyle/>
          <a:p>
            <a:endParaRPr lang="ar-SA"/>
          </a:p>
        </p:txBody>
      </p:sp>
      <p:sp>
        <p:nvSpPr>
          <p:cNvPr id="92" name="Text 90"/>
          <p:cNvSpPr/>
          <p:nvPr/>
        </p:nvSpPr>
        <p:spPr>
          <a:xfrm>
            <a:off x="2606040" y="5349240"/>
            <a:ext cx="160020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0.287</a:t>
            </a:r>
            <a:endParaRPr lang="en-US" sz="1150" dirty="0"/>
          </a:p>
        </p:txBody>
      </p:sp>
      <p:sp>
        <p:nvSpPr>
          <p:cNvPr id="93" name="Shape 91"/>
          <p:cNvSpPr/>
          <p:nvPr/>
        </p:nvSpPr>
        <p:spPr>
          <a:xfrm>
            <a:off x="4251960" y="5303520"/>
            <a:ext cx="1554480" cy="621792"/>
          </a:xfrm>
          <a:prstGeom prst="rect">
            <a:avLst/>
          </a:prstGeom>
          <a:solidFill>
            <a:srgbClr val="FFFFFF"/>
          </a:solidFill>
          <a:ln w="6350">
            <a:solidFill>
              <a:srgbClr val="CBD5E1"/>
            </a:solidFill>
            <a:prstDash val="solid"/>
          </a:ln>
        </p:spPr>
        <p:txBody>
          <a:bodyPr/>
          <a:lstStyle/>
          <a:p>
            <a:endParaRPr lang="ar-SA"/>
          </a:p>
        </p:txBody>
      </p:sp>
      <p:sp>
        <p:nvSpPr>
          <p:cNvPr id="94" name="Text 92"/>
          <p:cNvSpPr/>
          <p:nvPr/>
        </p:nvSpPr>
        <p:spPr>
          <a:xfrm>
            <a:off x="4297680" y="5349240"/>
            <a:ext cx="146304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0.163</a:t>
            </a:r>
            <a:endParaRPr lang="en-US" sz="1150" dirty="0"/>
          </a:p>
        </p:txBody>
      </p:sp>
      <p:sp>
        <p:nvSpPr>
          <p:cNvPr id="95" name="Shape 93"/>
          <p:cNvSpPr/>
          <p:nvPr/>
        </p:nvSpPr>
        <p:spPr>
          <a:xfrm>
            <a:off x="5806440" y="5303520"/>
            <a:ext cx="1234440" cy="621792"/>
          </a:xfrm>
          <a:prstGeom prst="rect">
            <a:avLst/>
          </a:prstGeom>
          <a:solidFill>
            <a:srgbClr val="FFFFFF"/>
          </a:solidFill>
          <a:ln w="6350">
            <a:solidFill>
              <a:srgbClr val="CBD5E1"/>
            </a:solidFill>
            <a:prstDash val="solid"/>
          </a:ln>
        </p:spPr>
        <p:txBody>
          <a:bodyPr/>
          <a:lstStyle/>
          <a:p>
            <a:endParaRPr lang="ar-SA"/>
          </a:p>
        </p:txBody>
      </p:sp>
      <p:sp>
        <p:nvSpPr>
          <p:cNvPr id="96" name="Text 94"/>
          <p:cNvSpPr/>
          <p:nvPr/>
        </p:nvSpPr>
        <p:spPr>
          <a:xfrm>
            <a:off x="5852160" y="5349240"/>
            <a:ext cx="114300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+0.124</a:t>
            </a:r>
            <a:endParaRPr lang="en-US" sz="1150" dirty="0"/>
          </a:p>
        </p:txBody>
      </p:sp>
      <p:sp>
        <p:nvSpPr>
          <p:cNvPr id="97" name="Shape 95"/>
          <p:cNvSpPr/>
          <p:nvPr/>
        </p:nvSpPr>
        <p:spPr>
          <a:xfrm>
            <a:off x="7040880" y="5303520"/>
            <a:ext cx="1417320" cy="621792"/>
          </a:xfrm>
          <a:prstGeom prst="rect">
            <a:avLst/>
          </a:prstGeom>
          <a:solidFill>
            <a:srgbClr val="FFFFFF"/>
          </a:solidFill>
          <a:ln w="6350">
            <a:solidFill>
              <a:srgbClr val="CBD5E1"/>
            </a:solidFill>
            <a:prstDash val="solid"/>
          </a:ln>
        </p:spPr>
        <p:txBody>
          <a:bodyPr/>
          <a:lstStyle/>
          <a:p>
            <a:endParaRPr lang="ar-SA"/>
          </a:p>
        </p:txBody>
      </p:sp>
      <p:sp>
        <p:nvSpPr>
          <p:cNvPr id="98" name="Text 96"/>
          <p:cNvSpPr/>
          <p:nvPr/>
        </p:nvSpPr>
        <p:spPr>
          <a:xfrm>
            <a:off x="7086600" y="5349240"/>
            <a:ext cx="132588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3.6×10⁻⁹</a:t>
            </a:r>
            <a:endParaRPr lang="en-US" sz="1150" dirty="0"/>
          </a:p>
        </p:txBody>
      </p:sp>
      <p:sp>
        <p:nvSpPr>
          <p:cNvPr id="99" name="Shape 97"/>
          <p:cNvSpPr/>
          <p:nvPr/>
        </p:nvSpPr>
        <p:spPr>
          <a:xfrm>
            <a:off x="8458200" y="5303520"/>
            <a:ext cx="1097280" cy="621792"/>
          </a:xfrm>
          <a:prstGeom prst="rect">
            <a:avLst/>
          </a:prstGeom>
          <a:solidFill>
            <a:srgbClr val="FFFFFF"/>
          </a:solidFill>
          <a:ln w="6350">
            <a:solidFill>
              <a:srgbClr val="CBD5E1"/>
            </a:solidFill>
            <a:prstDash val="solid"/>
          </a:ln>
        </p:spPr>
        <p:txBody>
          <a:bodyPr/>
          <a:lstStyle/>
          <a:p>
            <a:endParaRPr lang="ar-SA"/>
          </a:p>
        </p:txBody>
      </p:sp>
      <p:sp>
        <p:nvSpPr>
          <p:cNvPr id="100" name="Text 98"/>
          <p:cNvSpPr/>
          <p:nvPr/>
        </p:nvSpPr>
        <p:spPr>
          <a:xfrm>
            <a:off x="8503920" y="5349240"/>
            <a:ext cx="1005840" cy="530352"/>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0.58</a:t>
            </a:r>
            <a:endParaRPr lang="en-US" sz="1150" dirty="0"/>
          </a:p>
        </p:txBody>
      </p:sp>
      <p:sp>
        <p:nvSpPr>
          <p:cNvPr id="101" name="Shape 99"/>
          <p:cNvSpPr/>
          <p:nvPr/>
        </p:nvSpPr>
        <p:spPr>
          <a:xfrm>
            <a:off x="9555480" y="5303520"/>
            <a:ext cx="1645920" cy="621792"/>
          </a:xfrm>
          <a:prstGeom prst="rect">
            <a:avLst/>
          </a:prstGeom>
          <a:solidFill>
            <a:srgbClr val="E8F5E9"/>
          </a:solidFill>
          <a:ln w="6350">
            <a:solidFill>
              <a:srgbClr val="CBD5E1"/>
            </a:solidFill>
            <a:prstDash val="solid"/>
          </a:ln>
        </p:spPr>
        <p:txBody>
          <a:bodyPr/>
          <a:lstStyle/>
          <a:p>
            <a:endParaRPr lang="ar-SA"/>
          </a:p>
        </p:txBody>
      </p:sp>
      <p:sp>
        <p:nvSpPr>
          <p:cNvPr id="102" name="Text 100"/>
          <p:cNvSpPr/>
          <p:nvPr/>
        </p:nvSpPr>
        <p:spPr>
          <a:xfrm>
            <a:off x="9601200" y="5349240"/>
            <a:ext cx="1554480" cy="530352"/>
          </a:xfrm>
          <a:prstGeom prst="rect">
            <a:avLst/>
          </a:prstGeom>
          <a:noFill/>
          <a:ln/>
        </p:spPr>
        <p:txBody>
          <a:bodyPr wrap="square" rtlCol="0" anchor="ctr"/>
          <a:lstStyle/>
          <a:p>
            <a:pPr marL="0" indent="0" algn="ctr">
              <a:buNone/>
            </a:pPr>
            <a:r>
              <a:rPr lang="en-US" sz="1150" b="1" dirty="0">
                <a:solidFill>
                  <a:srgbClr val="16A34A"/>
                </a:solidFill>
                <a:latin typeface="Calibri" pitchFamily="34" charset="0"/>
                <a:ea typeface="Calibri" pitchFamily="34" charset="-122"/>
                <a:cs typeface="Calibri" pitchFamily="34" charset="-120"/>
              </a:rPr>
              <a:t>Grad-CAM</a:t>
            </a:r>
            <a:endParaRPr lang="en-US" sz="1150" dirty="0"/>
          </a:p>
        </p:txBody>
      </p:sp>
      <p:sp>
        <p:nvSpPr>
          <p:cNvPr id="103" name="Shape 101"/>
          <p:cNvSpPr/>
          <p:nvPr/>
        </p:nvSpPr>
        <p:spPr>
          <a:xfrm>
            <a:off x="365760" y="6035040"/>
            <a:ext cx="10835640" cy="731520"/>
          </a:xfrm>
          <a:prstGeom prst="rect">
            <a:avLst/>
          </a:prstGeom>
          <a:solidFill>
            <a:srgbClr val="EBF5FB"/>
          </a:solidFill>
          <a:ln w="12700">
            <a:solidFill>
              <a:srgbClr val="EBF5FB"/>
            </a:solidFill>
            <a:prstDash val="solid"/>
          </a:ln>
        </p:spPr>
        <p:txBody>
          <a:bodyPr/>
          <a:lstStyle/>
          <a:p>
            <a:endParaRPr lang="ar-SA"/>
          </a:p>
        </p:txBody>
      </p:sp>
      <p:sp>
        <p:nvSpPr>
          <p:cNvPr id="104" name="Text 102"/>
          <p:cNvSpPr/>
          <p:nvPr/>
        </p:nvSpPr>
        <p:spPr>
          <a:xfrm>
            <a:off x="365760" y="6168199"/>
            <a:ext cx="2011680" cy="384048"/>
          </a:xfrm>
          <a:prstGeom prst="rect">
            <a:avLst/>
          </a:prstGeom>
          <a:noFill/>
          <a:ln/>
        </p:spPr>
        <p:txBody>
          <a:bodyPr wrap="square" rtlCol="0" anchor="ctr"/>
          <a:lstStyle/>
          <a:p>
            <a:pPr marL="0" indent="0">
              <a:buNone/>
            </a:pPr>
            <a:r>
              <a:rPr lang="en-US" sz="1200" b="1" dirty="0">
                <a:solidFill>
                  <a:srgbClr val="0D2B55"/>
                </a:solidFill>
                <a:latin typeface="Calibri" pitchFamily="34" charset="0"/>
                <a:ea typeface="Calibri" pitchFamily="34" charset="-122"/>
                <a:cs typeface="Calibri" pitchFamily="34" charset="-120"/>
              </a:rPr>
              <a:t>Mask Ablation:</a:t>
            </a:r>
            <a:endParaRPr lang="en-US" sz="1200" dirty="0"/>
          </a:p>
        </p:txBody>
      </p:sp>
      <p:sp>
        <p:nvSpPr>
          <p:cNvPr id="105" name="Text 103"/>
          <p:cNvSpPr/>
          <p:nvPr/>
        </p:nvSpPr>
        <p:spPr>
          <a:xfrm>
            <a:off x="1531619" y="6111049"/>
            <a:ext cx="9784081" cy="475488"/>
          </a:xfrm>
          <a:prstGeom prst="rect">
            <a:avLst/>
          </a:prstGeom>
          <a:noFill/>
          <a:ln/>
        </p:spPr>
        <p:txBody>
          <a:bodyPr wrap="square" rtlCol="0" anchor="ctr"/>
          <a:lstStyle/>
          <a:p>
            <a:pPr marL="0" indent="0">
              <a:buNone/>
            </a:pPr>
            <a:r>
              <a:rPr lang="en-US" sz="1150" i="1" dirty="0">
                <a:solidFill>
                  <a:srgbClr val="1E293B"/>
                </a:solidFill>
                <a:latin typeface="Calibri" pitchFamily="34" charset="0"/>
                <a:ea typeface="Calibri" pitchFamily="34" charset="-122"/>
                <a:cs typeface="Calibri" pitchFamily="34" charset="-120"/>
              </a:rPr>
              <a:t>Pre-mask → Grad-CAM BR = 0.290 vs SHAP 0.234 → SHAP wins (d_z=0.45)     |     Post-mask → Grad-CAM BR = 0.206 vs SHAP 0.234 → Grad-CAM wins (d_z=0.32)</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0D2B55"/>
          </a:solidFill>
          <a:ln w="12700">
            <a:solidFill>
              <a:srgbClr val="0D2B55"/>
            </a:solidFill>
            <a:prstDash val="solid"/>
          </a:ln>
        </p:spPr>
        <p:txBody>
          <a:bodyPr/>
          <a:lstStyle/>
          <a:p>
            <a:endParaRPr lang="ar-SA"/>
          </a:p>
        </p:txBody>
      </p:sp>
      <p:sp>
        <p:nvSpPr>
          <p:cNvPr id="3" name="Text 1"/>
          <p:cNvSpPr/>
          <p:nvPr/>
        </p:nvSpPr>
        <p:spPr>
          <a:xfrm>
            <a:off x="457200" y="128016"/>
            <a:ext cx="11247120" cy="65836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Key Findings</a:t>
            </a:r>
            <a:endParaRPr lang="en-US" sz="2600" dirty="0"/>
          </a:p>
        </p:txBody>
      </p:sp>
      <p:sp>
        <p:nvSpPr>
          <p:cNvPr id="4" name="Shape 2"/>
          <p:cNvSpPr/>
          <p:nvPr/>
        </p:nvSpPr>
        <p:spPr>
          <a:xfrm>
            <a:off x="365760" y="1024128"/>
            <a:ext cx="11430000" cy="1005840"/>
          </a:xfrm>
          <a:prstGeom prst="rect">
            <a:avLst/>
          </a:prstGeom>
          <a:solidFill>
            <a:srgbClr val="FFFFFF"/>
          </a:solidFill>
          <a:ln w="12700">
            <a:solidFill>
              <a:srgbClr val="FFFFFF"/>
            </a:solidFill>
            <a:prstDash val="solid"/>
          </a:ln>
        </p:spPr>
        <p:txBody>
          <a:bodyPr/>
          <a:lstStyle/>
          <a:p>
            <a:endParaRPr lang="ar-SA"/>
          </a:p>
        </p:txBody>
      </p:sp>
      <p:sp>
        <p:nvSpPr>
          <p:cNvPr id="5" name="Shape 3"/>
          <p:cNvSpPr/>
          <p:nvPr/>
        </p:nvSpPr>
        <p:spPr>
          <a:xfrm>
            <a:off x="365760" y="1024128"/>
            <a:ext cx="11430000" cy="1005840"/>
          </a:xfrm>
          <a:prstGeom prst="rect">
            <a:avLst/>
          </a:prstGeom>
          <a:solidFill>
            <a:srgbClr val="FFFFFF"/>
          </a:solidFill>
          <a:ln w="19050">
            <a:solidFill>
              <a:srgbClr val="028090"/>
            </a:solidFill>
            <a:prstDash val="solid"/>
          </a:ln>
        </p:spPr>
        <p:txBody>
          <a:bodyPr/>
          <a:lstStyle/>
          <a:p>
            <a:endParaRPr lang="ar-SA"/>
          </a:p>
        </p:txBody>
      </p:sp>
      <p:sp>
        <p:nvSpPr>
          <p:cNvPr id="6" name="Shape 4"/>
          <p:cNvSpPr/>
          <p:nvPr/>
        </p:nvSpPr>
        <p:spPr>
          <a:xfrm>
            <a:off x="365760" y="1024128"/>
            <a:ext cx="548640" cy="1005840"/>
          </a:xfrm>
          <a:prstGeom prst="rect">
            <a:avLst/>
          </a:prstGeom>
          <a:solidFill>
            <a:srgbClr val="028090"/>
          </a:solidFill>
          <a:ln w="12700">
            <a:solidFill>
              <a:srgbClr val="028090"/>
            </a:solidFill>
            <a:prstDash val="solid"/>
          </a:ln>
        </p:spPr>
        <p:txBody>
          <a:bodyPr/>
          <a:lstStyle/>
          <a:p>
            <a:endParaRPr lang="ar-SA"/>
          </a:p>
        </p:txBody>
      </p:sp>
      <p:sp>
        <p:nvSpPr>
          <p:cNvPr id="7" name="Text 5"/>
          <p:cNvSpPr/>
          <p:nvPr/>
        </p:nvSpPr>
        <p:spPr>
          <a:xfrm>
            <a:off x="365760" y="1335024"/>
            <a:ext cx="548640"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8" name="Text 6"/>
          <p:cNvSpPr/>
          <p:nvPr/>
        </p:nvSpPr>
        <p:spPr>
          <a:xfrm>
            <a:off x="1005840" y="1115568"/>
            <a:ext cx="4114800" cy="384048"/>
          </a:xfrm>
          <a:prstGeom prst="rect">
            <a:avLst/>
          </a:prstGeom>
          <a:noFill/>
          <a:ln/>
        </p:spPr>
        <p:txBody>
          <a:bodyPr wrap="square"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Grad-CAM Outperforms SHAP Aggregate</a:t>
            </a:r>
            <a:endParaRPr lang="en-US" sz="1300" dirty="0"/>
          </a:p>
        </p:txBody>
      </p:sp>
      <p:sp>
        <p:nvSpPr>
          <p:cNvPr id="9" name="Text 7"/>
          <p:cNvSpPr/>
          <p:nvPr/>
        </p:nvSpPr>
        <p:spPr>
          <a:xfrm>
            <a:off x="1005840" y="1517904"/>
            <a:ext cx="10652760" cy="45720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After artifact correction, Grad-CAM outperforms SHAP on all 6 continuous XAI metrics (Wilcoxon p &lt; 10⁻³). Border ratio 0.206 vs 0.234; AOPC 0.287 vs 0.163; Δ_k20 0.328 vs 0.187.</a:t>
            </a:r>
            <a:endParaRPr lang="en-US" sz="1150" dirty="0"/>
          </a:p>
        </p:txBody>
      </p:sp>
      <p:sp>
        <p:nvSpPr>
          <p:cNvPr id="10" name="Shape 8"/>
          <p:cNvSpPr/>
          <p:nvPr/>
        </p:nvSpPr>
        <p:spPr>
          <a:xfrm>
            <a:off x="365760" y="2157984"/>
            <a:ext cx="11430000" cy="1005840"/>
          </a:xfrm>
          <a:prstGeom prst="rect">
            <a:avLst/>
          </a:prstGeom>
          <a:solidFill>
            <a:srgbClr val="FFFFFF"/>
          </a:solidFill>
          <a:ln w="12700">
            <a:solidFill>
              <a:srgbClr val="FFFFFF"/>
            </a:solidFill>
            <a:prstDash val="solid"/>
          </a:ln>
        </p:spPr>
        <p:txBody>
          <a:bodyPr/>
          <a:lstStyle/>
          <a:p>
            <a:endParaRPr lang="ar-SA"/>
          </a:p>
        </p:txBody>
      </p:sp>
      <p:sp>
        <p:nvSpPr>
          <p:cNvPr id="11" name="Shape 9"/>
          <p:cNvSpPr/>
          <p:nvPr/>
        </p:nvSpPr>
        <p:spPr>
          <a:xfrm>
            <a:off x="365760" y="2157984"/>
            <a:ext cx="11430000" cy="1005840"/>
          </a:xfrm>
          <a:prstGeom prst="rect">
            <a:avLst/>
          </a:prstGeom>
          <a:solidFill>
            <a:srgbClr val="FFFFFF"/>
          </a:solidFill>
          <a:ln w="19050">
            <a:solidFill>
              <a:srgbClr val="E84855"/>
            </a:solidFill>
            <a:prstDash val="solid"/>
          </a:ln>
        </p:spPr>
        <p:txBody>
          <a:bodyPr/>
          <a:lstStyle/>
          <a:p>
            <a:endParaRPr lang="ar-SA"/>
          </a:p>
        </p:txBody>
      </p:sp>
      <p:sp>
        <p:nvSpPr>
          <p:cNvPr id="12" name="Shape 10"/>
          <p:cNvSpPr/>
          <p:nvPr/>
        </p:nvSpPr>
        <p:spPr>
          <a:xfrm>
            <a:off x="365760" y="2157984"/>
            <a:ext cx="548640" cy="1005840"/>
          </a:xfrm>
          <a:prstGeom prst="rect">
            <a:avLst/>
          </a:prstGeom>
          <a:solidFill>
            <a:srgbClr val="E84855"/>
          </a:solidFill>
          <a:ln w="12700">
            <a:solidFill>
              <a:srgbClr val="E84855"/>
            </a:solidFill>
            <a:prstDash val="solid"/>
          </a:ln>
        </p:spPr>
        <p:txBody>
          <a:bodyPr/>
          <a:lstStyle/>
          <a:p>
            <a:endParaRPr lang="ar-SA"/>
          </a:p>
        </p:txBody>
      </p:sp>
      <p:sp>
        <p:nvSpPr>
          <p:cNvPr id="13" name="Text 11"/>
          <p:cNvSpPr/>
          <p:nvPr/>
        </p:nvSpPr>
        <p:spPr>
          <a:xfrm>
            <a:off x="365760" y="2468880"/>
            <a:ext cx="548640"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4" name="Text 12"/>
          <p:cNvSpPr/>
          <p:nvPr/>
        </p:nvSpPr>
        <p:spPr>
          <a:xfrm>
            <a:off x="1005840" y="2249424"/>
            <a:ext cx="4114800" cy="384048"/>
          </a:xfrm>
          <a:prstGeom prst="rect">
            <a:avLst/>
          </a:prstGeom>
          <a:noFill/>
          <a:ln/>
        </p:spPr>
        <p:txBody>
          <a:bodyPr wrap="square" rtlCol="0" anchor="ctr"/>
          <a:lstStyle/>
          <a:p>
            <a:pPr marL="0" indent="0">
              <a:buNone/>
            </a:pPr>
            <a:r>
              <a:rPr lang="en-US" sz="1300" b="1" dirty="0">
                <a:solidFill>
                  <a:srgbClr val="E84855"/>
                </a:solidFill>
                <a:latin typeface="Calibri" pitchFamily="34" charset="0"/>
                <a:ea typeface="Calibri" pitchFamily="34" charset="-122"/>
                <a:cs typeface="Calibri" pitchFamily="34" charset="-120"/>
              </a:rPr>
              <a:t>Artifact Correction is Essential</a:t>
            </a:r>
            <a:endParaRPr lang="en-US" sz="1300" dirty="0"/>
          </a:p>
        </p:txBody>
      </p:sp>
      <p:sp>
        <p:nvSpPr>
          <p:cNvPr id="15" name="Text 13"/>
          <p:cNvSpPr/>
          <p:nvPr/>
        </p:nvSpPr>
        <p:spPr>
          <a:xfrm>
            <a:off x="1005840" y="2651760"/>
            <a:ext cx="10652760" cy="45720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Without the retinal-disc mask, SHAP appears to win localization (d_z=0.45 SHAP's favour). After the symmetric mask, Grad-CAM wins (d_z=0.32). The correction has no effect on SHAP numerically.</a:t>
            </a:r>
            <a:endParaRPr lang="en-US" sz="1150" dirty="0"/>
          </a:p>
        </p:txBody>
      </p:sp>
      <p:sp>
        <p:nvSpPr>
          <p:cNvPr id="16" name="Shape 14"/>
          <p:cNvSpPr/>
          <p:nvPr/>
        </p:nvSpPr>
        <p:spPr>
          <a:xfrm>
            <a:off x="365760" y="3291840"/>
            <a:ext cx="11430000" cy="1005840"/>
          </a:xfrm>
          <a:prstGeom prst="rect">
            <a:avLst/>
          </a:prstGeom>
          <a:solidFill>
            <a:srgbClr val="FFFFFF"/>
          </a:solidFill>
          <a:ln w="12700">
            <a:solidFill>
              <a:srgbClr val="FFFFFF"/>
            </a:solidFill>
            <a:prstDash val="solid"/>
          </a:ln>
        </p:spPr>
        <p:txBody>
          <a:bodyPr/>
          <a:lstStyle/>
          <a:p>
            <a:endParaRPr lang="ar-SA"/>
          </a:p>
        </p:txBody>
      </p:sp>
      <p:sp>
        <p:nvSpPr>
          <p:cNvPr id="17" name="Shape 15"/>
          <p:cNvSpPr/>
          <p:nvPr/>
        </p:nvSpPr>
        <p:spPr>
          <a:xfrm>
            <a:off x="365760" y="3291840"/>
            <a:ext cx="11430000" cy="1005840"/>
          </a:xfrm>
          <a:prstGeom prst="rect">
            <a:avLst/>
          </a:prstGeom>
          <a:solidFill>
            <a:srgbClr val="FFFFFF"/>
          </a:solidFill>
          <a:ln w="19050">
            <a:solidFill>
              <a:srgbClr val="16A34A"/>
            </a:solidFill>
            <a:prstDash val="solid"/>
          </a:ln>
        </p:spPr>
        <p:txBody>
          <a:bodyPr/>
          <a:lstStyle/>
          <a:p>
            <a:endParaRPr lang="ar-SA"/>
          </a:p>
        </p:txBody>
      </p:sp>
      <p:sp>
        <p:nvSpPr>
          <p:cNvPr id="18" name="Shape 16"/>
          <p:cNvSpPr/>
          <p:nvPr/>
        </p:nvSpPr>
        <p:spPr>
          <a:xfrm>
            <a:off x="365760" y="3291840"/>
            <a:ext cx="548640" cy="1005840"/>
          </a:xfrm>
          <a:prstGeom prst="rect">
            <a:avLst/>
          </a:prstGeom>
          <a:solidFill>
            <a:srgbClr val="16A34A"/>
          </a:solidFill>
          <a:ln w="12700">
            <a:solidFill>
              <a:srgbClr val="16A34A"/>
            </a:solidFill>
            <a:prstDash val="solid"/>
          </a:ln>
        </p:spPr>
        <p:txBody>
          <a:bodyPr/>
          <a:lstStyle/>
          <a:p>
            <a:endParaRPr lang="ar-SA"/>
          </a:p>
        </p:txBody>
      </p:sp>
      <p:sp>
        <p:nvSpPr>
          <p:cNvPr id="19" name="Text 17"/>
          <p:cNvSpPr/>
          <p:nvPr/>
        </p:nvSpPr>
        <p:spPr>
          <a:xfrm>
            <a:off x="365760" y="3602736"/>
            <a:ext cx="548640"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0" name="Text 18"/>
          <p:cNvSpPr/>
          <p:nvPr/>
        </p:nvSpPr>
        <p:spPr>
          <a:xfrm>
            <a:off x="1005840" y="3383280"/>
            <a:ext cx="4114800" cy="384048"/>
          </a:xfrm>
          <a:prstGeom prst="rect">
            <a:avLst/>
          </a:prstGeom>
          <a:noFill/>
          <a:ln/>
        </p:spPr>
        <p:txBody>
          <a:bodyPr wrap="square" rtlCol="0" anchor="ctr"/>
          <a:lstStyle/>
          <a:p>
            <a:pPr marL="0" indent="0">
              <a:buNone/>
            </a:pPr>
            <a:r>
              <a:rPr lang="en-US" sz="1300" b="1" dirty="0">
                <a:solidFill>
                  <a:srgbClr val="16A34A"/>
                </a:solidFill>
                <a:latin typeface="Calibri" pitchFamily="34" charset="0"/>
                <a:ea typeface="Calibri" pitchFamily="34" charset="-122"/>
                <a:cs typeface="Calibri" pitchFamily="34" charset="-120"/>
              </a:rPr>
              <a:t>Statistically Significant Differences</a:t>
            </a:r>
            <a:endParaRPr lang="en-US" sz="1300" dirty="0"/>
          </a:p>
        </p:txBody>
      </p:sp>
      <p:sp>
        <p:nvSpPr>
          <p:cNvPr id="21" name="Text 19"/>
          <p:cNvSpPr/>
          <p:nvPr/>
        </p:nvSpPr>
        <p:spPr>
          <a:xfrm>
            <a:off x="1005840" y="3785616"/>
            <a:ext cx="10652760" cy="45720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All metric comparisons reached p &lt; 0.001 (Wilcoxon). McNemar exact test on pass rates: p = 0.012. Cohen's d_z ranges from 0.27 (retina ratio) to 0.58 (AOPC / Δ_k30).</a:t>
            </a:r>
            <a:endParaRPr lang="en-US" sz="1150" dirty="0"/>
          </a:p>
        </p:txBody>
      </p:sp>
      <p:sp>
        <p:nvSpPr>
          <p:cNvPr id="22" name="Shape 20"/>
          <p:cNvSpPr/>
          <p:nvPr/>
        </p:nvSpPr>
        <p:spPr>
          <a:xfrm>
            <a:off x="365760" y="4425696"/>
            <a:ext cx="11430000" cy="1005840"/>
          </a:xfrm>
          <a:prstGeom prst="rect">
            <a:avLst/>
          </a:prstGeom>
          <a:solidFill>
            <a:srgbClr val="FFFFFF"/>
          </a:solidFill>
          <a:ln w="12700">
            <a:solidFill>
              <a:srgbClr val="FFFFFF"/>
            </a:solidFill>
            <a:prstDash val="solid"/>
          </a:ln>
        </p:spPr>
        <p:txBody>
          <a:bodyPr/>
          <a:lstStyle/>
          <a:p>
            <a:endParaRPr lang="ar-SA"/>
          </a:p>
        </p:txBody>
      </p:sp>
      <p:sp>
        <p:nvSpPr>
          <p:cNvPr id="23" name="Shape 21"/>
          <p:cNvSpPr/>
          <p:nvPr/>
        </p:nvSpPr>
        <p:spPr>
          <a:xfrm>
            <a:off x="365760" y="4425696"/>
            <a:ext cx="11430000" cy="1005840"/>
          </a:xfrm>
          <a:prstGeom prst="rect">
            <a:avLst/>
          </a:prstGeom>
          <a:solidFill>
            <a:srgbClr val="FFFFFF"/>
          </a:solidFill>
          <a:ln w="19050">
            <a:solidFill>
              <a:srgbClr val="7D3C98"/>
            </a:solidFill>
            <a:prstDash val="solid"/>
          </a:ln>
        </p:spPr>
        <p:txBody>
          <a:bodyPr/>
          <a:lstStyle/>
          <a:p>
            <a:endParaRPr lang="ar-SA"/>
          </a:p>
        </p:txBody>
      </p:sp>
      <p:sp>
        <p:nvSpPr>
          <p:cNvPr id="24" name="Shape 22"/>
          <p:cNvSpPr/>
          <p:nvPr/>
        </p:nvSpPr>
        <p:spPr>
          <a:xfrm>
            <a:off x="365760" y="4425696"/>
            <a:ext cx="548640" cy="1005840"/>
          </a:xfrm>
          <a:prstGeom prst="rect">
            <a:avLst/>
          </a:prstGeom>
          <a:solidFill>
            <a:srgbClr val="7D3C98"/>
          </a:solidFill>
          <a:ln w="12700">
            <a:solidFill>
              <a:srgbClr val="7D3C98"/>
            </a:solidFill>
            <a:prstDash val="solid"/>
          </a:ln>
        </p:spPr>
        <p:txBody>
          <a:bodyPr/>
          <a:lstStyle/>
          <a:p>
            <a:endParaRPr lang="ar-SA"/>
          </a:p>
        </p:txBody>
      </p:sp>
      <p:sp>
        <p:nvSpPr>
          <p:cNvPr id="25" name="Text 23"/>
          <p:cNvSpPr/>
          <p:nvPr/>
        </p:nvSpPr>
        <p:spPr>
          <a:xfrm>
            <a:off x="365760" y="4736592"/>
            <a:ext cx="548640"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6" name="Text 24"/>
          <p:cNvSpPr/>
          <p:nvPr/>
        </p:nvSpPr>
        <p:spPr>
          <a:xfrm>
            <a:off x="1005840" y="4517136"/>
            <a:ext cx="4114800" cy="384048"/>
          </a:xfrm>
          <a:prstGeom prst="rect">
            <a:avLst/>
          </a:prstGeom>
          <a:noFill/>
          <a:ln/>
        </p:spPr>
        <p:txBody>
          <a:bodyPr wrap="square" rtlCol="0" anchor="ctr"/>
          <a:lstStyle/>
          <a:p>
            <a:pPr marL="0" indent="0">
              <a:buNone/>
            </a:pPr>
            <a:r>
              <a:rPr lang="en-US" sz="1300" b="1" dirty="0">
                <a:solidFill>
                  <a:srgbClr val="7D3C98"/>
                </a:solidFill>
                <a:latin typeface="Calibri" pitchFamily="34" charset="0"/>
                <a:ea typeface="Calibri" pitchFamily="34" charset="-122"/>
                <a:cs typeface="Calibri" pitchFamily="34" charset="-120"/>
              </a:rPr>
              <a:t>Methods Are Complementary by Class</a:t>
            </a:r>
            <a:endParaRPr lang="en-US" sz="1300" dirty="0"/>
          </a:p>
        </p:txBody>
      </p:sp>
      <p:sp>
        <p:nvSpPr>
          <p:cNvPr id="27" name="Text 25"/>
          <p:cNvSpPr/>
          <p:nvPr/>
        </p:nvSpPr>
        <p:spPr>
          <a:xfrm>
            <a:off x="1005840" y="4919472"/>
            <a:ext cx="10652760" cy="457200"/>
          </a:xfrm>
          <a:prstGeom prst="rect">
            <a:avLst/>
          </a:prstGeom>
          <a:noFill/>
          <a:ln/>
        </p:spPr>
        <p:txBody>
          <a:bodyPr wrap="square" rtlCol="0" anchor="ctr"/>
          <a:lstStyle/>
          <a:p>
            <a:r>
              <a:rPr lang="en-US" sz="1150" dirty="0">
                <a:solidFill>
                  <a:srgbClr val="1E293B"/>
                </a:solidFill>
                <a:latin typeface="Calibri" pitchFamily="34" charset="0"/>
                <a:ea typeface="Calibri" pitchFamily="34" charset="-122"/>
                <a:cs typeface="Calibri" pitchFamily="34" charset="-120"/>
              </a:rPr>
              <a:t>SHAP outperforms on No DR (+23.1 pp) and Severe (+23.8 pp); Grad-CAM dominates Mild (+54.8 pp), Moderate (+28 pp), Proliferative DR (+41.2 pp). Both methods may complement each other.</a:t>
            </a:r>
            <a:endParaRPr lang="en-US" sz="1150" dirty="0"/>
          </a:p>
        </p:txBody>
      </p:sp>
      <p:sp>
        <p:nvSpPr>
          <p:cNvPr id="28" name="Shape 26"/>
          <p:cNvSpPr/>
          <p:nvPr/>
        </p:nvSpPr>
        <p:spPr>
          <a:xfrm>
            <a:off x="365760" y="5559552"/>
            <a:ext cx="11430000" cy="1005840"/>
          </a:xfrm>
          <a:prstGeom prst="rect">
            <a:avLst/>
          </a:prstGeom>
          <a:solidFill>
            <a:srgbClr val="FFFFFF"/>
          </a:solidFill>
          <a:ln w="12700">
            <a:solidFill>
              <a:srgbClr val="FFFFFF"/>
            </a:solidFill>
            <a:prstDash val="solid"/>
          </a:ln>
        </p:spPr>
        <p:txBody>
          <a:bodyPr/>
          <a:lstStyle/>
          <a:p>
            <a:endParaRPr lang="ar-SA"/>
          </a:p>
        </p:txBody>
      </p:sp>
      <p:sp>
        <p:nvSpPr>
          <p:cNvPr id="29" name="Shape 27"/>
          <p:cNvSpPr/>
          <p:nvPr/>
        </p:nvSpPr>
        <p:spPr>
          <a:xfrm>
            <a:off x="365760" y="5559552"/>
            <a:ext cx="11430000" cy="1005840"/>
          </a:xfrm>
          <a:prstGeom prst="rect">
            <a:avLst/>
          </a:prstGeom>
          <a:solidFill>
            <a:srgbClr val="FFFFFF"/>
          </a:solidFill>
          <a:ln w="19050">
            <a:solidFill>
              <a:srgbClr val="F4A261"/>
            </a:solidFill>
            <a:prstDash val="solid"/>
          </a:ln>
        </p:spPr>
        <p:txBody>
          <a:bodyPr/>
          <a:lstStyle/>
          <a:p>
            <a:endParaRPr lang="ar-SA"/>
          </a:p>
        </p:txBody>
      </p:sp>
      <p:sp>
        <p:nvSpPr>
          <p:cNvPr id="30" name="Shape 28"/>
          <p:cNvSpPr/>
          <p:nvPr/>
        </p:nvSpPr>
        <p:spPr>
          <a:xfrm>
            <a:off x="365760" y="5559552"/>
            <a:ext cx="548640" cy="1005840"/>
          </a:xfrm>
          <a:prstGeom prst="rect">
            <a:avLst/>
          </a:prstGeom>
          <a:solidFill>
            <a:srgbClr val="F4A261"/>
          </a:solidFill>
          <a:ln w="12700">
            <a:solidFill>
              <a:srgbClr val="F4A261"/>
            </a:solidFill>
            <a:prstDash val="solid"/>
          </a:ln>
        </p:spPr>
        <p:txBody>
          <a:bodyPr/>
          <a:lstStyle/>
          <a:p>
            <a:endParaRPr lang="ar-SA"/>
          </a:p>
        </p:txBody>
      </p:sp>
      <p:sp>
        <p:nvSpPr>
          <p:cNvPr id="31" name="Text 29"/>
          <p:cNvSpPr/>
          <p:nvPr/>
        </p:nvSpPr>
        <p:spPr>
          <a:xfrm>
            <a:off x="365760" y="5870448"/>
            <a:ext cx="548640"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32" name="Text 30"/>
          <p:cNvSpPr/>
          <p:nvPr/>
        </p:nvSpPr>
        <p:spPr>
          <a:xfrm>
            <a:off x="1005840" y="5650992"/>
            <a:ext cx="4114800" cy="384048"/>
          </a:xfrm>
          <a:prstGeom prst="rect">
            <a:avLst/>
          </a:prstGeom>
          <a:noFill/>
          <a:ln/>
        </p:spPr>
        <p:txBody>
          <a:bodyPr wrap="square" rtlCol="0" anchor="ctr"/>
          <a:lstStyle/>
          <a:p>
            <a:pPr marL="0" indent="0">
              <a:buNone/>
            </a:pPr>
            <a:r>
              <a:rPr lang="en-US" sz="1300" b="1" dirty="0">
                <a:solidFill>
                  <a:srgbClr val="F4A261"/>
                </a:solidFill>
                <a:latin typeface="Calibri" pitchFamily="34" charset="0"/>
                <a:ea typeface="Calibri" pitchFamily="34" charset="-122"/>
                <a:cs typeface="Calibri" pitchFamily="34" charset="-120"/>
              </a:rPr>
              <a:t>Severe Class Remains Challenging</a:t>
            </a:r>
            <a:endParaRPr lang="en-US" sz="1300" dirty="0"/>
          </a:p>
        </p:txBody>
      </p:sp>
      <p:sp>
        <p:nvSpPr>
          <p:cNvPr id="33" name="Text 31"/>
          <p:cNvSpPr/>
          <p:nvPr/>
        </p:nvSpPr>
        <p:spPr>
          <a:xfrm>
            <a:off x="1005840" y="6053328"/>
            <a:ext cx="10652760" cy="457200"/>
          </a:xfrm>
          <a:prstGeom prst="rect">
            <a:avLst/>
          </a:prstGeom>
          <a:noFill/>
          <a:ln/>
        </p:spPr>
        <p:txBody>
          <a:bodyPr wrap="square" rtlCol="0" anchor="ctr"/>
          <a:lstStyle/>
          <a:p>
            <a:r>
              <a:rPr lang="en-US" sz="1150" dirty="0">
                <a:solidFill>
                  <a:srgbClr val="1E293B"/>
                </a:solidFill>
                <a:latin typeface="Calibri" pitchFamily="34" charset="0"/>
                <a:ea typeface="Calibri" pitchFamily="34" charset="-122"/>
                <a:cs typeface="Calibri" pitchFamily="34" charset="-120"/>
              </a:rPr>
              <a:t>Grad-CAM mean Δ_k20 on Severe = −0.10 (negative faithfulness). In the Severe cases, the highlighted areas weren’t really what mattered to the model. When we removed those ‘important’ regions, the model actually became more confident in its Severe diagnosis—so those highlighted spots weren’t really helping, and Grad-CAM was pointing us to the wrong places.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0D2B55"/>
          </a:solidFill>
          <a:ln w="12700">
            <a:solidFill>
              <a:srgbClr val="0D2B55"/>
            </a:solidFill>
            <a:prstDash val="solid"/>
          </a:ln>
        </p:spPr>
        <p:txBody>
          <a:bodyPr/>
          <a:lstStyle/>
          <a:p>
            <a:endParaRPr lang="ar-SA"/>
          </a:p>
        </p:txBody>
      </p:sp>
      <p:sp>
        <p:nvSpPr>
          <p:cNvPr id="3" name="Text 1"/>
          <p:cNvSpPr/>
          <p:nvPr/>
        </p:nvSpPr>
        <p:spPr>
          <a:xfrm>
            <a:off x="457200" y="128016"/>
            <a:ext cx="11247120" cy="65836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Limitations</a:t>
            </a:r>
            <a:endParaRPr lang="en-US" sz="2600" dirty="0"/>
          </a:p>
        </p:txBody>
      </p:sp>
      <p:sp>
        <p:nvSpPr>
          <p:cNvPr id="4" name="Shape 2"/>
          <p:cNvSpPr/>
          <p:nvPr/>
        </p:nvSpPr>
        <p:spPr>
          <a:xfrm>
            <a:off x="365760" y="1024128"/>
            <a:ext cx="5486400" cy="1737360"/>
          </a:xfrm>
          <a:prstGeom prst="rect">
            <a:avLst/>
          </a:prstGeom>
          <a:solidFill>
            <a:srgbClr val="FFFFFF"/>
          </a:solidFill>
          <a:ln w="19050">
            <a:solidFill>
              <a:srgbClr val="0D2B55"/>
            </a:solidFill>
            <a:prstDash val="solid"/>
          </a:ln>
        </p:spPr>
        <p:txBody>
          <a:bodyPr/>
          <a:lstStyle/>
          <a:p>
            <a:endParaRPr lang="ar-SA"/>
          </a:p>
        </p:txBody>
      </p:sp>
      <p:sp>
        <p:nvSpPr>
          <p:cNvPr id="5" name="Shape 3"/>
          <p:cNvSpPr/>
          <p:nvPr/>
        </p:nvSpPr>
        <p:spPr>
          <a:xfrm>
            <a:off x="365760" y="1024128"/>
            <a:ext cx="5486400" cy="420624"/>
          </a:xfrm>
          <a:prstGeom prst="rect">
            <a:avLst/>
          </a:prstGeom>
          <a:solidFill>
            <a:srgbClr val="0D2B55"/>
          </a:solidFill>
          <a:ln w="12700">
            <a:solidFill>
              <a:srgbClr val="0D2B55"/>
            </a:solidFill>
            <a:prstDash val="solid"/>
          </a:ln>
        </p:spPr>
        <p:txBody>
          <a:bodyPr/>
          <a:lstStyle/>
          <a:p>
            <a:endParaRPr lang="ar-SA"/>
          </a:p>
        </p:txBody>
      </p:sp>
      <p:sp>
        <p:nvSpPr>
          <p:cNvPr id="6" name="Text 4"/>
          <p:cNvSpPr/>
          <p:nvPr/>
        </p:nvSpPr>
        <p:spPr>
          <a:xfrm>
            <a:off x="475488" y="1088136"/>
            <a:ext cx="5266944" cy="32918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Single Dataset</a:t>
            </a:r>
            <a:endParaRPr lang="en-US" sz="1300" dirty="0"/>
          </a:p>
        </p:txBody>
      </p:sp>
      <p:sp>
        <p:nvSpPr>
          <p:cNvPr id="7" name="Text 5"/>
          <p:cNvSpPr/>
          <p:nvPr/>
        </p:nvSpPr>
        <p:spPr>
          <a:xfrm>
            <a:off x="475488" y="1536192"/>
            <a:ext cx="5266944" cy="1152144"/>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APTOS 2019 only — no cross-dataset validation to EyePACS or Messidor. Results may not generalise to images from different devices or populations.</a:t>
            </a:r>
            <a:endParaRPr lang="en-US" sz="1150" dirty="0"/>
          </a:p>
        </p:txBody>
      </p:sp>
      <p:sp>
        <p:nvSpPr>
          <p:cNvPr id="8" name="Shape 6"/>
          <p:cNvSpPr/>
          <p:nvPr/>
        </p:nvSpPr>
        <p:spPr>
          <a:xfrm>
            <a:off x="6126480" y="1024128"/>
            <a:ext cx="5486400" cy="1737360"/>
          </a:xfrm>
          <a:prstGeom prst="rect">
            <a:avLst/>
          </a:prstGeom>
          <a:solidFill>
            <a:srgbClr val="FFFFFF"/>
          </a:solidFill>
          <a:ln w="19050">
            <a:solidFill>
              <a:srgbClr val="E84855"/>
            </a:solidFill>
            <a:prstDash val="solid"/>
          </a:ln>
        </p:spPr>
        <p:txBody>
          <a:bodyPr/>
          <a:lstStyle/>
          <a:p>
            <a:endParaRPr lang="ar-SA"/>
          </a:p>
        </p:txBody>
      </p:sp>
      <p:sp>
        <p:nvSpPr>
          <p:cNvPr id="9" name="Shape 7"/>
          <p:cNvSpPr/>
          <p:nvPr/>
        </p:nvSpPr>
        <p:spPr>
          <a:xfrm>
            <a:off x="6126480" y="1024128"/>
            <a:ext cx="5486400" cy="420624"/>
          </a:xfrm>
          <a:prstGeom prst="rect">
            <a:avLst/>
          </a:prstGeom>
          <a:solidFill>
            <a:srgbClr val="E84855"/>
          </a:solidFill>
          <a:ln w="12700">
            <a:solidFill>
              <a:srgbClr val="E84855"/>
            </a:solidFill>
            <a:prstDash val="solid"/>
          </a:ln>
        </p:spPr>
        <p:txBody>
          <a:bodyPr/>
          <a:lstStyle/>
          <a:p>
            <a:endParaRPr lang="ar-SA"/>
          </a:p>
        </p:txBody>
      </p:sp>
      <p:sp>
        <p:nvSpPr>
          <p:cNvPr id="10" name="Text 8"/>
          <p:cNvSpPr/>
          <p:nvPr/>
        </p:nvSpPr>
        <p:spPr>
          <a:xfrm>
            <a:off x="6236208" y="1088136"/>
            <a:ext cx="5266944" cy="32918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No Lesion-Level Ground Truth</a:t>
            </a:r>
            <a:endParaRPr lang="en-US" sz="1300" dirty="0"/>
          </a:p>
        </p:txBody>
      </p:sp>
      <p:sp>
        <p:nvSpPr>
          <p:cNvPr id="11" name="Text 9"/>
          <p:cNvSpPr/>
          <p:nvPr/>
        </p:nvSpPr>
        <p:spPr>
          <a:xfrm>
            <a:off x="6236208" y="1536192"/>
            <a:ext cx="5266944" cy="1152144"/>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APTOS 2019 provides image-level DR grades only. XAI explanations cannot be validated against pixel-level problem areas since we don’t have local annotations pinpointing exactly where the issues exist in the images.</a:t>
            </a:r>
            <a:endParaRPr lang="en-US" sz="1150" dirty="0"/>
          </a:p>
        </p:txBody>
      </p:sp>
      <p:sp>
        <p:nvSpPr>
          <p:cNvPr id="12" name="Shape 10"/>
          <p:cNvSpPr/>
          <p:nvPr/>
        </p:nvSpPr>
        <p:spPr>
          <a:xfrm>
            <a:off x="365760" y="2926080"/>
            <a:ext cx="5486400" cy="1737360"/>
          </a:xfrm>
          <a:prstGeom prst="rect">
            <a:avLst/>
          </a:prstGeom>
          <a:solidFill>
            <a:srgbClr val="FFFFFF"/>
          </a:solidFill>
          <a:ln w="19050">
            <a:solidFill>
              <a:srgbClr val="F4A261"/>
            </a:solidFill>
            <a:prstDash val="solid"/>
          </a:ln>
        </p:spPr>
        <p:txBody>
          <a:bodyPr/>
          <a:lstStyle/>
          <a:p>
            <a:endParaRPr lang="ar-SA"/>
          </a:p>
        </p:txBody>
      </p:sp>
      <p:sp>
        <p:nvSpPr>
          <p:cNvPr id="13" name="Shape 11"/>
          <p:cNvSpPr/>
          <p:nvPr/>
        </p:nvSpPr>
        <p:spPr>
          <a:xfrm>
            <a:off x="365760" y="2926080"/>
            <a:ext cx="5486400" cy="420624"/>
          </a:xfrm>
          <a:prstGeom prst="rect">
            <a:avLst/>
          </a:prstGeom>
          <a:solidFill>
            <a:srgbClr val="F4A261"/>
          </a:solidFill>
          <a:ln w="12700">
            <a:solidFill>
              <a:srgbClr val="F4A261"/>
            </a:solidFill>
            <a:prstDash val="solid"/>
          </a:ln>
        </p:spPr>
        <p:txBody>
          <a:bodyPr/>
          <a:lstStyle/>
          <a:p>
            <a:endParaRPr lang="ar-SA"/>
          </a:p>
        </p:txBody>
      </p:sp>
      <p:sp>
        <p:nvSpPr>
          <p:cNvPr id="14" name="Text 12"/>
          <p:cNvSpPr/>
          <p:nvPr/>
        </p:nvSpPr>
        <p:spPr>
          <a:xfrm>
            <a:off x="475488" y="2990088"/>
            <a:ext cx="5266944" cy="32918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Class Imbalance Persists</a:t>
            </a:r>
            <a:endParaRPr lang="en-US" sz="1300" dirty="0"/>
          </a:p>
        </p:txBody>
      </p:sp>
      <p:sp>
        <p:nvSpPr>
          <p:cNvPr id="15" name="Text 13"/>
          <p:cNvSpPr/>
          <p:nvPr/>
        </p:nvSpPr>
        <p:spPr>
          <a:xfrm>
            <a:off x="475488" y="3438144"/>
            <a:ext cx="5266944" cy="1152144"/>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Despite focal loss and balanced XAI audit, minority classes (Severe: 29, Mild: 56 test images) have weaker per-class performance and less reliable explanations.</a:t>
            </a:r>
            <a:endParaRPr lang="en-US" sz="1150" dirty="0"/>
          </a:p>
        </p:txBody>
      </p:sp>
      <p:sp>
        <p:nvSpPr>
          <p:cNvPr id="16" name="Shape 14"/>
          <p:cNvSpPr/>
          <p:nvPr/>
        </p:nvSpPr>
        <p:spPr>
          <a:xfrm>
            <a:off x="6126480" y="2926080"/>
            <a:ext cx="5486400" cy="1737360"/>
          </a:xfrm>
          <a:prstGeom prst="rect">
            <a:avLst/>
          </a:prstGeom>
          <a:solidFill>
            <a:srgbClr val="FFFFFF"/>
          </a:solidFill>
          <a:ln w="19050">
            <a:solidFill>
              <a:srgbClr val="7D3C98"/>
            </a:solidFill>
            <a:prstDash val="solid"/>
          </a:ln>
        </p:spPr>
        <p:txBody>
          <a:bodyPr/>
          <a:lstStyle/>
          <a:p>
            <a:endParaRPr lang="ar-SA"/>
          </a:p>
        </p:txBody>
      </p:sp>
      <p:sp>
        <p:nvSpPr>
          <p:cNvPr id="17" name="Shape 15"/>
          <p:cNvSpPr/>
          <p:nvPr/>
        </p:nvSpPr>
        <p:spPr>
          <a:xfrm>
            <a:off x="6126480" y="2926080"/>
            <a:ext cx="5486400" cy="420624"/>
          </a:xfrm>
          <a:prstGeom prst="rect">
            <a:avLst/>
          </a:prstGeom>
          <a:solidFill>
            <a:srgbClr val="7D3C98"/>
          </a:solidFill>
          <a:ln w="12700">
            <a:solidFill>
              <a:srgbClr val="7D3C98"/>
            </a:solidFill>
            <a:prstDash val="solid"/>
          </a:ln>
        </p:spPr>
        <p:txBody>
          <a:bodyPr/>
          <a:lstStyle/>
          <a:p>
            <a:endParaRPr lang="ar-SA"/>
          </a:p>
        </p:txBody>
      </p:sp>
      <p:sp>
        <p:nvSpPr>
          <p:cNvPr id="18" name="Text 16"/>
          <p:cNvSpPr/>
          <p:nvPr/>
        </p:nvSpPr>
        <p:spPr>
          <a:xfrm>
            <a:off x="6236208" y="2990088"/>
            <a:ext cx="5266944" cy="32918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Grad-CAM Fails on Severe DR</a:t>
            </a:r>
            <a:endParaRPr lang="en-US" sz="1300" dirty="0"/>
          </a:p>
        </p:txBody>
      </p:sp>
      <p:sp>
        <p:nvSpPr>
          <p:cNvPr id="19" name="Text 17"/>
          <p:cNvSpPr/>
          <p:nvPr/>
        </p:nvSpPr>
        <p:spPr>
          <a:xfrm>
            <a:off x="6236208" y="3438144"/>
            <a:ext cx="5266944" cy="1152144"/>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Mean Δ_k20 for Grad-CAM on Severe = −0.10 (negative faithfulness). Diffuse haemorrhages and lesions resist compact focal attribution — SHAP is better here.</a:t>
            </a:r>
            <a:endParaRPr lang="en-US" sz="1150" dirty="0"/>
          </a:p>
        </p:txBody>
      </p:sp>
      <p:sp>
        <p:nvSpPr>
          <p:cNvPr id="20" name="Shape 18"/>
          <p:cNvSpPr/>
          <p:nvPr/>
        </p:nvSpPr>
        <p:spPr>
          <a:xfrm>
            <a:off x="365760" y="4828032"/>
            <a:ext cx="5486400" cy="1737360"/>
          </a:xfrm>
          <a:prstGeom prst="rect">
            <a:avLst/>
          </a:prstGeom>
          <a:solidFill>
            <a:srgbClr val="FFFFFF"/>
          </a:solidFill>
          <a:ln w="19050">
            <a:solidFill>
              <a:srgbClr val="028090"/>
            </a:solidFill>
            <a:prstDash val="solid"/>
          </a:ln>
        </p:spPr>
        <p:txBody>
          <a:bodyPr/>
          <a:lstStyle/>
          <a:p>
            <a:endParaRPr lang="ar-SA"/>
          </a:p>
        </p:txBody>
      </p:sp>
      <p:sp>
        <p:nvSpPr>
          <p:cNvPr id="21" name="Shape 19"/>
          <p:cNvSpPr/>
          <p:nvPr/>
        </p:nvSpPr>
        <p:spPr>
          <a:xfrm>
            <a:off x="365760" y="4828032"/>
            <a:ext cx="5486400" cy="420624"/>
          </a:xfrm>
          <a:prstGeom prst="rect">
            <a:avLst/>
          </a:prstGeom>
          <a:solidFill>
            <a:srgbClr val="028090"/>
          </a:solidFill>
          <a:ln w="12700">
            <a:solidFill>
              <a:srgbClr val="028090"/>
            </a:solidFill>
            <a:prstDash val="solid"/>
          </a:ln>
        </p:spPr>
        <p:txBody>
          <a:bodyPr/>
          <a:lstStyle/>
          <a:p>
            <a:endParaRPr lang="ar-SA"/>
          </a:p>
        </p:txBody>
      </p:sp>
      <p:sp>
        <p:nvSpPr>
          <p:cNvPr id="22" name="Text 20"/>
          <p:cNvSpPr/>
          <p:nvPr/>
        </p:nvSpPr>
        <p:spPr>
          <a:xfrm>
            <a:off x="475488" y="4892040"/>
            <a:ext cx="5266944" cy="32918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Single-Seed Experiment</a:t>
            </a:r>
            <a:endParaRPr lang="en-US" sz="1300" dirty="0"/>
          </a:p>
        </p:txBody>
      </p:sp>
      <p:sp>
        <p:nvSpPr>
          <p:cNvPr id="23" name="Text 21"/>
          <p:cNvSpPr/>
          <p:nvPr/>
        </p:nvSpPr>
        <p:spPr>
          <a:xfrm>
            <a:off x="475488" y="5340096"/>
            <a:ext cx="5266944" cy="1152144"/>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All results use seed 1988. Variance across seeds is not reported; results may shift with different random initialisations.</a:t>
            </a:r>
            <a:endParaRPr lang="en-US" sz="1150" dirty="0"/>
          </a:p>
        </p:txBody>
      </p:sp>
      <p:sp>
        <p:nvSpPr>
          <p:cNvPr id="24" name="Shape 22"/>
          <p:cNvSpPr/>
          <p:nvPr/>
        </p:nvSpPr>
        <p:spPr>
          <a:xfrm>
            <a:off x="6126480" y="4828032"/>
            <a:ext cx="5486400" cy="1737360"/>
          </a:xfrm>
          <a:prstGeom prst="rect">
            <a:avLst/>
          </a:prstGeom>
          <a:solidFill>
            <a:srgbClr val="FFFFFF"/>
          </a:solidFill>
          <a:ln w="19050">
            <a:solidFill>
              <a:srgbClr val="36454F"/>
            </a:solidFill>
            <a:prstDash val="solid"/>
          </a:ln>
        </p:spPr>
        <p:txBody>
          <a:bodyPr/>
          <a:lstStyle/>
          <a:p>
            <a:endParaRPr lang="ar-SA"/>
          </a:p>
        </p:txBody>
      </p:sp>
      <p:sp>
        <p:nvSpPr>
          <p:cNvPr id="25" name="Shape 23"/>
          <p:cNvSpPr/>
          <p:nvPr/>
        </p:nvSpPr>
        <p:spPr>
          <a:xfrm>
            <a:off x="6126480" y="4828032"/>
            <a:ext cx="5486400" cy="420624"/>
          </a:xfrm>
          <a:prstGeom prst="rect">
            <a:avLst/>
          </a:prstGeom>
          <a:solidFill>
            <a:srgbClr val="36454F"/>
          </a:solidFill>
          <a:ln w="12700">
            <a:solidFill>
              <a:srgbClr val="36454F"/>
            </a:solidFill>
            <a:prstDash val="solid"/>
          </a:ln>
        </p:spPr>
        <p:txBody>
          <a:bodyPr/>
          <a:lstStyle/>
          <a:p>
            <a:endParaRPr lang="ar-SA"/>
          </a:p>
        </p:txBody>
      </p:sp>
      <p:sp>
        <p:nvSpPr>
          <p:cNvPr id="26" name="Text 24"/>
          <p:cNvSpPr/>
          <p:nvPr/>
        </p:nvSpPr>
        <p:spPr>
          <a:xfrm>
            <a:off x="6236208" y="4892040"/>
            <a:ext cx="5266944" cy="32918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Mask Radius Choice</a:t>
            </a:r>
            <a:endParaRPr lang="en-US" sz="1300" dirty="0"/>
          </a:p>
        </p:txBody>
      </p:sp>
      <p:sp>
        <p:nvSpPr>
          <p:cNvPr id="27" name="Text 25"/>
          <p:cNvSpPr/>
          <p:nvPr/>
        </p:nvSpPr>
        <p:spPr>
          <a:xfrm>
            <a:off x="6236208" y="5340096"/>
            <a:ext cx="5266944" cy="1152144"/>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Mask radius = 0.50 × min(H,W) matches the preprocessing crop. Sensitivity to other radii (e.g., 0.45 or 0.55) is not explored.</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0D2B55"/>
          </a:solidFill>
          <a:ln w="12700">
            <a:solidFill>
              <a:srgbClr val="0D2B55"/>
            </a:solidFill>
            <a:prstDash val="solid"/>
          </a:ln>
        </p:spPr>
        <p:txBody>
          <a:bodyPr/>
          <a:lstStyle/>
          <a:p>
            <a:endParaRPr lang="ar-SA"/>
          </a:p>
        </p:txBody>
      </p:sp>
      <p:sp>
        <p:nvSpPr>
          <p:cNvPr id="3" name="Text 1"/>
          <p:cNvSpPr/>
          <p:nvPr/>
        </p:nvSpPr>
        <p:spPr>
          <a:xfrm>
            <a:off x="457200" y="128016"/>
            <a:ext cx="11247120" cy="65836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Grad-CAM Visualizations: Four Test Cases</a:t>
            </a:r>
            <a:endParaRPr lang="en-US" sz="2600" dirty="0"/>
          </a:p>
        </p:txBody>
      </p:sp>
      <p:sp>
        <p:nvSpPr>
          <p:cNvPr id="4" name="Text 2"/>
          <p:cNvSpPr/>
          <p:nvPr/>
        </p:nvSpPr>
        <p:spPr>
          <a:xfrm>
            <a:off x="365760" y="1005840"/>
            <a:ext cx="11430000" cy="347472"/>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Green border = correct prediction   ·   Red border = wrong prediction   ·   Warm colours = high attention regions</a:t>
            </a:r>
            <a:endParaRPr lang="en-US" sz="1200" dirty="0"/>
          </a:p>
        </p:txBody>
      </p:sp>
      <p:pic>
        <p:nvPicPr>
          <p:cNvPr id="5" name="Image 0" descr="/mnt/user-data/uploads/figure7.png"/>
          <p:cNvPicPr>
            <a:picLocks noChangeAspect="1"/>
          </p:cNvPicPr>
          <p:nvPr/>
        </p:nvPicPr>
        <p:blipFill>
          <a:blip r:embed="rId3"/>
          <a:srcRect/>
          <a:stretch/>
        </p:blipFill>
        <p:spPr>
          <a:xfrm>
            <a:off x="228600" y="1417320"/>
            <a:ext cx="11704320" cy="516636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0D2B55"/>
          </a:solidFill>
          <a:ln w="12700">
            <a:solidFill>
              <a:srgbClr val="0D2B55"/>
            </a:solidFill>
            <a:prstDash val="solid"/>
          </a:ln>
        </p:spPr>
        <p:txBody>
          <a:bodyPr/>
          <a:lstStyle/>
          <a:p>
            <a:endParaRPr lang="ar-SA"/>
          </a:p>
        </p:txBody>
      </p:sp>
      <p:sp>
        <p:nvSpPr>
          <p:cNvPr id="3" name="Text 1"/>
          <p:cNvSpPr/>
          <p:nvPr/>
        </p:nvSpPr>
        <p:spPr>
          <a:xfrm>
            <a:off x="457200" y="128016"/>
            <a:ext cx="11247120" cy="65836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SHAP Visualizations: Per-Class Attribution Maps</a:t>
            </a:r>
            <a:endParaRPr lang="en-US" sz="2600" dirty="0"/>
          </a:p>
        </p:txBody>
      </p:sp>
      <p:sp>
        <p:nvSpPr>
          <p:cNvPr id="4" name="Text 2"/>
          <p:cNvSpPr/>
          <p:nvPr/>
        </p:nvSpPr>
        <p:spPr>
          <a:xfrm>
            <a:off x="365760" y="1005840"/>
            <a:ext cx="11430000" cy="347472"/>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Red pixels push prediction toward a class   ·   Blue pixels push prediction away   ·   Highlighted column = predicted class</a:t>
            </a:r>
            <a:endParaRPr lang="en-US" sz="1200" dirty="0"/>
          </a:p>
        </p:txBody>
      </p:sp>
      <p:pic>
        <p:nvPicPr>
          <p:cNvPr id="5" name="Image 0"/>
          <p:cNvPicPr>
            <a:picLocks noChangeAspect="1"/>
          </p:cNvPicPr>
          <p:nvPr/>
        </p:nvPicPr>
        <p:blipFill>
          <a:blip r:embed="rId3"/>
          <a:srcRect/>
          <a:stretch/>
        </p:blipFill>
        <p:spPr>
          <a:xfrm>
            <a:off x="945573" y="1417320"/>
            <a:ext cx="10307782" cy="4846320"/>
          </a:xfrm>
          <a:prstGeom prst="rect">
            <a:avLst/>
          </a:prstGeom>
        </p:spPr>
      </p:pic>
      <p:sp>
        <p:nvSpPr>
          <p:cNvPr id="6" name="Text 3"/>
          <p:cNvSpPr/>
          <p:nvPr/>
        </p:nvSpPr>
        <p:spPr>
          <a:xfrm>
            <a:off x="365760" y="6327648"/>
            <a:ext cx="11430000" cy="38404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SHAP maps cover all 5 class columns simultaneously — showing not only why the model predicted a class but also what makes the image NOT belong to other grades. Positive attribution for the predicted class concentrates on retinal tissue.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0D2B55"/>
        </a:solidFill>
        <a:effectLst/>
      </p:bgPr>
    </p:bg>
    <p:spTree>
      <p:nvGrpSpPr>
        <p:cNvPr id="1" name=""/>
        <p:cNvGrpSpPr/>
        <p:nvPr/>
      </p:nvGrpSpPr>
      <p:grpSpPr>
        <a:xfrm>
          <a:off x="0" y="0"/>
          <a:ext cx="0" cy="0"/>
          <a:chOff x="0" y="0"/>
          <a:chExt cx="0" cy="0"/>
        </a:xfrm>
      </p:grpSpPr>
      <p:sp>
        <p:nvSpPr>
          <p:cNvPr id="3" name="Shape 0"/>
          <p:cNvSpPr/>
          <p:nvPr/>
        </p:nvSpPr>
        <p:spPr>
          <a:xfrm>
            <a:off x="0" y="0"/>
            <a:ext cx="7772400" cy="6858000"/>
          </a:xfrm>
          <a:prstGeom prst="rect">
            <a:avLst/>
          </a:prstGeom>
          <a:solidFill>
            <a:srgbClr val="0D2B55"/>
          </a:solidFill>
          <a:ln w="12700">
            <a:solidFill>
              <a:srgbClr val="0D2B55"/>
            </a:solidFill>
            <a:prstDash val="solid"/>
          </a:ln>
        </p:spPr>
        <p:txBody>
          <a:bodyPr/>
          <a:lstStyle/>
          <a:p>
            <a:endParaRPr lang="ar-SA"/>
          </a:p>
        </p:txBody>
      </p:sp>
      <p:sp>
        <p:nvSpPr>
          <p:cNvPr id="4" name="Text 1"/>
          <p:cNvSpPr/>
          <p:nvPr/>
        </p:nvSpPr>
        <p:spPr>
          <a:xfrm>
            <a:off x="502920" y="274320"/>
            <a:ext cx="713232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Conclusions &amp; Future Work</a:t>
            </a:r>
            <a:endParaRPr lang="en-US" sz="2800" dirty="0"/>
          </a:p>
        </p:txBody>
      </p:sp>
      <p:sp>
        <p:nvSpPr>
          <p:cNvPr id="5" name="Shape 2"/>
          <p:cNvSpPr/>
          <p:nvPr/>
        </p:nvSpPr>
        <p:spPr>
          <a:xfrm>
            <a:off x="502920" y="987552"/>
            <a:ext cx="4572000" cy="0"/>
          </a:xfrm>
          <a:prstGeom prst="line">
            <a:avLst/>
          </a:prstGeom>
          <a:noFill/>
          <a:ln w="38100">
            <a:solidFill>
              <a:srgbClr val="028090"/>
            </a:solidFill>
            <a:prstDash val="solid"/>
          </a:ln>
        </p:spPr>
        <p:txBody>
          <a:bodyPr/>
          <a:lstStyle/>
          <a:p>
            <a:endParaRPr lang="ar-SA"/>
          </a:p>
        </p:txBody>
      </p:sp>
      <p:sp>
        <p:nvSpPr>
          <p:cNvPr id="6" name="Shape 3"/>
          <p:cNvSpPr/>
          <p:nvPr/>
        </p:nvSpPr>
        <p:spPr>
          <a:xfrm>
            <a:off x="502919" y="1115568"/>
            <a:ext cx="7651035" cy="1170432"/>
          </a:xfrm>
          <a:prstGeom prst="rect">
            <a:avLst/>
          </a:prstGeom>
          <a:solidFill>
            <a:srgbClr val="14304A"/>
          </a:solidFill>
          <a:ln w="12700">
            <a:solidFill>
              <a:srgbClr val="14304A"/>
            </a:solidFill>
            <a:prstDash val="solid"/>
          </a:ln>
        </p:spPr>
        <p:txBody>
          <a:bodyPr/>
          <a:lstStyle/>
          <a:p>
            <a:endParaRPr lang="ar-SA"/>
          </a:p>
        </p:txBody>
      </p:sp>
      <p:sp>
        <p:nvSpPr>
          <p:cNvPr id="7" name="Shape 4"/>
          <p:cNvSpPr/>
          <p:nvPr/>
        </p:nvSpPr>
        <p:spPr>
          <a:xfrm>
            <a:off x="502920" y="1115568"/>
            <a:ext cx="201168" cy="1170432"/>
          </a:xfrm>
          <a:prstGeom prst="rect">
            <a:avLst/>
          </a:prstGeom>
          <a:solidFill>
            <a:srgbClr val="028090"/>
          </a:solidFill>
          <a:ln w="12700">
            <a:solidFill>
              <a:srgbClr val="028090"/>
            </a:solidFill>
            <a:prstDash val="solid"/>
          </a:ln>
        </p:spPr>
        <p:txBody>
          <a:bodyPr/>
          <a:lstStyle/>
          <a:p>
            <a:endParaRPr lang="ar-SA"/>
          </a:p>
        </p:txBody>
      </p:sp>
      <p:sp>
        <p:nvSpPr>
          <p:cNvPr id="8" name="Text 5"/>
          <p:cNvSpPr/>
          <p:nvPr/>
        </p:nvSpPr>
        <p:spPr>
          <a:xfrm>
            <a:off x="804672" y="1170432"/>
            <a:ext cx="6537960" cy="384048"/>
          </a:xfrm>
          <a:prstGeom prst="rect">
            <a:avLst/>
          </a:prstGeom>
          <a:noFill/>
          <a:ln/>
        </p:spPr>
        <p:txBody>
          <a:bodyPr wrap="square"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82.2% accuracy, QWK=0.896</a:t>
            </a:r>
            <a:endParaRPr lang="en-US" sz="1300" dirty="0"/>
          </a:p>
        </p:txBody>
      </p:sp>
      <p:sp>
        <p:nvSpPr>
          <p:cNvPr id="9" name="Text 6"/>
          <p:cNvSpPr/>
          <p:nvPr/>
        </p:nvSpPr>
        <p:spPr>
          <a:xfrm>
            <a:off x="804672" y="1554480"/>
            <a:ext cx="6537960" cy="658368"/>
          </a:xfrm>
          <a:prstGeom prst="rect">
            <a:avLst/>
          </a:prstGeom>
          <a:noFill/>
          <a:ln/>
        </p:spPr>
        <p:txBody>
          <a:bodyPr wrap="square" rtlCol="0" anchor="ctr"/>
          <a:lstStyle/>
          <a:p>
            <a:r>
              <a:rPr lang="en-US" sz="1150" dirty="0">
                <a:solidFill>
                  <a:srgbClr val="C8D8E8"/>
                </a:solidFill>
                <a:latin typeface="Calibri" pitchFamily="34" charset="0"/>
                <a:ea typeface="Calibri" pitchFamily="34" charset="-122"/>
                <a:cs typeface="Calibri" pitchFamily="34" charset="-120"/>
              </a:rPr>
              <a:t>EfficientNet-B4 with focal loss </a:t>
            </a:r>
            <a:r>
              <a:rPr lang="en-US" sz="1150" dirty="0">
                <a:solidFill>
                  <a:srgbClr val="C8D8E8"/>
                </a:solidFill>
                <a:latin typeface="Calibri" pitchFamily="34" charset="0"/>
                <a:cs typeface="Calibri" pitchFamily="34" charset="-120"/>
              </a:rPr>
              <a:t>predicted diabetic retinopathy reasonably accurately.</a:t>
            </a:r>
          </a:p>
        </p:txBody>
      </p:sp>
      <p:sp>
        <p:nvSpPr>
          <p:cNvPr id="10" name="Shape 7"/>
          <p:cNvSpPr/>
          <p:nvPr/>
        </p:nvSpPr>
        <p:spPr>
          <a:xfrm>
            <a:off x="502919" y="2414016"/>
            <a:ext cx="7651035" cy="1170432"/>
          </a:xfrm>
          <a:prstGeom prst="rect">
            <a:avLst/>
          </a:prstGeom>
          <a:solidFill>
            <a:srgbClr val="14304A"/>
          </a:solidFill>
          <a:ln w="12700">
            <a:solidFill>
              <a:srgbClr val="14304A"/>
            </a:solidFill>
            <a:prstDash val="solid"/>
          </a:ln>
        </p:spPr>
        <p:txBody>
          <a:bodyPr/>
          <a:lstStyle/>
          <a:p>
            <a:endParaRPr lang="ar-SA"/>
          </a:p>
        </p:txBody>
      </p:sp>
      <p:sp>
        <p:nvSpPr>
          <p:cNvPr id="11" name="Shape 8"/>
          <p:cNvSpPr/>
          <p:nvPr/>
        </p:nvSpPr>
        <p:spPr>
          <a:xfrm>
            <a:off x="502920" y="2414016"/>
            <a:ext cx="201168" cy="1170432"/>
          </a:xfrm>
          <a:prstGeom prst="rect">
            <a:avLst/>
          </a:prstGeom>
          <a:solidFill>
            <a:srgbClr val="E84855"/>
          </a:solidFill>
          <a:ln w="12700">
            <a:solidFill>
              <a:srgbClr val="E84855"/>
            </a:solidFill>
            <a:prstDash val="solid"/>
          </a:ln>
        </p:spPr>
        <p:txBody>
          <a:bodyPr/>
          <a:lstStyle/>
          <a:p>
            <a:endParaRPr lang="ar-SA"/>
          </a:p>
        </p:txBody>
      </p:sp>
      <p:sp>
        <p:nvSpPr>
          <p:cNvPr id="12" name="Text 9"/>
          <p:cNvSpPr/>
          <p:nvPr/>
        </p:nvSpPr>
        <p:spPr>
          <a:xfrm>
            <a:off x="804672" y="2468880"/>
            <a:ext cx="6537960" cy="384048"/>
          </a:xfrm>
          <a:prstGeom prst="rect">
            <a:avLst/>
          </a:prstGeom>
          <a:noFill/>
          <a:ln/>
        </p:spPr>
        <p:txBody>
          <a:bodyPr wrap="square" rtlCol="0" anchor="ctr"/>
          <a:lstStyle/>
          <a:p>
            <a:pPr marL="0" indent="0">
              <a:buNone/>
            </a:pPr>
            <a:r>
              <a:rPr lang="en-US" sz="1300" b="1" dirty="0">
                <a:solidFill>
                  <a:srgbClr val="E84855"/>
                </a:solidFill>
                <a:latin typeface="Calibri" pitchFamily="34" charset="0"/>
                <a:ea typeface="Calibri" pitchFamily="34" charset="-122"/>
                <a:cs typeface="Calibri" pitchFamily="34" charset="-120"/>
              </a:rPr>
              <a:t>Artifact correction</a:t>
            </a:r>
            <a:endParaRPr lang="en-US" sz="1300" dirty="0"/>
          </a:p>
        </p:txBody>
      </p:sp>
      <p:sp>
        <p:nvSpPr>
          <p:cNvPr id="13" name="Text 10"/>
          <p:cNvSpPr/>
          <p:nvPr/>
        </p:nvSpPr>
        <p:spPr>
          <a:xfrm>
            <a:off x="804672" y="2852928"/>
            <a:ext cx="6537960" cy="658368"/>
          </a:xfrm>
          <a:prstGeom prst="rect">
            <a:avLst/>
          </a:prstGeom>
          <a:noFill/>
          <a:ln/>
        </p:spPr>
        <p:txBody>
          <a:bodyPr wrap="square" rtlCol="0" anchor="ctr"/>
          <a:lstStyle/>
          <a:p>
            <a:r>
              <a:rPr lang="en-US" sz="1150" dirty="0">
                <a:solidFill>
                  <a:srgbClr val="C8D8E8"/>
                </a:solidFill>
                <a:latin typeface="Calibri" pitchFamily="34" charset="0"/>
                <a:ea typeface="Calibri" pitchFamily="34" charset="-122"/>
                <a:cs typeface="Calibri" pitchFamily="34" charset="-120"/>
              </a:rPr>
              <a:t>Grad-CAM was sometimes highlighting the black edges of the image instead of the retina. We fixed that by applying a retinal mask before scoring the explanations.</a:t>
            </a:r>
            <a:endParaRPr lang="en-US" sz="1150" dirty="0"/>
          </a:p>
        </p:txBody>
      </p:sp>
      <p:sp>
        <p:nvSpPr>
          <p:cNvPr id="14" name="Shape 11"/>
          <p:cNvSpPr/>
          <p:nvPr/>
        </p:nvSpPr>
        <p:spPr>
          <a:xfrm>
            <a:off x="502919" y="3712464"/>
            <a:ext cx="7651035" cy="1170432"/>
          </a:xfrm>
          <a:prstGeom prst="rect">
            <a:avLst/>
          </a:prstGeom>
          <a:solidFill>
            <a:srgbClr val="14304A"/>
          </a:solidFill>
          <a:ln w="12700">
            <a:solidFill>
              <a:srgbClr val="14304A"/>
            </a:solidFill>
            <a:prstDash val="solid"/>
          </a:ln>
        </p:spPr>
        <p:txBody>
          <a:bodyPr/>
          <a:lstStyle/>
          <a:p>
            <a:endParaRPr lang="ar-SA"/>
          </a:p>
        </p:txBody>
      </p:sp>
      <p:sp>
        <p:nvSpPr>
          <p:cNvPr id="15" name="Shape 12"/>
          <p:cNvSpPr/>
          <p:nvPr/>
        </p:nvSpPr>
        <p:spPr>
          <a:xfrm>
            <a:off x="502920" y="3712464"/>
            <a:ext cx="201168" cy="1170432"/>
          </a:xfrm>
          <a:prstGeom prst="rect">
            <a:avLst/>
          </a:prstGeom>
          <a:solidFill>
            <a:srgbClr val="16A34A"/>
          </a:solidFill>
          <a:ln w="12700">
            <a:solidFill>
              <a:srgbClr val="16A34A"/>
            </a:solidFill>
            <a:prstDash val="solid"/>
          </a:ln>
        </p:spPr>
        <p:txBody>
          <a:bodyPr/>
          <a:lstStyle/>
          <a:p>
            <a:endParaRPr lang="ar-SA"/>
          </a:p>
        </p:txBody>
      </p:sp>
      <p:sp>
        <p:nvSpPr>
          <p:cNvPr id="16" name="Text 13"/>
          <p:cNvSpPr/>
          <p:nvPr/>
        </p:nvSpPr>
        <p:spPr>
          <a:xfrm>
            <a:off x="804672" y="3767328"/>
            <a:ext cx="6537960" cy="384048"/>
          </a:xfrm>
          <a:prstGeom prst="rect">
            <a:avLst/>
          </a:prstGeom>
          <a:noFill/>
          <a:ln/>
        </p:spPr>
        <p:txBody>
          <a:bodyPr wrap="square" rtlCol="0" anchor="ctr"/>
          <a:lstStyle/>
          <a:p>
            <a:r>
              <a:rPr lang="en-US" sz="1300" b="1" dirty="0">
                <a:solidFill>
                  <a:srgbClr val="16A34A"/>
                </a:solidFill>
                <a:latin typeface="Calibri" pitchFamily="34" charset="0"/>
                <a:ea typeface="Calibri" pitchFamily="34" charset="-122"/>
                <a:cs typeface="Calibri" pitchFamily="34" charset="-120"/>
              </a:rPr>
              <a:t>Grad-CAM was better, but both methods were useful</a:t>
            </a:r>
            <a:endParaRPr lang="en-US" sz="1300" dirty="0"/>
          </a:p>
        </p:txBody>
      </p:sp>
      <p:sp>
        <p:nvSpPr>
          <p:cNvPr id="17" name="Text 14"/>
          <p:cNvSpPr/>
          <p:nvPr/>
        </p:nvSpPr>
        <p:spPr>
          <a:xfrm>
            <a:off x="804672" y="4151376"/>
            <a:ext cx="7455798" cy="658368"/>
          </a:xfrm>
          <a:prstGeom prst="rect">
            <a:avLst/>
          </a:prstGeom>
          <a:noFill/>
          <a:ln/>
        </p:spPr>
        <p:txBody>
          <a:bodyPr wrap="square" rtlCol="0" anchor="ctr"/>
          <a:lstStyle/>
          <a:p>
            <a:r>
              <a:rPr lang="en-US" sz="1150" dirty="0">
                <a:solidFill>
                  <a:srgbClr val="C8D8E8"/>
                </a:solidFill>
                <a:latin typeface="Calibri" pitchFamily="34" charset="0"/>
                <a:ea typeface="Calibri" pitchFamily="34" charset="-122"/>
                <a:cs typeface="Calibri" pitchFamily="34" charset="-120"/>
              </a:rPr>
              <a:t>On average, Grad-CAM has stronger explanation scores, but SHAP was better in some cases, especially for No DR and Severe images. So the two methods can complement each other.</a:t>
            </a:r>
            <a:endParaRPr lang="en-US" sz="1150" dirty="0"/>
          </a:p>
        </p:txBody>
      </p:sp>
      <p:sp>
        <p:nvSpPr>
          <p:cNvPr id="18" name="Shape 15"/>
          <p:cNvSpPr/>
          <p:nvPr/>
        </p:nvSpPr>
        <p:spPr>
          <a:xfrm>
            <a:off x="502920" y="5010912"/>
            <a:ext cx="7651034" cy="1170432"/>
          </a:xfrm>
          <a:prstGeom prst="rect">
            <a:avLst/>
          </a:prstGeom>
          <a:solidFill>
            <a:srgbClr val="14304A"/>
          </a:solidFill>
          <a:ln w="12700">
            <a:solidFill>
              <a:srgbClr val="14304A"/>
            </a:solidFill>
            <a:prstDash val="solid"/>
          </a:ln>
        </p:spPr>
        <p:txBody>
          <a:bodyPr/>
          <a:lstStyle/>
          <a:p>
            <a:endParaRPr lang="ar-SA"/>
          </a:p>
        </p:txBody>
      </p:sp>
      <p:sp>
        <p:nvSpPr>
          <p:cNvPr id="19" name="Shape 16"/>
          <p:cNvSpPr/>
          <p:nvPr/>
        </p:nvSpPr>
        <p:spPr>
          <a:xfrm>
            <a:off x="502920" y="5010912"/>
            <a:ext cx="201168" cy="1170432"/>
          </a:xfrm>
          <a:prstGeom prst="rect">
            <a:avLst/>
          </a:prstGeom>
          <a:solidFill>
            <a:srgbClr val="F4A261"/>
          </a:solidFill>
          <a:ln w="12700">
            <a:solidFill>
              <a:srgbClr val="F4A261"/>
            </a:solidFill>
            <a:prstDash val="solid"/>
          </a:ln>
        </p:spPr>
        <p:txBody>
          <a:bodyPr/>
          <a:lstStyle/>
          <a:p>
            <a:endParaRPr lang="ar-SA"/>
          </a:p>
        </p:txBody>
      </p:sp>
      <p:sp>
        <p:nvSpPr>
          <p:cNvPr id="20" name="Text 17"/>
          <p:cNvSpPr/>
          <p:nvPr/>
        </p:nvSpPr>
        <p:spPr>
          <a:xfrm>
            <a:off x="804672" y="5065776"/>
            <a:ext cx="6537960" cy="384048"/>
          </a:xfrm>
          <a:prstGeom prst="rect">
            <a:avLst/>
          </a:prstGeom>
          <a:noFill/>
          <a:ln/>
        </p:spPr>
        <p:txBody>
          <a:bodyPr wrap="square" rtlCol="0" anchor="ctr"/>
          <a:lstStyle/>
          <a:p>
            <a:pPr marL="0" indent="0">
              <a:buNone/>
            </a:pPr>
            <a:r>
              <a:rPr lang="en-US" sz="1300" b="1" dirty="0">
                <a:solidFill>
                  <a:srgbClr val="F4A261"/>
                </a:solidFill>
                <a:latin typeface="Calibri" pitchFamily="34" charset="0"/>
                <a:ea typeface="Calibri" pitchFamily="34" charset="-122"/>
                <a:cs typeface="Calibri" pitchFamily="34" charset="-120"/>
              </a:rPr>
              <a:t>Future: multi-seed, multi-dataset, lesion GT</a:t>
            </a:r>
            <a:endParaRPr lang="en-US" sz="1300" dirty="0"/>
          </a:p>
        </p:txBody>
      </p:sp>
      <p:sp>
        <p:nvSpPr>
          <p:cNvPr id="21" name="Text 18"/>
          <p:cNvSpPr/>
          <p:nvPr/>
        </p:nvSpPr>
        <p:spPr>
          <a:xfrm>
            <a:off x="804672" y="5449824"/>
            <a:ext cx="7198012" cy="658368"/>
          </a:xfrm>
          <a:prstGeom prst="rect">
            <a:avLst/>
          </a:prstGeom>
          <a:noFill/>
          <a:ln/>
        </p:spPr>
        <p:txBody>
          <a:bodyPr wrap="square" rtlCol="0" anchor="ctr"/>
          <a:lstStyle/>
          <a:p>
            <a:r>
              <a:rPr lang="en-US" sz="1150" dirty="0">
                <a:solidFill>
                  <a:srgbClr val="C8D8E8"/>
                </a:solidFill>
                <a:latin typeface="Calibri" pitchFamily="34" charset="0"/>
                <a:ea typeface="Calibri" pitchFamily="34" charset="-122"/>
                <a:cs typeface="Calibri" pitchFamily="34" charset="-120"/>
              </a:rPr>
              <a:t>We only tested one dataset and one random seed, and we do not have detailed lesion annotations. In future work, we should test on more datasets, repeat with multiple seeds, and use data with pixel-level labels.</a:t>
            </a:r>
            <a:endParaRPr lang="en-US" sz="1150" dirty="0"/>
          </a:p>
        </p:txBody>
      </p:sp>
      <p:sp>
        <p:nvSpPr>
          <p:cNvPr id="22" name="Shape 19"/>
          <p:cNvSpPr/>
          <p:nvPr/>
        </p:nvSpPr>
        <p:spPr>
          <a:xfrm>
            <a:off x="8260470" y="1007503"/>
            <a:ext cx="3566160" cy="5577840"/>
          </a:xfrm>
          <a:prstGeom prst="rect">
            <a:avLst/>
          </a:prstGeom>
          <a:solidFill>
            <a:srgbClr val="0A2240"/>
          </a:solidFill>
          <a:ln w="12700">
            <a:solidFill>
              <a:srgbClr val="0A2240"/>
            </a:solidFill>
            <a:prstDash val="solid"/>
          </a:ln>
        </p:spPr>
        <p:txBody>
          <a:bodyPr/>
          <a:lstStyle/>
          <a:p>
            <a:endParaRPr lang="ar-SA"/>
          </a:p>
        </p:txBody>
      </p:sp>
      <p:sp>
        <p:nvSpPr>
          <p:cNvPr id="23" name="Text 20"/>
          <p:cNvSpPr/>
          <p:nvPr/>
        </p:nvSpPr>
        <p:spPr>
          <a:xfrm>
            <a:off x="7818120" y="1645920"/>
            <a:ext cx="4023360" cy="914400"/>
          </a:xfrm>
          <a:prstGeom prst="rect">
            <a:avLst/>
          </a:prstGeom>
          <a:noFill/>
          <a:ln/>
        </p:spPr>
        <p:txBody>
          <a:bodyPr wrap="square"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Thank You</a:t>
            </a:r>
            <a:endParaRPr lang="en-US" sz="3800" dirty="0"/>
          </a:p>
        </p:txBody>
      </p:sp>
      <p:sp>
        <p:nvSpPr>
          <p:cNvPr id="24" name="Shape 21"/>
          <p:cNvSpPr/>
          <p:nvPr/>
        </p:nvSpPr>
        <p:spPr>
          <a:xfrm>
            <a:off x="8626230" y="2697480"/>
            <a:ext cx="2834640" cy="0"/>
          </a:xfrm>
          <a:prstGeom prst="line">
            <a:avLst/>
          </a:prstGeom>
          <a:noFill/>
          <a:ln w="38100">
            <a:solidFill>
              <a:srgbClr val="028090"/>
            </a:solidFill>
            <a:prstDash val="solid"/>
          </a:ln>
        </p:spPr>
        <p:txBody>
          <a:bodyPr/>
          <a:lstStyle/>
          <a:p>
            <a:endParaRPr lang="ar-SA"/>
          </a:p>
        </p:txBody>
      </p:sp>
      <p:sp>
        <p:nvSpPr>
          <p:cNvPr id="25" name="Text 22"/>
          <p:cNvSpPr/>
          <p:nvPr/>
        </p:nvSpPr>
        <p:spPr>
          <a:xfrm>
            <a:off x="7984374" y="2834640"/>
            <a:ext cx="4023360" cy="457200"/>
          </a:xfrm>
          <a:prstGeom prst="rect">
            <a:avLst/>
          </a:prstGeom>
          <a:noFill/>
          <a:ln/>
        </p:spPr>
        <p:txBody>
          <a:bodyPr wrap="square" rtlCol="0" anchor="ctr"/>
          <a:lstStyle/>
          <a:p>
            <a:pPr marL="0" indent="0" algn="ctr">
              <a:buNone/>
            </a:pPr>
            <a:r>
              <a:rPr lang="en-US" sz="1500" i="1" dirty="0">
                <a:solidFill>
                  <a:srgbClr val="0FA3B1"/>
                </a:solidFill>
                <a:latin typeface="Calibri" pitchFamily="34" charset="0"/>
                <a:ea typeface="Calibri" pitchFamily="34" charset="-122"/>
                <a:cs typeface="Calibri" pitchFamily="34" charset="-120"/>
              </a:rPr>
              <a:t>Questions &amp; Discussion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433</TotalTime>
  <Words>2706</Words>
  <Application>Microsoft Macintosh PowerPoint</Application>
  <PresentationFormat>Widescreen</PresentationFormat>
  <Paragraphs>363</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Consolas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Saeed Thabit (RIT Alumni)</cp:lastModifiedBy>
  <cp:revision>79</cp:revision>
  <dcterms:created xsi:type="dcterms:W3CDTF">2026-04-21T20:26:30Z</dcterms:created>
  <dcterms:modified xsi:type="dcterms:W3CDTF">2026-04-22T14:24:32Z</dcterms:modified>
</cp:coreProperties>
</file>